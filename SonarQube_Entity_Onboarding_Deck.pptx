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“Thanks for making the time. We have one goal today: agree the next steps for your migration. I look after the enterprise SonarQube platform, and I will walk you through how projects are created here, what to prepare on your side, and how we start with a POC. Good news first: we can bring your projects across with their history, and after seeing your version I think you are closer than we expected. One small thing — English is not my first language, so please speak slowly and stop me if I am unclear.”  ||  TIP — Set the goal in one sentence. Good news before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“Here is what I would like to cover. Six topics. If something important is missing for you, tell me now and I will add it at the end.”  ||  TIP — Twenty seconds on this slide, then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“Let me start with what does not change. Your team asks for a project in the portal, from a repository hosted on our GitLab, exactly like any other team. The portal creates the Sonar project, and it also creates the user groups and the permission template used by every project of the application. For the migration we add a few steps on top of this path — we are not replacing the portal, it stays the entry point.”  ||  TIP — Reassures them and protects your standard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“Before we talk about Sonar at all, one prerequisite: your source code has to be on our GitLab. The portal creates the Sonar project from a repository, and the analysis runs from a pipeline on that repository. So the GitLab move comes first. Then, to bring the history across, we use Project Move. It comes with strict conditions: same edition, same version down to the patch, same plugins, same custom rules. These are not our rules, they are the tool's. And because the instance is shared by many entities, we cannot move its version for one migration — so this part sits on your side. The good news, as you will see on the next slide, is that the gap is small.”  ||  TIP — Say it calmly, once. Do not dwell: the next slide is the good news, get there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“Good news: you are much closer than I expected. You are on 2026.1.1, we are on 2026.2.1. That is one direct upgrade — no chain of LTA versions to climb. Two things then. First, patch to 2026.2.1, and the patch level matters: 2026.2.1 exactly, not 2026.2.0. If you would rather not touch production, upgrade a copy of the database on a temporary server. Second, install the plugins you are missing — we send you the delta this week, what we have that you do not. And tell us if you use something we do not have; that one we sort out together. Once you are on 2026.2.1 with those plugins, we can start the POC.”  ||  TIP — Lead with the good news, it changes the whole mood of the meeting. Then promise the plugin delta for this week and actually send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“Here is how one project moves, with your DevOps team driving it on your side. The project team creates the project in the portal, as usual, and a new key is generated. Your DevOps team exports from your instance with the original key and sends us the archive. We import it first — it arrives with your original key, so there is no clash. Only once the import has succeeded do we delete the empty project and rename. That order matters: we never destroy anything before we know the import worked. Good news: your groups and your permission template live on the instance, not on the project, so nothing is lost — we simply re-apply the template. Then your team updates the pipeline and validates. One thing we still need to check on our side is how the portal behaves afterwards. That is what the pilot is for.”  ||  TIP — Two messages: your team creates as usual, and nothing is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“I said we would agree a channel for the archive. Here is what we propose, so you know what it means for you. On your side, we install a small agent once. It watches the export folder. When your team exports a project, the agent reads the MIGRATION link to learn the target key, and publishes the archive to Artifactory — archive first, then a manifest describing it. On our side a worker reacts to that manifest and runs every check before writing anything: same version, same plugins, target project empty, key free, checksum correct. If one check fails, we refuse the project and send you the reason. Nothing half-done. The important point for you: after your team clicks export, there is nothing more to do.”  ||  TIP — The message is « you click export, we handle the rest ». Do not go deeper unless they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“To be very clear about what this means for your teams. Column one: what a project team does, three actions, all in tools they already use — create in the portal, add the link, launch the export. Later, update the pipeline. Column two: everything in the middle is automated. Publishing, the checks, the import, the rename, the permission template, the Quality Gate. Nobody touches it. Column three: we only step in when something is refused — a version gap, a missing plugin, something that needs a decision. So the effort per project on your side is small, and it does not grow with the number of projects. That is what makes a hundred projects realistic.”  ||  TIP — This is the slide that answers « how much work is this for us ». Let it land, then pause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“You told me your DevOps team will drive the migration, and that you want to start with a POC on a few pilot projects. That works very well for us. First question on that: are the pilot repositories already on our GitLab? If not, that is where the POC really starts. During the POC everything is manual, and that is deliberate — we want to measure how long one project really takes, and we need to check how the portal behaves once a project has been imported. One thing stays manual for good: creating the project in the portal. That is the governance entry point and we are keeping it. What we automate afterwards is the migration itself — export, import, rename, configuration — for the waves that follow. So what I would like out of the POC is three things: a procedure that works, a measured effort per project, and a clear list of what to automate.”  ||  TIP — Endorse their POC idea openly. It is exactly what you wanted and it costs you nothing to let them own it. Then agree the number of pilot projects and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“Once the POC is behind us, here is where we would like to get to. Your teams add their projects to a file in Git, a merge request is reviewed and approved, and a pipeline does the rest. We really do not want to be the bottleneck. There is one limit we have to respect — export and import need admin rights and file access on both servers, so teams cannot run them directly. They declare, they follow, we execute. I am not giving you a date today; the POC tells us where to start. Now I would like your input: how much autonomy do your teams actually want?”  ||  TIP — A direction, not a design. Then hand over and listen. If they have few projects, offer to do it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“Your Quality Gate stays behind — it belongs to the instance, not to the export. So we have two options: either we recreate your gate here, or your projects pick one of our standard levels. Honestly, I lean towards the standard levels. If I build a custom gate for you, I will find it hard to refuse the next entity. But I do not want anyone blocked on day one, so what I would suggest is this: each project starts on the level closest to what you use today, the gate does not block your builds for four to six weeks, then you move up on a date we agree.”  ||  TIP — Ask to see their gate criteria before you compare. The precedent argument is your strongest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“To plan properly we need a bit of information from you. On the technical side: your version and edition, the plugin list, any custom rules, your profiles and your gate. On the sizing side, two numbers matter most — how many projects, and how many lines of code. Our licence is capped by lines of code, so I need that one before I can commit to anything.”  ||  TIP — Do not leave without the LOC figure, or at least a date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“Let me go through the actions. This week: we send you the plugin delta and check our licence headroom, and you tell us where the GitLab move stands. Within two weeks: you move the pilot repositories to our GitLab and patch to 2026.2.1, and together we agree the POC scope and its success criteria. Within four weeks: you create the pilot projects in the portal, we run the POC together, then we review it and plan the waves. Before we close, four things I would like to settle: your upgrade date, the Quality Gate option, the POC scope with the pilot projects, and your technical contact.”  ||  TIP — Name each owner out loud and ask for a verbal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 “Thank you. Minutes and the inventory template land in your inbox today, along with the plugin delta. Please correct me if I got anything wrong — I would rather fix it now than discover it in three weeks.”  ||  TIP — Close by repeating the sequence: we send the plugin delta, you patch to 2026.2.1, then we run the POC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82B"/>
        </a:solidFill>
      </p:bgPr>
    </p:bg>
    <p:spTree>
      <p:nvGrpSpPr>
        <p:cNvPr id="1" name=""/>
        <p:cNvGrpSpPr/>
        <p:nvPr/>
      </p:nvGrpSpPr>
      <p:grpSpPr>
        <a:xfrm>
          <a:off x="0" y="0"/>
          <a:ext cx="0" cy="0"/>
          <a:chOff x="0" y="0"/>
          <a:chExt cx="0" cy="0"/>
        </a:xfrm>
      </p:grpSpPr>
      <p:sp>
        <p:nvSpPr>
          <p:cNvPr id="2" name="Shape 0"/>
          <p:cNvSpPr/>
          <p:nvPr/>
        </p:nvSpPr>
        <p:spPr>
          <a:xfrm>
            <a:off x="10424160" y="5120640"/>
            <a:ext cx="1463040" cy="1463040"/>
          </a:xfrm>
          <a:prstGeom prst="ellipse">
            <a:avLst/>
          </a:prstGeom>
          <a:solidFill>
            <a:srgbClr val="5FD3A0">
              <a:alpha val="0"/>
            </a:srgbClr>
          </a:solidFill>
          <a:ln w="15875">
            <a:solidFill>
              <a:srgbClr val="5FD3A0">
                <a:alpha val="45000"/>
              </a:srgbClr>
            </a:solidFill>
            <a:prstDash val="solid"/>
          </a:ln>
        </p:spPr>
      </p:sp>
      <p:sp>
        <p:nvSpPr>
          <p:cNvPr id="3" name="Shape 1"/>
          <p:cNvSpPr/>
          <p:nvPr/>
        </p:nvSpPr>
        <p:spPr>
          <a:xfrm>
            <a:off x="9784080" y="4480560"/>
            <a:ext cx="2743200" cy="2743200"/>
          </a:xfrm>
          <a:prstGeom prst="ellipse">
            <a:avLst/>
          </a:prstGeom>
          <a:solidFill>
            <a:srgbClr val="5FD3A0">
              <a:alpha val="0"/>
            </a:srgbClr>
          </a:solidFill>
          <a:ln w="15875">
            <a:solidFill>
              <a:srgbClr val="5FD3A0">
                <a:alpha val="30000"/>
              </a:srgbClr>
            </a:solidFill>
            <a:prstDash val="solid"/>
          </a:ln>
        </p:spPr>
      </p:sp>
      <p:sp>
        <p:nvSpPr>
          <p:cNvPr id="4" name="Shape 2"/>
          <p:cNvSpPr/>
          <p:nvPr/>
        </p:nvSpPr>
        <p:spPr>
          <a:xfrm>
            <a:off x="9052560" y="3749040"/>
            <a:ext cx="4206240" cy="4206240"/>
          </a:xfrm>
          <a:prstGeom prst="ellipse">
            <a:avLst/>
          </a:prstGeom>
          <a:solidFill>
            <a:srgbClr val="5FD3A0">
              <a:alpha val="0"/>
            </a:srgbClr>
          </a:solidFill>
          <a:ln w="15875">
            <a:solidFill>
              <a:srgbClr val="5FD3A0">
                <a:alpha val="18000"/>
              </a:srgbClr>
            </a:solidFill>
            <a:prstDash val="solid"/>
          </a:ln>
        </p:spPr>
      </p:sp>
      <p:sp>
        <p:nvSpPr>
          <p:cNvPr id="5" name="Shape 3"/>
          <p:cNvSpPr/>
          <p:nvPr/>
        </p:nvSpPr>
        <p:spPr>
          <a:xfrm>
            <a:off x="8229600" y="2926080"/>
            <a:ext cx="5852160" cy="5852160"/>
          </a:xfrm>
          <a:prstGeom prst="ellipse">
            <a:avLst/>
          </a:prstGeom>
          <a:solidFill>
            <a:srgbClr val="5FD3A0">
              <a:alpha val="0"/>
            </a:srgbClr>
          </a:solidFill>
          <a:ln w="15875">
            <a:solidFill>
              <a:srgbClr val="5FD3A0">
                <a:alpha val="10000"/>
              </a:srgbClr>
            </a:solidFill>
            <a:prstDash val="solid"/>
          </a:ln>
        </p:spPr>
      </p:sp>
      <p:sp>
        <p:nvSpPr>
          <p:cNvPr id="6" name="Shape 4"/>
          <p:cNvSpPr/>
          <p:nvPr/>
        </p:nvSpPr>
        <p:spPr>
          <a:xfrm>
            <a:off x="11018520" y="5715000"/>
            <a:ext cx="274320" cy="274320"/>
          </a:xfrm>
          <a:prstGeom prst="ellipse">
            <a:avLst/>
          </a:prstGeom>
          <a:solidFill>
            <a:srgbClr val="5FD3A0"/>
          </a:solidFill>
          <a:ln/>
        </p:spPr>
      </p:sp>
      <p:sp>
        <p:nvSpPr>
          <p:cNvPr id="7" name="Text 5"/>
          <p:cNvSpPr/>
          <p:nvPr/>
        </p:nvSpPr>
        <p:spPr>
          <a:xfrm>
            <a:off x="777240" y="2057400"/>
            <a:ext cx="8229600" cy="365760"/>
          </a:xfrm>
          <a:prstGeom prst="rect">
            <a:avLst/>
          </a:prstGeom>
          <a:noFill/>
          <a:ln/>
        </p:spPr>
        <p:txBody>
          <a:bodyPr wrap="square" lIns="0" tIns="0" rIns="0" bIns="0" rtlCol="0" anchor="ctr"/>
          <a:lstStyle/>
          <a:p>
            <a:pPr indent="0" marL="0">
              <a:buNone/>
            </a:pPr>
            <a:r>
              <a:rPr lang="en-US" sz="1300" b="1" spc="300" kern="0" dirty="0">
                <a:solidFill>
                  <a:srgbClr val="5FD3A0"/>
                </a:solidFill>
                <a:latin typeface="Calibri" pitchFamily="34" charset="0"/>
                <a:ea typeface="Calibri" pitchFamily="34" charset="-122"/>
                <a:cs typeface="Calibri" pitchFamily="34" charset="-120"/>
              </a:rPr>
              <a:t>ENTERPRISE SONARQUBE PLATFORM</a:t>
            </a:r>
            <a:endParaRPr lang="en-US" sz="1300" dirty="0"/>
          </a:p>
        </p:txBody>
      </p:sp>
      <p:sp>
        <p:nvSpPr>
          <p:cNvPr id="8" name="Text 6"/>
          <p:cNvSpPr/>
          <p:nvPr/>
        </p:nvSpPr>
        <p:spPr>
          <a:xfrm>
            <a:off x="777240" y="2468880"/>
            <a:ext cx="9144000" cy="14630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Migration — next steps</a:t>
            </a:r>
            <a:endParaRPr lang="en-US" sz="3800" dirty="0"/>
          </a:p>
        </p:txBody>
      </p:sp>
      <p:sp>
        <p:nvSpPr>
          <p:cNvPr id="9" name="Text 7"/>
          <p:cNvSpPr/>
          <p:nvPr/>
        </p:nvSpPr>
        <p:spPr>
          <a:xfrm>
            <a:off x="777240" y="4023360"/>
            <a:ext cx="8595360" cy="914400"/>
          </a:xfrm>
          <a:prstGeom prst="rect">
            <a:avLst/>
          </a:prstGeom>
          <a:noFill/>
          <a:ln/>
        </p:spPr>
        <p:txBody>
          <a:bodyPr wrap="square" lIns="0" tIns="0" rIns="0" bIns="0" rtlCol="0" anchor="ctr"/>
          <a:lstStyle/>
          <a:p>
            <a:pPr indent="0" marL="0">
              <a:buNone/>
            </a:pPr>
            <a:r>
              <a:rPr lang="en-US" sz="1600" dirty="0">
                <a:solidFill>
                  <a:srgbClr val="B4D2C4"/>
                </a:solidFill>
                <a:latin typeface="Calibri" pitchFamily="34" charset="0"/>
                <a:ea typeface="Calibri" pitchFamily="34" charset="-122"/>
                <a:cs typeface="Calibri" pitchFamily="34" charset="-120"/>
              </a:rPr>
              <a:t>How projects are created here, what to prepare on your side, and how we start with a POC.</a:t>
            </a:r>
            <a:endParaRPr lang="en-US" sz="1600" dirty="0"/>
          </a:p>
        </p:txBody>
      </p:sp>
      <p:sp>
        <p:nvSpPr>
          <p:cNvPr id="10" name="Text 8"/>
          <p:cNvSpPr/>
          <p:nvPr/>
        </p:nvSpPr>
        <p:spPr>
          <a:xfrm>
            <a:off x="777240" y="5120640"/>
            <a:ext cx="8686800" cy="365760"/>
          </a:xfrm>
          <a:prstGeom prst="rect">
            <a:avLst/>
          </a:prstGeom>
          <a:noFill/>
          <a:ln/>
        </p:spPr>
        <p:txBody>
          <a:bodyPr wrap="square" lIns="0" tIns="0" rIns="0" bIns="0" rtlCol="0" anchor="ctr"/>
          <a:lstStyle/>
          <a:p>
            <a:pPr indent="0" marL="0">
              <a:buNone/>
            </a:pPr>
            <a:r>
              <a:rPr lang="en-US" sz="1200" dirty="0">
                <a:solidFill>
                  <a:srgbClr val="84A697"/>
                </a:solidFill>
                <a:latin typeface="Calibri" pitchFamily="34" charset="0"/>
                <a:ea typeface="Calibri" pitchFamily="34" charset="-122"/>
                <a:cs typeface="Calibri" pitchFamily="34" charset="-120"/>
              </a:rPr>
              <a:t>30 minutes  ·  Central platform team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789920" cy="640080"/>
          </a:xfrm>
          <a:prstGeom prst="rect">
            <a:avLst/>
          </a:prstGeom>
          <a:noFill/>
          <a:ln/>
        </p:spPr>
        <p:txBody>
          <a:bodyPr wrap="square" lIns="0" tIns="0" rIns="0" bIns="0" rtlCol="0" anchor="ctr"/>
          <a:lstStyle/>
          <a:p>
            <a:pPr indent="0" marL="0">
              <a:buNone/>
            </a:pPr>
            <a:r>
              <a:rPr lang="en-US" sz="3100" b="1" dirty="0">
                <a:solidFill>
                  <a:srgbClr val="00382B"/>
                </a:solidFill>
                <a:latin typeface="Cambria" pitchFamily="34" charset="0"/>
                <a:ea typeface="Cambria" pitchFamily="34" charset="-122"/>
                <a:cs typeface="Cambria" pitchFamily="34" charset="-120"/>
              </a:rPr>
              <a:t>Agenda</a:t>
            </a:r>
            <a:endParaRPr lang="en-US" sz="3100" dirty="0"/>
          </a:p>
        </p:txBody>
      </p:sp>
      <p:sp>
        <p:nvSpPr>
          <p:cNvPr id="3" name="Text 1"/>
          <p:cNvSpPr/>
          <p:nvPr/>
        </p:nvSpPr>
        <p:spPr>
          <a:xfrm>
            <a:off x="685800" y="1060704"/>
            <a:ext cx="10789920" cy="365760"/>
          </a:xfrm>
          <a:prstGeom prst="rect">
            <a:avLst/>
          </a:prstGeom>
          <a:noFill/>
          <a:ln/>
        </p:spPr>
        <p:txBody>
          <a:bodyPr wrap="square" lIns="0" tIns="0" rIns="0" bIns="0" rtlCol="0" anchor="ctr"/>
          <a:lstStyle/>
          <a:p>
            <a:pPr indent="0" marL="0">
              <a:buNone/>
            </a:pPr>
            <a:r>
              <a:rPr lang="en-US" sz="1400" i="1" dirty="0">
                <a:solidFill>
                  <a:srgbClr val="5B7268"/>
                </a:solidFill>
                <a:latin typeface="Calibri" pitchFamily="34" charset="0"/>
                <a:ea typeface="Calibri" pitchFamily="34" charset="-122"/>
                <a:cs typeface="Calibri" pitchFamily="34" charset="-120"/>
              </a:rPr>
              <a:t>What we would like to cover today</a:t>
            </a:r>
            <a:endParaRPr lang="en-US" sz="1400" dirty="0"/>
          </a:p>
        </p:txBody>
      </p:sp>
      <p:sp>
        <p:nvSpPr>
          <p:cNvPr id="4" name="Shape 2"/>
          <p:cNvSpPr/>
          <p:nvPr/>
        </p:nvSpPr>
        <p:spPr>
          <a:xfrm>
            <a:off x="685800" y="1783080"/>
            <a:ext cx="10789920" cy="621792"/>
          </a:xfrm>
          <a:prstGeom prst="roundRect">
            <a:avLst>
              <a:gd name="adj" fmla="val 11765"/>
            </a:avLst>
          </a:prstGeom>
          <a:solidFill>
            <a:srgbClr val="EAF4EF"/>
          </a:solidFill>
          <a:ln w="12700">
            <a:solidFill>
              <a:srgbClr val="EAF4EF"/>
            </a:solidFill>
            <a:prstDash val="solid"/>
          </a:ln>
          <a:effectLst>
            <a:outerShdw sx="100000" sy="100000" kx="0" ky="0" algn="bl" rotWithShape="0" blurRad="76200" dist="508" dir="5400000">
              <a:srgbClr val="A9C2B5">
                <a:alpha val="25000"/>
              </a:srgbClr>
            </a:outerShdw>
          </a:effectLst>
        </p:spPr>
      </p:sp>
      <p:sp>
        <p:nvSpPr>
          <p:cNvPr id="5" name="Shape 3"/>
          <p:cNvSpPr/>
          <p:nvPr/>
        </p:nvSpPr>
        <p:spPr>
          <a:xfrm>
            <a:off x="932688" y="1901952"/>
            <a:ext cx="384048" cy="384048"/>
          </a:xfrm>
          <a:prstGeom prst="ellipse">
            <a:avLst/>
          </a:prstGeom>
          <a:solidFill>
            <a:srgbClr val="00915A"/>
          </a:solidFill>
          <a:ln/>
        </p:spPr>
      </p:sp>
      <p:sp>
        <p:nvSpPr>
          <p:cNvPr id="6" name="Text 4"/>
          <p:cNvSpPr/>
          <p:nvPr/>
        </p:nvSpPr>
        <p:spPr>
          <a:xfrm>
            <a:off x="932688" y="19019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481328" y="1883664"/>
            <a:ext cx="9692640" cy="420624"/>
          </a:xfrm>
          <a:prstGeom prst="rect">
            <a:avLst/>
          </a:prstGeom>
          <a:noFill/>
          <a:ln/>
        </p:spPr>
        <p:txBody>
          <a:bodyPr wrap="square" lIns="0" tIns="0" rIns="0" bIns="0" rtlCol="0" anchor="ctr"/>
          <a:lstStyle/>
          <a:p>
            <a:pPr indent="0" marL="0">
              <a:buNone/>
            </a:pPr>
            <a:r>
              <a:rPr lang="en-US" sz="1500" b="1" dirty="0">
                <a:solidFill>
                  <a:srgbClr val="16302A"/>
                </a:solidFill>
                <a:latin typeface="Calibri" pitchFamily="34" charset="0"/>
                <a:ea typeface="Calibri" pitchFamily="34" charset="-122"/>
                <a:cs typeface="Calibri" pitchFamily="34" charset="-120"/>
              </a:rPr>
              <a:t>How a project is created — the usual path</a:t>
            </a:r>
            <a:endParaRPr lang="en-US" sz="1500" dirty="0"/>
          </a:p>
        </p:txBody>
      </p:sp>
      <p:sp>
        <p:nvSpPr>
          <p:cNvPr id="8" name="Shape 6"/>
          <p:cNvSpPr/>
          <p:nvPr/>
        </p:nvSpPr>
        <p:spPr>
          <a:xfrm>
            <a:off x="685800" y="2532888"/>
            <a:ext cx="10789920" cy="621792"/>
          </a:xfrm>
          <a:prstGeom prst="roundRect">
            <a:avLst>
              <a:gd name="adj" fmla="val 11765"/>
            </a:avLst>
          </a:prstGeom>
          <a:solidFill>
            <a:srgbClr val="F3F8F5"/>
          </a:solidFill>
          <a:ln w="12700">
            <a:solidFill>
              <a:srgbClr val="F3F8F5"/>
            </a:solidFill>
            <a:prstDash val="solid"/>
          </a:ln>
          <a:effectLst>
            <a:outerShdw sx="100000" sy="100000" kx="0" ky="0" algn="bl" rotWithShape="0" blurRad="76200" dist="508" dir="5400000">
              <a:srgbClr val="A9C2B5">
                <a:alpha val="25000"/>
              </a:srgbClr>
            </a:outerShdw>
          </a:effectLst>
        </p:spPr>
      </p:sp>
      <p:sp>
        <p:nvSpPr>
          <p:cNvPr id="9" name="Shape 7"/>
          <p:cNvSpPr/>
          <p:nvPr/>
        </p:nvSpPr>
        <p:spPr>
          <a:xfrm>
            <a:off x="932688" y="2651760"/>
            <a:ext cx="384048" cy="384048"/>
          </a:xfrm>
          <a:prstGeom prst="ellipse">
            <a:avLst/>
          </a:prstGeom>
          <a:solidFill>
            <a:srgbClr val="00915A"/>
          </a:solidFill>
          <a:ln/>
        </p:spPr>
      </p:sp>
      <p:sp>
        <p:nvSpPr>
          <p:cNvPr id="10" name="Text 8"/>
          <p:cNvSpPr/>
          <p:nvPr/>
        </p:nvSpPr>
        <p:spPr>
          <a:xfrm>
            <a:off x="932688" y="26517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481328" y="2633472"/>
            <a:ext cx="9692640" cy="420624"/>
          </a:xfrm>
          <a:prstGeom prst="rect">
            <a:avLst/>
          </a:prstGeom>
          <a:noFill/>
          <a:ln/>
        </p:spPr>
        <p:txBody>
          <a:bodyPr wrap="square" lIns="0" tIns="0" rIns="0" bIns="0" rtlCol="0" anchor="ctr"/>
          <a:lstStyle/>
          <a:p>
            <a:pPr indent="0" marL="0">
              <a:buNone/>
            </a:pPr>
            <a:r>
              <a:rPr lang="en-US" sz="1500" b="1" dirty="0">
                <a:solidFill>
                  <a:srgbClr val="16302A"/>
                </a:solidFill>
                <a:latin typeface="Calibri" pitchFamily="34" charset="0"/>
                <a:ea typeface="Calibri" pitchFamily="34" charset="-122"/>
                <a:cs typeface="Calibri" pitchFamily="34" charset="-120"/>
              </a:rPr>
              <a:t>Getting your instance in shape — 2026.1.1 to 2026.2.1</a:t>
            </a:r>
            <a:endParaRPr lang="en-US" sz="1500" dirty="0"/>
          </a:p>
        </p:txBody>
      </p:sp>
      <p:sp>
        <p:nvSpPr>
          <p:cNvPr id="12" name="Shape 10"/>
          <p:cNvSpPr/>
          <p:nvPr/>
        </p:nvSpPr>
        <p:spPr>
          <a:xfrm>
            <a:off x="685800" y="3282696"/>
            <a:ext cx="10789920" cy="621792"/>
          </a:xfrm>
          <a:prstGeom prst="roundRect">
            <a:avLst>
              <a:gd name="adj" fmla="val 11765"/>
            </a:avLst>
          </a:prstGeom>
          <a:solidFill>
            <a:srgbClr val="EAF4EF"/>
          </a:solidFill>
          <a:ln w="12700">
            <a:solidFill>
              <a:srgbClr val="EAF4EF"/>
            </a:solidFill>
            <a:prstDash val="solid"/>
          </a:ln>
          <a:effectLst>
            <a:outerShdw sx="100000" sy="100000" kx="0" ky="0" algn="bl" rotWithShape="0" blurRad="76200" dist="508" dir="5400000">
              <a:srgbClr val="A9C2B5">
                <a:alpha val="25000"/>
              </a:srgbClr>
            </a:outerShdw>
          </a:effectLst>
        </p:spPr>
      </p:sp>
      <p:sp>
        <p:nvSpPr>
          <p:cNvPr id="13" name="Shape 11"/>
          <p:cNvSpPr/>
          <p:nvPr/>
        </p:nvSpPr>
        <p:spPr>
          <a:xfrm>
            <a:off x="932688" y="3401568"/>
            <a:ext cx="384048" cy="384048"/>
          </a:xfrm>
          <a:prstGeom prst="ellipse">
            <a:avLst/>
          </a:prstGeom>
          <a:solidFill>
            <a:srgbClr val="00915A"/>
          </a:solidFill>
          <a:ln/>
        </p:spPr>
      </p:sp>
      <p:sp>
        <p:nvSpPr>
          <p:cNvPr id="14" name="Text 12"/>
          <p:cNvSpPr/>
          <p:nvPr/>
        </p:nvSpPr>
        <p:spPr>
          <a:xfrm>
            <a:off x="932688" y="340156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481328" y="3383280"/>
            <a:ext cx="9692640" cy="420624"/>
          </a:xfrm>
          <a:prstGeom prst="rect">
            <a:avLst/>
          </a:prstGeom>
          <a:noFill/>
          <a:ln/>
        </p:spPr>
        <p:txBody>
          <a:bodyPr wrap="square" lIns="0" tIns="0" rIns="0" bIns="0" rtlCol="0" anchor="ctr"/>
          <a:lstStyle/>
          <a:p>
            <a:pPr indent="0" marL="0">
              <a:buNone/>
            </a:pPr>
            <a:r>
              <a:rPr lang="en-US" sz="1500" b="1" dirty="0">
                <a:solidFill>
                  <a:srgbClr val="16302A"/>
                </a:solidFill>
                <a:latin typeface="Calibri" pitchFamily="34" charset="0"/>
                <a:ea typeface="Calibri" pitchFamily="34" charset="-122"/>
                <a:cs typeface="Calibri" pitchFamily="34" charset="-120"/>
              </a:rPr>
              <a:t>The migration procedure</a:t>
            </a:r>
            <a:endParaRPr lang="en-US" sz="1500" dirty="0"/>
          </a:p>
        </p:txBody>
      </p:sp>
      <p:sp>
        <p:nvSpPr>
          <p:cNvPr id="16" name="Shape 14"/>
          <p:cNvSpPr/>
          <p:nvPr/>
        </p:nvSpPr>
        <p:spPr>
          <a:xfrm>
            <a:off x="685800" y="4032504"/>
            <a:ext cx="10789920" cy="621792"/>
          </a:xfrm>
          <a:prstGeom prst="roundRect">
            <a:avLst>
              <a:gd name="adj" fmla="val 11765"/>
            </a:avLst>
          </a:prstGeom>
          <a:solidFill>
            <a:srgbClr val="F3F8F5"/>
          </a:solidFill>
          <a:ln w="12700">
            <a:solidFill>
              <a:srgbClr val="F3F8F5"/>
            </a:solidFill>
            <a:prstDash val="solid"/>
          </a:ln>
          <a:effectLst>
            <a:outerShdw sx="100000" sy="100000" kx="0" ky="0" algn="bl" rotWithShape="0" blurRad="76200" dist="508" dir="5400000">
              <a:srgbClr val="A9C2B5">
                <a:alpha val="25000"/>
              </a:srgbClr>
            </a:outerShdw>
          </a:effectLst>
        </p:spPr>
      </p:sp>
      <p:sp>
        <p:nvSpPr>
          <p:cNvPr id="17" name="Shape 15"/>
          <p:cNvSpPr/>
          <p:nvPr/>
        </p:nvSpPr>
        <p:spPr>
          <a:xfrm>
            <a:off x="932688" y="4151376"/>
            <a:ext cx="384048" cy="384048"/>
          </a:xfrm>
          <a:prstGeom prst="ellipse">
            <a:avLst/>
          </a:prstGeom>
          <a:solidFill>
            <a:srgbClr val="00915A"/>
          </a:solidFill>
          <a:ln/>
        </p:spPr>
      </p:sp>
      <p:sp>
        <p:nvSpPr>
          <p:cNvPr id="18" name="Text 16"/>
          <p:cNvSpPr/>
          <p:nvPr/>
        </p:nvSpPr>
        <p:spPr>
          <a:xfrm>
            <a:off x="932688" y="41513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481328" y="4133088"/>
            <a:ext cx="9692640" cy="420624"/>
          </a:xfrm>
          <a:prstGeom prst="rect">
            <a:avLst/>
          </a:prstGeom>
          <a:noFill/>
          <a:ln/>
        </p:spPr>
        <p:txBody>
          <a:bodyPr wrap="square" lIns="0" tIns="0" rIns="0" bIns="0" rtlCol="0" anchor="ctr"/>
          <a:lstStyle/>
          <a:p>
            <a:pPr indent="0" marL="0">
              <a:buNone/>
            </a:pPr>
            <a:r>
              <a:rPr lang="en-US" sz="1500" b="1" dirty="0">
                <a:solidFill>
                  <a:srgbClr val="16302A"/>
                </a:solidFill>
                <a:latin typeface="Calibri" pitchFamily="34" charset="0"/>
                <a:ea typeface="Calibri" pitchFamily="34" charset="-122"/>
                <a:cs typeface="Calibri" pitchFamily="34" charset="-120"/>
              </a:rPr>
              <a:t>Starting with a POC</a:t>
            </a:r>
            <a:endParaRPr lang="en-US" sz="1500" dirty="0"/>
          </a:p>
        </p:txBody>
      </p:sp>
      <p:sp>
        <p:nvSpPr>
          <p:cNvPr id="20" name="Shape 18"/>
          <p:cNvSpPr/>
          <p:nvPr/>
        </p:nvSpPr>
        <p:spPr>
          <a:xfrm>
            <a:off x="685800" y="4782312"/>
            <a:ext cx="10789920" cy="621792"/>
          </a:xfrm>
          <a:prstGeom prst="roundRect">
            <a:avLst>
              <a:gd name="adj" fmla="val 11765"/>
            </a:avLst>
          </a:prstGeom>
          <a:solidFill>
            <a:srgbClr val="EAF4EF"/>
          </a:solidFill>
          <a:ln w="12700">
            <a:solidFill>
              <a:srgbClr val="EAF4EF"/>
            </a:solidFill>
            <a:prstDash val="solid"/>
          </a:ln>
          <a:effectLst>
            <a:outerShdw sx="100000" sy="100000" kx="0" ky="0" algn="bl" rotWithShape="0" blurRad="76200" dist="508" dir="5400000">
              <a:srgbClr val="A9C2B5">
                <a:alpha val="25000"/>
              </a:srgbClr>
            </a:outerShdw>
          </a:effectLst>
        </p:spPr>
      </p:sp>
      <p:sp>
        <p:nvSpPr>
          <p:cNvPr id="21" name="Shape 19"/>
          <p:cNvSpPr/>
          <p:nvPr/>
        </p:nvSpPr>
        <p:spPr>
          <a:xfrm>
            <a:off x="932688" y="4901184"/>
            <a:ext cx="384048" cy="384048"/>
          </a:xfrm>
          <a:prstGeom prst="ellipse">
            <a:avLst/>
          </a:prstGeom>
          <a:solidFill>
            <a:srgbClr val="00694F"/>
          </a:solidFill>
          <a:ln/>
        </p:spPr>
      </p:sp>
      <p:sp>
        <p:nvSpPr>
          <p:cNvPr id="22" name="Text 20"/>
          <p:cNvSpPr/>
          <p:nvPr/>
        </p:nvSpPr>
        <p:spPr>
          <a:xfrm>
            <a:off x="932688" y="490118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Text 21"/>
          <p:cNvSpPr/>
          <p:nvPr/>
        </p:nvSpPr>
        <p:spPr>
          <a:xfrm>
            <a:off x="1481328" y="4882896"/>
            <a:ext cx="9692640" cy="420624"/>
          </a:xfrm>
          <a:prstGeom prst="rect">
            <a:avLst/>
          </a:prstGeom>
          <a:noFill/>
          <a:ln/>
        </p:spPr>
        <p:txBody>
          <a:bodyPr wrap="square" lIns="0" tIns="0" rIns="0" bIns="0" rtlCol="0" anchor="ctr"/>
          <a:lstStyle/>
          <a:p>
            <a:pPr indent="0" marL="0">
              <a:buNone/>
            </a:pPr>
            <a:r>
              <a:rPr lang="en-US" sz="1500" b="1" dirty="0">
                <a:solidFill>
                  <a:srgbClr val="16302A"/>
                </a:solidFill>
                <a:latin typeface="Calibri" pitchFamily="34" charset="0"/>
                <a:ea typeface="Calibri" pitchFamily="34" charset="-122"/>
                <a:cs typeface="Calibri" pitchFamily="34" charset="-120"/>
              </a:rPr>
              <a:t>Where we would like to go — self-service</a:t>
            </a:r>
            <a:endParaRPr lang="en-US" sz="1500" dirty="0"/>
          </a:p>
        </p:txBody>
      </p:sp>
      <p:sp>
        <p:nvSpPr>
          <p:cNvPr id="24" name="Shape 22"/>
          <p:cNvSpPr/>
          <p:nvPr/>
        </p:nvSpPr>
        <p:spPr>
          <a:xfrm>
            <a:off x="685800" y="5532120"/>
            <a:ext cx="10789920" cy="621792"/>
          </a:xfrm>
          <a:prstGeom prst="roundRect">
            <a:avLst>
              <a:gd name="adj" fmla="val 11765"/>
            </a:avLst>
          </a:prstGeom>
          <a:solidFill>
            <a:srgbClr val="F3F8F5"/>
          </a:solidFill>
          <a:ln w="12700">
            <a:solidFill>
              <a:srgbClr val="F3F8F5"/>
            </a:solidFill>
            <a:prstDash val="solid"/>
          </a:ln>
          <a:effectLst>
            <a:outerShdw sx="100000" sy="100000" kx="0" ky="0" algn="bl" rotWithShape="0" blurRad="76200" dist="508" dir="5400000">
              <a:srgbClr val="A9C2B5">
                <a:alpha val="25000"/>
              </a:srgbClr>
            </a:outerShdw>
          </a:effectLst>
        </p:spPr>
      </p:sp>
      <p:sp>
        <p:nvSpPr>
          <p:cNvPr id="25" name="Shape 23"/>
          <p:cNvSpPr/>
          <p:nvPr/>
        </p:nvSpPr>
        <p:spPr>
          <a:xfrm>
            <a:off x="932688" y="5650992"/>
            <a:ext cx="384048" cy="384048"/>
          </a:xfrm>
          <a:prstGeom prst="ellipse">
            <a:avLst/>
          </a:prstGeom>
          <a:solidFill>
            <a:srgbClr val="00694F"/>
          </a:solidFill>
          <a:ln/>
        </p:spPr>
      </p:sp>
      <p:sp>
        <p:nvSpPr>
          <p:cNvPr id="26" name="Text 24"/>
          <p:cNvSpPr/>
          <p:nvPr/>
        </p:nvSpPr>
        <p:spPr>
          <a:xfrm>
            <a:off x="932688" y="565099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7" name="Text 25"/>
          <p:cNvSpPr/>
          <p:nvPr/>
        </p:nvSpPr>
        <p:spPr>
          <a:xfrm>
            <a:off x="1481328" y="5632704"/>
            <a:ext cx="9692640" cy="420624"/>
          </a:xfrm>
          <a:prstGeom prst="rect">
            <a:avLst/>
          </a:prstGeom>
          <a:noFill/>
          <a:ln/>
        </p:spPr>
        <p:txBody>
          <a:bodyPr wrap="square" lIns="0" tIns="0" rIns="0" bIns="0" rtlCol="0" anchor="ctr"/>
          <a:lstStyle/>
          <a:p>
            <a:pPr indent="0" marL="0">
              <a:buNone/>
            </a:pPr>
            <a:r>
              <a:rPr lang="en-US" sz="1500" b="1" dirty="0">
                <a:solidFill>
                  <a:srgbClr val="16302A"/>
                </a:solidFill>
                <a:latin typeface="Calibri" pitchFamily="34" charset="0"/>
                <a:ea typeface="Calibri" pitchFamily="34" charset="-122"/>
                <a:cs typeface="Calibri" pitchFamily="34" charset="-120"/>
              </a:rPr>
              <a:t>Quality Gate and profiles</a:t>
            </a:r>
            <a:endParaRPr lang="en-US" sz="1500" dirty="0"/>
          </a:p>
        </p:txBody>
      </p:sp>
      <p:sp>
        <p:nvSpPr>
          <p:cNvPr id="28" name="Shape 26"/>
          <p:cNvSpPr/>
          <p:nvPr/>
        </p:nvSpPr>
        <p:spPr>
          <a:xfrm>
            <a:off x="685800" y="6281928"/>
            <a:ext cx="10789920" cy="621792"/>
          </a:xfrm>
          <a:prstGeom prst="roundRect">
            <a:avLst>
              <a:gd name="adj" fmla="val 11765"/>
            </a:avLst>
          </a:prstGeom>
          <a:solidFill>
            <a:srgbClr val="EAF4EF"/>
          </a:solidFill>
          <a:ln w="12700">
            <a:solidFill>
              <a:srgbClr val="EAF4EF"/>
            </a:solidFill>
            <a:prstDash val="solid"/>
          </a:ln>
          <a:effectLst>
            <a:outerShdw sx="100000" sy="100000" kx="0" ky="0" algn="bl" rotWithShape="0" blurRad="76200" dist="508" dir="5400000">
              <a:srgbClr val="A9C2B5">
                <a:alpha val="25000"/>
              </a:srgbClr>
            </a:outerShdw>
          </a:effectLst>
        </p:spPr>
      </p:sp>
      <p:sp>
        <p:nvSpPr>
          <p:cNvPr id="29" name="Shape 27"/>
          <p:cNvSpPr/>
          <p:nvPr/>
        </p:nvSpPr>
        <p:spPr>
          <a:xfrm>
            <a:off x="932688" y="6400800"/>
            <a:ext cx="384048" cy="384048"/>
          </a:xfrm>
          <a:prstGeom prst="ellipse">
            <a:avLst/>
          </a:prstGeom>
          <a:solidFill>
            <a:srgbClr val="00694F"/>
          </a:solidFill>
          <a:ln/>
        </p:spPr>
      </p:sp>
      <p:sp>
        <p:nvSpPr>
          <p:cNvPr id="30" name="Text 28"/>
          <p:cNvSpPr/>
          <p:nvPr/>
        </p:nvSpPr>
        <p:spPr>
          <a:xfrm>
            <a:off x="932688" y="6400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9"/>
          <p:cNvSpPr/>
          <p:nvPr/>
        </p:nvSpPr>
        <p:spPr>
          <a:xfrm>
            <a:off x="1481328" y="6382512"/>
            <a:ext cx="9692640" cy="420624"/>
          </a:xfrm>
          <a:prstGeom prst="rect">
            <a:avLst/>
          </a:prstGeom>
          <a:noFill/>
          <a:ln/>
        </p:spPr>
        <p:txBody>
          <a:bodyPr wrap="square" lIns="0" tIns="0" rIns="0" bIns="0" rtlCol="0" anchor="ctr"/>
          <a:lstStyle/>
          <a:p>
            <a:pPr indent="0" marL="0">
              <a:buNone/>
            </a:pPr>
            <a:r>
              <a:rPr lang="en-US" sz="1500" b="1" dirty="0">
                <a:solidFill>
                  <a:srgbClr val="16302A"/>
                </a:solidFill>
                <a:latin typeface="Calibri" pitchFamily="34" charset="0"/>
                <a:ea typeface="Calibri" pitchFamily="34" charset="-122"/>
                <a:cs typeface="Calibri" pitchFamily="34" charset="-120"/>
              </a:rPr>
              <a:t>What we need from you, and next actions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789920" cy="640080"/>
          </a:xfrm>
          <a:prstGeom prst="rect">
            <a:avLst/>
          </a:prstGeom>
          <a:noFill/>
          <a:ln/>
        </p:spPr>
        <p:txBody>
          <a:bodyPr wrap="square" lIns="0" tIns="0" rIns="0" bIns="0" rtlCol="0" anchor="ctr"/>
          <a:lstStyle/>
          <a:p>
            <a:pPr indent="0" marL="0">
              <a:buNone/>
            </a:pPr>
            <a:r>
              <a:rPr lang="en-US" sz="3100" b="1" dirty="0">
                <a:solidFill>
                  <a:srgbClr val="00382B"/>
                </a:solidFill>
                <a:latin typeface="Cambria" pitchFamily="34" charset="0"/>
                <a:ea typeface="Cambria" pitchFamily="34" charset="-122"/>
                <a:cs typeface="Cambria" pitchFamily="34" charset="-120"/>
              </a:rPr>
              <a:t>How a project is created</a:t>
            </a:r>
            <a:endParaRPr lang="en-US" sz="3100" dirty="0"/>
          </a:p>
        </p:txBody>
      </p:sp>
      <p:sp>
        <p:nvSpPr>
          <p:cNvPr id="3" name="Text 1"/>
          <p:cNvSpPr/>
          <p:nvPr/>
        </p:nvSpPr>
        <p:spPr>
          <a:xfrm>
            <a:off x="685800" y="1060704"/>
            <a:ext cx="10789920" cy="365760"/>
          </a:xfrm>
          <a:prstGeom prst="rect">
            <a:avLst/>
          </a:prstGeom>
          <a:noFill/>
          <a:ln/>
        </p:spPr>
        <p:txBody>
          <a:bodyPr wrap="square" lIns="0" tIns="0" rIns="0" bIns="0" rtlCol="0" anchor="ctr"/>
          <a:lstStyle/>
          <a:p>
            <a:pPr indent="0" marL="0">
              <a:buNone/>
            </a:pPr>
            <a:r>
              <a:rPr lang="en-US" sz="1400" i="1" dirty="0">
                <a:solidFill>
                  <a:srgbClr val="5B7268"/>
                </a:solidFill>
                <a:latin typeface="Calibri" pitchFamily="34" charset="0"/>
                <a:ea typeface="Calibri" pitchFamily="34" charset="-122"/>
                <a:cs typeface="Calibri" pitchFamily="34" charset="-120"/>
              </a:rPr>
              <a:t>The usual path. Nothing changes here for you.</a:t>
            </a:r>
            <a:endParaRPr lang="en-US" sz="1400" dirty="0"/>
          </a:p>
        </p:txBody>
      </p:sp>
      <p:sp>
        <p:nvSpPr>
          <p:cNvPr id="4" name="Shape 2"/>
          <p:cNvSpPr/>
          <p:nvPr/>
        </p:nvSpPr>
        <p:spPr>
          <a:xfrm>
            <a:off x="685800" y="1783080"/>
            <a:ext cx="3383280" cy="2423160"/>
          </a:xfrm>
          <a:prstGeom prst="roundRect">
            <a:avLst>
              <a:gd name="adj" fmla="val 2642"/>
            </a:avLst>
          </a:prstGeom>
          <a:solidFill>
            <a:srgbClr val="EAF4EF"/>
          </a:solidFill>
          <a:ln w="12700">
            <a:solidFill>
              <a:srgbClr val="EAF4EF"/>
            </a:solidFill>
            <a:prstDash val="solid"/>
          </a:ln>
        </p:spPr>
      </p:sp>
      <p:sp>
        <p:nvSpPr>
          <p:cNvPr id="5" name="Shape 3"/>
          <p:cNvSpPr/>
          <p:nvPr/>
        </p:nvSpPr>
        <p:spPr>
          <a:xfrm>
            <a:off x="1005840" y="2103120"/>
            <a:ext cx="548640" cy="548640"/>
          </a:xfrm>
          <a:prstGeom prst="ellipse">
            <a:avLst/>
          </a:prstGeom>
          <a:solidFill>
            <a:srgbClr val="00915A"/>
          </a:solidFill>
          <a:ln/>
        </p:spPr>
      </p:sp>
      <p:sp>
        <p:nvSpPr>
          <p:cNvPr id="6" name="Text 4"/>
          <p:cNvSpPr/>
          <p:nvPr/>
        </p:nvSpPr>
        <p:spPr>
          <a:xfrm>
            <a:off x="1005840" y="210312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005840" y="2834640"/>
            <a:ext cx="2743200" cy="365760"/>
          </a:xfrm>
          <a:prstGeom prst="rect">
            <a:avLst/>
          </a:prstGeom>
          <a:noFill/>
          <a:ln/>
        </p:spPr>
        <p:txBody>
          <a:bodyPr wrap="square" lIns="0" tIns="0" rIns="0" bIns="0" rtlCol="0" anchor="ctr"/>
          <a:lstStyle/>
          <a:p>
            <a:pPr indent="0" marL="0">
              <a:buNone/>
            </a:pPr>
            <a:r>
              <a:rPr lang="en-US" sz="1700" b="1" dirty="0">
                <a:solidFill>
                  <a:srgbClr val="00382B"/>
                </a:solidFill>
                <a:latin typeface="Cambria" pitchFamily="34" charset="0"/>
                <a:ea typeface="Cambria" pitchFamily="34" charset="-122"/>
                <a:cs typeface="Cambria" pitchFamily="34" charset="-120"/>
              </a:rPr>
              <a:t>Your project team</a:t>
            </a:r>
            <a:endParaRPr lang="en-US" sz="1700" dirty="0"/>
          </a:p>
        </p:txBody>
      </p:sp>
      <p:sp>
        <p:nvSpPr>
          <p:cNvPr id="8" name="Text 6"/>
          <p:cNvSpPr/>
          <p:nvPr/>
        </p:nvSpPr>
        <p:spPr>
          <a:xfrm>
            <a:off x="1005840" y="3246120"/>
            <a:ext cx="2743200" cy="914400"/>
          </a:xfrm>
          <a:prstGeom prst="rect">
            <a:avLst/>
          </a:prstGeom>
          <a:noFill/>
          <a:ln/>
        </p:spPr>
        <p:txBody>
          <a:bodyPr wrap="square" lIns="0" tIns="0" rIns="0" bIns="0" rtlCol="0" anchor="ctr"/>
          <a:lstStyle/>
          <a:p>
            <a:pPr indent="0" marL="0">
              <a:buNone/>
            </a:pPr>
            <a:r>
              <a:rPr lang="en-US" sz="1250" dirty="0">
                <a:solidFill>
                  <a:srgbClr val="16302A"/>
                </a:solidFill>
                <a:latin typeface="Calibri" pitchFamily="34" charset="0"/>
                <a:ea typeface="Calibri" pitchFamily="34" charset="-122"/>
                <a:cs typeface="Calibri" pitchFamily="34" charset="-120"/>
              </a:rPr>
              <a:t>Your team asks for a project in the portal, from a repository hosted on our GitLab.</a:t>
            </a:r>
            <a:endParaRPr lang="en-US" sz="1250" dirty="0"/>
          </a:p>
        </p:txBody>
      </p:sp>
      <p:sp>
        <p:nvSpPr>
          <p:cNvPr id="9" name="Shape 7"/>
          <p:cNvSpPr/>
          <p:nvPr/>
        </p:nvSpPr>
        <p:spPr>
          <a:xfrm>
            <a:off x="4133088" y="2880360"/>
            <a:ext cx="182880" cy="201168"/>
          </a:xfrm>
          <a:prstGeom prst="rightArrow">
            <a:avLst/>
          </a:prstGeom>
          <a:solidFill>
            <a:srgbClr val="5B7268"/>
          </a:solidFill>
          <a:ln w="12700">
            <a:solidFill>
              <a:srgbClr val="5B7268"/>
            </a:solidFill>
            <a:prstDash val="solid"/>
          </a:ln>
        </p:spPr>
      </p:sp>
      <p:sp>
        <p:nvSpPr>
          <p:cNvPr id="10" name="Shape 8"/>
          <p:cNvSpPr/>
          <p:nvPr/>
        </p:nvSpPr>
        <p:spPr>
          <a:xfrm>
            <a:off x="4389120" y="1783080"/>
            <a:ext cx="3383280" cy="2423160"/>
          </a:xfrm>
          <a:prstGeom prst="roundRect">
            <a:avLst>
              <a:gd name="adj" fmla="val 2642"/>
            </a:avLst>
          </a:prstGeom>
          <a:solidFill>
            <a:srgbClr val="00382B"/>
          </a:solidFill>
          <a:ln w="12700">
            <a:solidFill>
              <a:srgbClr val="00382B"/>
            </a:solidFill>
            <a:prstDash val="solid"/>
          </a:ln>
        </p:spPr>
      </p:sp>
      <p:sp>
        <p:nvSpPr>
          <p:cNvPr id="11" name="Shape 9"/>
          <p:cNvSpPr/>
          <p:nvPr/>
        </p:nvSpPr>
        <p:spPr>
          <a:xfrm>
            <a:off x="4709160" y="2103120"/>
            <a:ext cx="548640" cy="548640"/>
          </a:xfrm>
          <a:prstGeom prst="ellipse">
            <a:avLst/>
          </a:prstGeom>
          <a:solidFill>
            <a:srgbClr val="5FD3A0"/>
          </a:solidFill>
          <a:ln/>
        </p:spPr>
      </p:sp>
      <p:sp>
        <p:nvSpPr>
          <p:cNvPr id="12" name="Text 10"/>
          <p:cNvSpPr/>
          <p:nvPr/>
        </p:nvSpPr>
        <p:spPr>
          <a:xfrm>
            <a:off x="4709160" y="2103120"/>
            <a:ext cx="548640" cy="548640"/>
          </a:xfrm>
          <a:prstGeom prst="rect">
            <a:avLst/>
          </a:prstGeom>
          <a:noFill/>
          <a:ln/>
        </p:spPr>
        <p:txBody>
          <a:bodyPr wrap="square" lIns="0" tIns="0" rIns="0" bIns="0" rtlCol="0" anchor="ctr"/>
          <a:lstStyle/>
          <a:p>
            <a:pPr algn="ctr" indent="0" marL="0">
              <a:buNone/>
            </a:pPr>
            <a:r>
              <a:rPr lang="en-US" sz="1700" b="1" dirty="0">
                <a:solidFill>
                  <a:srgbClr val="00382B"/>
                </a:solidFill>
                <a:latin typeface="Calibri" pitchFamily="34" charset="0"/>
                <a:ea typeface="Calibri" pitchFamily="34" charset="-122"/>
                <a:cs typeface="Calibri" pitchFamily="34" charset="-120"/>
              </a:rPr>
              <a:t>2</a:t>
            </a:r>
            <a:endParaRPr lang="en-US" sz="1700" dirty="0"/>
          </a:p>
        </p:txBody>
      </p:sp>
      <p:sp>
        <p:nvSpPr>
          <p:cNvPr id="13" name="Text 11"/>
          <p:cNvSpPr/>
          <p:nvPr/>
        </p:nvSpPr>
        <p:spPr>
          <a:xfrm>
            <a:off x="4709160" y="2834640"/>
            <a:ext cx="274320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The DevOps portal</a:t>
            </a:r>
            <a:endParaRPr lang="en-US" sz="1700" dirty="0"/>
          </a:p>
        </p:txBody>
      </p:sp>
      <p:sp>
        <p:nvSpPr>
          <p:cNvPr id="14" name="Text 12"/>
          <p:cNvSpPr/>
          <p:nvPr/>
        </p:nvSpPr>
        <p:spPr>
          <a:xfrm>
            <a:off x="4709160" y="3246120"/>
            <a:ext cx="2743200" cy="914400"/>
          </a:xfrm>
          <a:prstGeom prst="rect">
            <a:avLst/>
          </a:prstGeom>
          <a:noFill/>
          <a:ln/>
        </p:spPr>
        <p:txBody>
          <a:bodyPr wrap="square" lIns="0" tIns="0" rIns="0" bIns="0" rtlCol="0" anchor="ctr"/>
          <a:lstStyle/>
          <a:p>
            <a:pPr indent="0" marL="0">
              <a:buNone/>
            </a:pPr>
            <a:r>
              <a:rPr lang="en-US" sz="1250" dirty="0">
                <a:solidFill>
                  <a:srgbClr val="BFDDCE"/>
                </a:solidFill>
                <a:latin typeface="Calibri" pitchFamily="34" charset="0"/>
                <a:ea typeface="Calibri" pitchFamily="34" charset="-122"/>
                <a:cs typeface="Calibri" pitchFamily="34" charset="-120"/>
              </a:rPr>
              <a:t>The portal creates the Sonar project. It also creates the user groups and the permission template.</a:t>
            </a:r>
            <a:endParaRPr lang="en-US" sz="1250" dirty="0"/>
          </a:p>
        </p:txBody>
      </p:sp>
      <p:sp>
        <p:nvSpPr>
          <p:cNvPr id="15" name="Shape 13"/>
          <p:cNvSpPr/>
          <p:nvPr/>
        </p:nvSpPr>
        <p:spPr>
          <a:xfrm>
            <a:off x="7836408" y="2880360"/>
            <a:ext cx="182880" cy="201168"/>
          </a:xfrm>
          <a:prstGeom prst="rightArrow">
            <a:avLst/>
          </a:prstGeom>
          <a:solidFill>
            <a:srgbClr val="5B7268"/>
          </a:solidFill>
          <a:ln w="12700">
            <a:solidFill>
              <a:srgbClr val="5B7268"/>
            </a:solidFill>
            <a:prstDash val="solid"/>
          </a:ln>
        </p:spPr>
      </p:sp>
      <p:sp>
        <p:nvSpPr>
          <p:cNvPr id="16" name="Shape 14"/>
          <p:cNvSpPr/>
          <p:nvPr/>
        </p:nvSpPr>
        <p:spPr>
          <a:xfrm>
            <a:off x="8092440" y="1783080"/>
            <a:ext cx="3383280" cy="2423160"/>
          </a:xfrm>
          <a:prstGeom prst="roundRect">
            <a:avLst>
              <a:gd name="adj" fmla="val 2642"/>
            </a:avLst>
          </a:prstGeom>
          <a:solidFill>
            <a:srgbClr val="EAF4EF"/>
          </a:solidFill>
          <a:ln w="12700">
            <a:solidFill>
              <a:srgbClr val="EAF4EF"/>
            </a:solidFill>
            <a:prstDash val="solid"/>
          </a:ln>
        </p:spPr>
      </p:sp>
      <p:sp>
        <p:nvSpPr>
          <p:cNvPr id="17" name="Shape 15"/>
          <p:cNvSpPr/>
          <p:nvPr/>
        </p:nvSpPr>
        <p:spPr>
          <a:xfrm>
            <a:off x="8412480" y="2103120"/>
            <a:ext cx="548640" cy="548640"/>
          </a:xfrm>
          <a:prstGeom prst="ellipse">
            <a:avLst/>
          </a:prstGeom>
          <a:solidFill>
            <a:srgbClr val="00915A"/>
          </a:solidFill>
          <a:ln/>
        </p:spPr>
      </p:sp>
      <p:sp>
        <p:nvSpPr>
          <p:cNvPr id="18" name="Text 16"/>
          <p:cNvSpPr/>
          <p:nvPr/>
        </p:nvSpPr>
        <p:spPr>
          <a:xfrm>
            <a:off x="8412480" y="210312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9" name="Text 17"/>
          <p:cNvSpPr/>
          <p:nvPr/>
        </p:nvSpPr>
        <p:spPr>
          <a:xfrm>
            <a:off x="8412480" y="2834640"/>
            <a:ext cx="2743200" cy="365760"/>
          </a:xfrm>
          <a:prstGeom prst="rect">
            <a:avLst/>
          </a:prstGeom>
          <a:noFill/>
          <a:ln/>
        </p:spPr>
        <p:txBody>
          <a:bodyPr wrap="square" lIns="0" tIns="0" rIns="0" bIns="0" rtlCol="0" anchor="ctr"/>
          <a:lstStyle/>
          <a:p>
            <a:pPr indent="0" marL="0">
              <a:buNone/>
            </a:pPr>
            <a:r>
              <a:rPr lang="en-US" sz="1700" b="1" dirty="0">
                <a:solidFill>
                  <a:srgbClr val="00382B"/>
                </a:solidFill>
                <a:latin typeface="Cambria" pitchFamily="34" charset="0"/>
                <a:ea typeface="Cambria" pitchFamily="34" charset="-122"/>
                <a:cs typeface="Cambria" pitchFamily="34" charset="-120"/>
              </a:rPr>
              <a:t>The application</a:t>
            </a:r>
            <a:endParaRPr lang="en-US" sz="1700" dirty="0"/>
          </a:p>
        </p:txBody>
      </p:sp>
      <p:sp>
        <p:nvSpPr>
          <p:cNvPr id="20" name="Text 18"/>
          <p:cNvSpPr/>
          <p:nvPr/>
        </p:nvSpPr>
        <p:spPr>
          <a:xfrm>
            <a:off x="8412480" y="3246120"/>
            <a:ext cx="2743200" cy="914400"/>
          </a:xfrm>
          <a:prstGeom prst="rect">
            <a:avLst/>
          </a:prstGeom>
          <a:noFill/>
          <a:ln/>
        </p:spPr>
        <p:txBody>
          <a:bodyPr wrap="square" lIns="0" tIns="0" rIns="0" bIns="0" rtlCol="0" anchor="ctr"/>
          <a:lstStyle/>
          <a:p>
            <a:pPr indent="0" marL="0">
              <a:buNone/>
            </a:pPr>
            <a:r>
              <a:rPr lang="en-US" sz="1250" dirty="0">
                <a:solidFill>
                  <a:srgbClr val="16302A"/>
                </a:solidFill>
                <a:latin typeface="Calibri" pitchFamily="34" charset="0"/>
                <a:ea typeface="Calibri" pitchFamily="34" charset="-122"/>
                <a:cs typeface="Calibri" pitchFamily="34" charset="-120"/>
              </a:rPr>
              <a:t>The same permission template is applied to every project of the application.</a:t>
            </a:r>
            <a:endParaRPr lang="en-US" sz="1250" dirty="0"/>
          </a:p>
        </p:txBody>
      </p:sp>
      <p:sp>
        <p:nvSpPr>
          <p:cNvPr id="21" name="Shape 19"/>
          <p:cNvSpPr/>
          <p:nvPr/>
        </p:nvSpPr>
        <p:spPr>
          <a:xfrm>
            <a:off x="685800" y="4434840"/>
            <a:ext cx="5257800" cy="1280160"/>
          </a:xfrm>
          <a:prstGeom prst="roundRect">
            <a:avLst>
              <a:gd name="adj" fmla="val 5714"/>
            </a:avLst>
          </a:prstGeom>
          <a:solidFill>
            <a:srgbClr val="E7F4EC"/>
          </a:solidFill>
          <a:ln w="12700">
            <a:solidFill>
              <a:srgbClr val="E7F4EC"/>
            </a:solidFill>
            <a:prstDash val="solid"/>
          </a:ln>
          <a:effectLst>
            <a:outerShdw sx="100000" sy="100000" kx="0" ky="0" algn="bl" rotWithShape="0" blurRad="76200" dist="508" dir="5400000">
              <a:srgbClr val="A9C2B5">
                <a:alpha val="25000"/>
              </a:srgbClr>
            </a:outerShdw>
          </a:effectLst>
        </p:spPr>
      </p:sp>
      <p:sp>
        <p:nvSpPr>
          <p:cNvPr id="22" name="Text 20"/>
          <p:cNvSpPr/>
          <p:nvPr/>
        </p:nvSpPr>
        <p:spPr>
          <a:xfrm>
            <a:off x="960120" y="4590288"/>
            <a:ext cx="4754880" cy="274320"/>
          </a:xfrm>
          <a:prstGeom prst="rect">
            <a:avLst/>
          </a:prstGeom>
          <a:noFill/>
          <a:ln/>
        </p:spPr>
        <p:txBody>
          <a:bodyPr wrap="square" lIns="0" tIns="0" rIns="0" bIns="0" rtlCol="0" anchor="ctr"/>
          <a:lstStyle/>
          <a:p>
            <a:pPr indent="0" marL="0">
              <a:buNone/>
            </a:pPr>
            <a:r>
              <a:rPr lang="en-US" sz="1300" b="1" dirty="0">
                <a:solidFill>
                  <a:srgbClr val="00915A"/>
                </a:solidFill>
                <a:latin typeface="Calibri" pitchFamily="34" charset="0"/>
                <a:ea typeface="Calibri" pitchFamily="34" charset="-122"/>
                <a:cs typeface="Calibri" pitchFamily="34" charset="-120"/>
              </a:rPr>
              <a:t>What stays the same</a:t>
            </a:r>
            <a:endParaRPr lang="en-US" sz="1300" dirty="0"/>
          </a:p>
        </p:txBody>
      </p:sp>
      <p:sp>
        <p:nvSpPr>
          <p:cNvPr id="23" name="Text 21"/>
          <p:cNvSpPr/>
          <p:nvPr/>
        </p:nvSpPr>
        <p:spPr>
          <a:xfrm>
            <a:off x="960120" y="4901184"/>
            <a:ext cx="4754880" cy="731520"/>
          </a:xfrm>
          <a:prstGeom prst="rect">
            <a:avLst/>
          </a:prstGeom>
          <a:noFill/>
          <a:ln/>
        </p:spPr>
        <p:txBody>
          <a:bodyPr wrap="square" lIns="0" tIns="0" rIns="0" bIns="0" rtlCol="0" anchor="ctr"/>
          <a:lstStyle/>
          <a:p>
            <a:pPr indent="0" marL="0">
              <a:buNone/>
            </a:pPr>
            <a:r>
              <a:rPr lang="en-US" sz="1200" dirty="0">
                <a:solidFill>
                  <a:srgbClr val="16302A"/>
                </a:solidFill>
                <a:latin typeface="Calibri" pitchFamily="34" charset="0"/>
                <a:ea typeface="Calibri" pitchFamily="34" charset="-122"/>
                <a:cs typeface="Calibri" pitchFamily="34" charset="-120"/>
              </a:rPr>
              <a:t>Your teams keep creating their projects the way they always have. Groups and permissions follow the group standard — the same for every entity, including ours.</a:t>
            </a:r>
            <a:endParaRPr lang="en-US" sz="1200" dirty="0"/>
          </a:p>
        </p:txBody>
      </p:sp>
      <p:sp>
        <p:nvSpPr>
          <p:cNvPr id="24" name="Shape 22"/>
          <p:cNvSpPr/>
          <p:nvPr/>
        </p:nvSpPr>
        <p:spPr>
          <a:xfrm>
            <a:off x="6217920" y="4434840"/>
            <a:ext cx="5257800" cy="1280160"/>
          </a:xfrm>
          <a:prstGeom prst="roundRect">
            <a:avLst>
              <a:gd name="adj" fmla="val 5714"/>
            </a:avLst>
          </a:prstGeom>
          <a:solidFill>
            <a:srgbClr val="EAF4EF"/>
          </a:solidFill>
          <a:ln w="12700">
            <a:solidFill>
              <a:srgbClr val="EAF4EF"/>
            </a:solidFill>
            <a:prstDash val="solid"/>
          </a:ln>
          <a:effectLst>
            <a:outerShdw sx="100000" sy="100000" kx="0" ky="0" algn="bl" rotWithShape="0" blurRad="76200" dist="508" dir="5400000">
              <a:srgbClr val="A9C2B5">
                <a:alpha val="25000"/>
              </a:srgbClr>
            </a:outerShdw>
          </a:effectLst>
        </p:spPr>
      </p:sp>
      <p:sp>
        <p:nvSpPr>
          <p:cNvPr id="25" name="Text 23"/>
          <p:cNvSpPr/>
          <p:nvPr/>
        </p:nvSpPr>
        <p:spPr>
          <a:xfrm>
            <a:off x="6492240" y="4590288"/>
            <a:ext cx="4754880" cy="274320"/>
          </a:xfrm>
          <a:prstGeom prst="rect">
            <a:avLst/>
          </a:prstGeom>
          <a:noFill/>
          <a:ln/>
        </p:spPr>
        <p:txBody>
          <a:bodyPr wrap="square" lIns="0" tIns="0" rIns="0" bIns="0" rtlCol="0" anchor="ctr"/>
          <a:lstStyle/>
          <a:p>
            <a:pPr indent="0" marL="0">
              <a:buNone/>
            </a:pPr>
            <a:r>
              <a:rPr lang="en-US" sz="1300" b="1" dirty="0">
                <a:solidFill>
                  <a:srgbClr val="00382B"/>
                </a:solidFill>
                <a:latin typeface="Calibri" pitchFamily="34" charset="0"/>
                <a:ea typeface="Calibri" pitchFamily="34" charset="-122"/>
                <a:cs typeface="Calibri" pitchFamily="34" charset="-120"/>
              </a:rPr>
              <a:t>What we add for the migration</a:t>
            </a:r>
            <a:endParaRPr lang="en-US" sz="1300" dirty="0"/>
          </a:p>
        </p:txBody>
      </p:sp>
      <p:sp>
        <p:nvSpPr>
          <p:cNvPr id="26" name="Text 24"/>
          <p:cNvSpPr/>
          <p:nvPr/>
        </p:nvSpPr>
        <p:spPr>
          <a:xfrm>
            <a:off x="6492240" y="4901184"/>
            <a:ext cx="4754880" cy="731520"/>
          </a:xfrm>
          <a:prstGeom prst="rect">
            <a:avLst/>
          </a:prstGeom>
          <a:noFill/>
          <a:ln/>
        </p:spPr>
        <p:txBody>
          <a:bodyPr wrap="square" lIns="0" tIns="0" rIns="0" bIns="0" rtlCol="0" anchor="ctr"/>
          <a:lstStyle/>
          <a:p>
            <a:pPr indent="0" marL="0">
              <a:buNone/>
            </a:pPr>
            <a:r>
              <a:rPr lang="en-US" sz="1200" dirty="0">
                <a:solidFill>
                  <a:srgbClr val="16302A"/>
                </a:solidFill>
                <a:latin typeface="Calibri" pitchFamily="34" charset="0"/>
                <a:ea typeface="Calibri" pitchFamily="34" charset="-122"/>
                <a:cs typeface="Calibri" pitchFamily="34" charset="-120"/>
              </a:rPr>
              <a:t>To bring your history along, we add a few steps on top of this path. The portal stays the entry point — we are not replacing anything.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789920" cy="640080"/>
          </a:xfrm>
          <a:prstGeom prst="rect">
            <a:avLst/>
          </a:prstGeom>
          <a:noFill/>
          <a:ln/>
        </p:spPr>
        <p:txBody>
          <a:bodyPr wrap="square" lIns="0" tIns="0" rIns="0" bIns="0" rtlCol="0" anchor="ctr"/>
          <a:lstStyle/>
          <a:p>
            <a:pPr indent="0" marL="0">
              <a:buNone/>
            </a:pPr>
            <a:r>
              <a:rPr lang="en-US" sz="3100" b="1" dirty="0">
                <a:solidFill>
                  <a:srgbClr val="00382B"/>
                </a:solidFill>
                <a:latin typeface="Cambria" pitchFamily="34" charset="0"/>
                <a:ea typeface="Cambria" pitchFamily="34" charset="-122"/>
                <a:cs typeface="Cambria" pitchFamily="34" charset="-120"/>
              </a:rPr>
              <a:t>What has to be true before we migrate</a:t>
            </a:r>
            <a:endParaRPr lang="en-US" sz="3100" dirty="0"/>
          </a:p>
        </p:txBody>
      </p:sp>
      <p:sp>
        <p:nvSpPr>
          <p:cNvPr id="3" name="Text 1"/>
          <p:cNvSpPr/>
          <p:nvPr/>
        </p:nvSpPr>
        <p:spPr>
          <a:xfrm>
            <a:off x="685800" y="1060704"/>
            <a:ext cx="10789920" cy="365760"/>
          </a:xfrm>
          <a:prstGeom prst="rect">
            <a:avLst/>
          </a:prstGeom>
          <a:noFill/>
          <a:ln/>
        </p:spPr>
        <p:txBody>
          <a:bodyPr wrap="square" lIns="0" tIns="0" rIns="0" bIns="0" rtlCol="0" anchor="ctr"/>
          <a:lstStyle/>
          <a:p>
            <a:pPr indent="0" marL="0">
              <a:buNone/>
            </a:pPr>
            <a:r>
              <a:rPr lang="en-US" sz="1400" i="1" dirty="0">
                <a:solidFill>
                  <a:srgbClr val="5B7268"/>
                </a:solidFill>
                <a:latin typeface="Calibri" pitchFamily="34" charset="0"/>
                <a:ea typeface="Calibri" pitchFamily="34" charset="-122"/>
                <a:cs typeface="Calibri" pitchFamily="34" charset="-120"/>
              </a:rPr>
              <a:t>One comes from GitLab, the others from Project Move itself.</a:t>
            </a:r>
            <a:endParaRPr lang="en-US" sz="1400" dirty="0"/>
          </a:p>
        </p:txBody>
      </p:sp>
      <p:sp>
        <p:nvSpPr>
          <p:cNvPr id="4" name="Shape 2"/>
          <p:cNvSpPr/>
          <p:nvPr/>
        </p:nvSpPr>
        <p:spPr>
          <a:xfrm>
            <a:off x="685800" y="1719072"/>
            <a:ext cx="10789920" cy="457200"/>
          </a:xfrm>
          <a:prstGeom prst="rect">
            <a:avLst/>
          </a:prstGeom>
          <a:solidFill>
            <a:srgbClr val="00382B"/>
          </a:solidFill>
          <a:ln w="12700">
            <a:solidFill>
              <a:srgbClr val="00382B"/>
            </a:solidFill>
            <a:prstDash val="solid"/>
          </a:ln>
        </p:spPr>
      </p:sp>
      <p:sp>
        <p:nvSpPr>
          <p:cNvPr id="5" name="Text 3"/>
          <p:cNvSpPr/>
          <p:nvPr/>
        </p:nvSpPr>
        <p:spPr>
          <a:xfrm>
            <a:off x="822960" y="1719072"/>
            <a:ext cx="4114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6" name="Text 4"/>
          <p:cNvSpPr/>
          <p:nvPr/>
        </p:nvSpPr>
        <p:spPr>
          <a:xfrm>
            <a:off x="1417320" y="1719072"/>
            <a:ext cx="50749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Requirement</a:t>
            </a:r>
            <a:endParaRPr lang="en-US" sz="1200" dirty="0"/>
          </a:p>
        </p:txBody>
      </p:sp>
      <p:sp>
        <p:nvSpPr>
          <p:cNvPr id="7" name="Text 5"/>
          <p:cNvSpPr/>
          <p:nvPr/>
        </p:nvSpPr>
        <p:spPr>
          <a:xfrm>
            <a:off x="6675120" y="1719072"/>
            <a:ext cx="228600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Our side</a:t>
            </a:r>
            <a:endParaRPr lang="en-US" sz="1200" dirty="0"/>
          </a:p>
        </p:txBody>
      </p:sp>
      <p:sp>
        <p:nvSpPr>
          <p:cNvPr id="8" name="Text 6"/>
          <p:cNvSpPr/>
          <p:nvPr/>
        </p:nvSpPr>
        <p:spPr>
          <a:xfrm>
            <a:off x="9144000" y="1719072"/>
            <a:ext cx="228600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Your side</a:t>
            </a:r>
            <a:endParaRPr lang="en-US" sz="1200" dirty="0"/>
          </a:p>
        </p:txBody>
      </p:sp>
      <p:sp>
        <p:nvSpPr>
          <p:cNvPr id="9" name="Shape 7"/>
          <p:cNvSpPr/>
          <p:nvPr/>
        </p:nvSpPr>
        <p:spPr>
          <a:xfrm>
            <a:off x="685800" y="2176272"/>
            <a:ext cx="10789920" cy="402336"/>
          </a:xfrm>
          <a:prstGeom prst="rect">
            <a:avLst/>
          </a:prstGeom>
          <a:solidFill>
            <a:srgbClr val="F3F8F5"/>
          </a:solidFill>
          <a:ln w="12700">
            <a:solidFill>
              <a:srgbClr val="F3F8F5"/>
            </a:solidFill>
            <a:prstDash val="solid"/>
          </a:ln>
        </p:spPr>
      </p:sp>
      <p:sp>
        <p:nvSpPr>
          <p:cNvPr id="10" name="Text 8"/>
          <p:cNvSpPr/>
          <p:nvPr/>
        </p:nvSpPr>
        <p:spPr>
          <a:xfrm>
            <a:off x="822960" y="2176272"/>
            <a:ext cx="411480" cy="402336"/>
          </a:xfrm>
          <a:prstGeom prst="rect">
            <a:avLst/>
          </a:prstGeom>
          <a:noFill/>
          <a:ln/>
        </p:spPr>
        <p:txBody>
          <a:bodyPr wrap="square" lIns="0" tIns="0" rIns="0" bIns="0" rtlCol="0" anchor="ctr"/>
          <a:lstStyle/>
          <a:p>
            <a:pPr indent="0" marL="0">
              <a:buNone/>
            </a:pPr>
            <a:r>
              <a:rPr lang="en-US" sz="1150" b="1" dirty="0">
                <a:solidFill>
                  <a:srgbClr val="00915A"/>
                </a:solidFill>
                <a:latin typeface="Calibri" pitchFamily="34" charset="0"/>
                <a:ea typeface="Calibri" pitchFamily="34" charset="-122"/>
                <a:cs typeface="Calibri" pitchFamily="34" charset="-120"/>
              </a:rPr>
              <a:t>0</a:t>
            </a:r>
            <a:endParaRPr lang="en-US" sz="1150" dirty="0"/>
          </a:p>
        </p:txBody>
      </p:sp>
      <p:sp>
        <p:nvSpPr>
          <p:cNvPr id="11" name="Text 9"/>
          <p:cNvSpPr/>
          <p:nvPr/>
        </p:nvSpPr>
        <p:spPr>
          <a:xfrm>
            <a:off x="1417320" y="2176272"/>
            <a:ext cx="507492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Source repositories hosted on OUR GitLab</a:t>
            </a:r>
            <a:endParaRPr lang="en-US" sz="1150" dirty="0"/>
          </a:p>
        </p:txBody>
      </p:sp>
      <p:sp>
        <p:nvSpPr>
          <p:cNvPr id="12" name="Text 10"/>
          <p:cNvSpPr/>
          <p:nvPr/>
        </p:nvSpPr>
        <p:spPr>
          <a:xfrm>
            <a:off x="6675120" y="2176272"/>
            <a:ext cx="228600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We host it</a:t>
            </a:r>
            <a:endParaRPr lang="en-US" sz="1150" dirty="0"/>
          </a:p>
        </p:txBody>
      </p:sp>
      <p:sp>
        <p:nvSpPr>
          <p:cNvPr id="13" name="Text 11"/>
          <p:cNvSpPr/>
          <p:nvPr/>
        </p:nvSpPr>
        <p:spPr>
          <a:xfrm>
            <a:off x="9144000" y="2176272"/>
            <a:ext cx="228600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Comes before everything</a:t>
            </a:r>
            <a:endParaRPr lang="en-US" sz="1150" dirty="0"/>
          </a:p>
        </p:txBody>
      </p:sp>
      <p:sp>
        <p:nvSpPr>
          <p:cNvPr id="14" name="Text 12"/>
          <p:cNvSpPr/>
          <p:nvPr/>
        </p:nvSpPr>
        <p:spPr>
          <a:xfrm>
            <a:off x="822960" y="2578608"/>
            <a:ext cx="411480" cy="402336"/>
          </a:xfrm>
          <a:prstGeom prst="rect">
            <a:avLst/>
          </a:prstGeom>
          <a:noFill/>
          <a:ln/>
        </p:spPr>
        <p:txBody>
          <a:bodyPr wrap="square" lIns="0" tIns="0" rIns="0" bIns="0" rtlCol="0" anchor="ctr"/>
          <a:lstStyle/>
          <a:p>
            <a:pPr indent="0" marL="0">
              <a:buNone/>
            </a:pPr>
            <a:r>
              <a:rPr lang="en-US" sz="1150" b="1" dirty="0">
                <a:solidFill>
                  <a:srgbClr val="00915A"/>
                </a:solidFill>
                <a:latin typeface="Calibri" pitchFamily="34" charset="0"/>
                <a:ea typeface="Calibri" pitchFamily="34" charset="-122"/>
                <a:cs typeface="Calibri" pitchFamily="34" charset="-120"/>
              </a:rPr>
              <a:t>1</a:t>
            </a:r>
            <a:endParaRPr lang="en-US" sz="1150" dirty="0"/>
          </a:p>
        </p:txBody>
      </p:sp>
      <p:sp>
        <p:nvSpPr>
          <p:cNvPr id="15" name="Text 13"/>
          <p:cNvSpPr/>
          <p:nvPr/>
        </p:nvSpPr>
        <p:spPr>
          <a:xfrm>
            <a:off x="1417320" y="2578608"/>
            <a:ext cx="507492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Enterprise Edition or above on both instances</a:t>
            </a:r>
            <a:endParaRPr lang="en-US" sz="1150" dirty="0"/>
          </a:p>
        </p:txBody>
      </p:sp>
      <p:sp>
        <p:nvSpPr>
          <p:cNvPr id="16" name="Text 14"/>
          <p:cNvSpPr/>
          <p:nvPr/>
        </p:nvSpPr>
        <p:spPr>
          <a:xfrm>
            <a:off x="6675120" y="2578608"/>
            <a:ext cx="228600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[our edition]</a:t>
            </a:r>
            <a:endParaRPr lang="en-US" sz="1150" dirty="0"/>
          </a:p>
        </p:txBody>
      </p:sp>
      <p:sp>
        <p:nvSpPr>
          <p:cNvPr id="17" name="Text 15"/>
          <p:cNvSpPr/>
          <p:nvPr/>
        </p:nvSpPr>
        <p:spPr>
          <a:xfrm>
            <a:off x="9144000" y="2578608"/>
            <a:ext cx="228600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To confirm together</a:t>
            </a:r>
            <a:endParaRPr lang="en-US" sz="1150" dirty="0"/>
          </a:p>
        </p:txBody>
      </p:sp>
      <p:sp>
        <p:nvSpPr>
          <p:cNvPr id="18" name="Shape 16"/>
          <p:cNvSpPr/>
          <p:nvPr/>
        </p:nvSpPr>
        <p:spPr>
          <a:xfrm>
            <a:off x="685800" y="2980944"/>
            <a:ext cx="10789920" cy="402336"/>
          </a:xfrm>
          <a:prstGeom prst="rect">
            <a:avLst/>
          </a:prstGeom>
          <a:solidFill>
            <a:srgbClr val="F3F8F5"/>
          </a:solidFill>
          <a:ln w="12700">
            <a:solidFill>
              <a:srgbClr val="F3F8F5"/>
            </a:solidFill>
            <a:prstDash val="solid"/>
          </a:ln>
        </p:spPr>
      </p:sp>
      <p:sp>
        <p:nvSpPr>
          <p:cNvPr id="19" name="Text 17"/>
          <p:cNvSpPr/>
          <p:nvPr/>
        </p:nvSpPr>
        <p:spPr>
          <a:xfrm>
            <a:off x="822960" y="2980944"/>
            <a:ext cx="411480" cy="402336"/>
          </a:xfrm>
          <a:prstGeom prst="rect">
            <a:avLst/>
          </a:prstGeom>
          <a:noFill/>
          <a:ln/>
        </p:spPr>
        <p:txBody>
          <a:bodyPr wrap="square" lIns="0" tIns="0" rIns="0" bIns="0" rtlCol="0" anchor="ctr"/>
          <a:lstStyle/>
          <a:p>
            <a:pPr indent="0" marL="0">
              <a:buNone/>
            </a:pPr>
            <a:r>
              <a:rPr lang="en-US" sz="1150" b="1" dirty="0">
                <a:solidFill>
                  <a:srgbClr val="00915A"/>
                </a:solidFill>
                <a:latin typeface="Calibri" pitchFamily="34" charset="0"/>
                <a:ea typeface="Calibri" pitchFamily="34" charset="-122"/>
                <a:cs typeface="Calibri" pitchFamily="34" charset="-120"/>
              </a:rPr>
              <a:t>2</a:t>
            </a:r>
            <a:endParaRPr lang="en-US" sz="1150" dirty="0"/>
          </a:p>
        </p:txBody>
      </p:sp>
      <p:sp>
        <p:nvSpPr>
          <p:cNvPr id="20" name="Text 18"/>
          <p:cNvSpPr/>
          <p:nvPr/>
        </p:nvSpPr>
        <p:spPr>
          <a:xfrm>
            <a:off x="1417320" y="2980944"/>
            <a:ext cx="507492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Exact same SonarQube version, patch included</a:t>
            </a:r>
            <a:endParaRPr lang="en-US" sz="1150" dirty="0"/>
          </a:p>
        </p:txBody>
      </p:sp>
      <p:sp>
        <p:nvSpPr>
          <p:cNvPr id="21" name="Text 19"/>
          <p:cNvSpPr/>
          <p:nvPr/>
        </p:nvSpPr>
        <p:spPr>
          <a:xfrm>
            <a:off x="6675120" y="2980944"/>
            <a:ext cx="228600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[our version]</a:t>
            </a:r>
            <a:endParaRPr lang="en-US" sz="1150" dirty="0"/>
          </a:p>
        </p:txBody>
      </p:sp>
      <p:sp>
        <p:nvSpPr>
          <p:cNvPr id="22" name="Text 20"/>
          <p:cNvSpPr/>
          <p:nvPr/>
        </p:nvSpPr>
        <p:spPr>
          <a:xfrm>
            <a:off x="9144000" y="2980944"/>
            <a:ext cx="228600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Upgrade to match</a:t>
            </a:r>
            <a:endParaRPr lang="en-US" sz="1150" dirty="0"/>
          </a:p>
        </p:txBody>
      </p:sp>
      <p:sp>
        <p:nvSpPr>
          <p:cNvPr id="23" name="Text 21"/>
          <p:cNvSpPr/>
          <p:nvPr/>
        </p:nvSpPr>
        <p:spPr>
          <a:xfrm>
            <a:off x="822960" y="3383280"/>
            <a:ext cx="411480" cy="402336"/>
          </a:xfrm>
          <a:prstGeom prst="rect">
            <a:avLst/>
          </a:prstGeom>
          <a:noFill/>
          <a:ln/>
        </p:spPr>
        <p:txBody>
          <a:bodyPr wrap="square" lIns="0" tIns="0" rIns="0" bIns="0" rtlCol="0" anchor="ctr"/>
          <a:lstStyle/>
          <a:p>
            <a:pPr indent="0" marL="0">
              <a:buNone/>
            </a:pPr>
            <a:r>
              <a:rPr lang="en-US" sz="1150" b="1" dirty="0">
                <a:solidFill>
                  <a:srgbClr val="00915A"/>
                </a:solidFill>
                <a:latin typeface="Calibri" pitchFamily="34" charset="0"/>
                <a:ea typeface="Calibri" pitchFamily="34" charset="-122"/>
                <a:cs typeface="Calibri" pitchFamily="34" charset="-120"/>
              </a:rPr>
              <a:t>3</a:t>
            </a:r>
            <a:endParaRPr lang="en-US" sz="1150" dirty="0"/>
          </a:p>
        </p:txBody>
      </p:sp>
      <p:sp>
        <p:nvSpPr>
          <p:cNvPr id="24" name="Text 22"/>
          <p:cNvSpPr/>
          <p:nvPr/>
        </p:nvSpPr>
        <p:spPr>
          <a:xfrm>
            <a:off x="1417320" y="3383280"/>
            <a:ext cx="507492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Same plugins, same versions</a:t>
            </a:r>
            <a:endParaRPr lang="en-US" sz="1150" dirty="0"/>
          </a:p>
        </p:txBody>
      </p:sp>
      <p:sp>
        <p:nvSpPr>
          <p:cNvPr id="25" name="Text 23"/>
          <p:cNvSpPr/>
          <p:nvPr/>
        </p:nvSpPr>
        <p:spPr>
          <a:xfrm>
            <a:off x="6675120" y="3383280"/>
            <a:ext cx="228600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We send the list</a:t>
            </a:r>
            <a:endParaRPr lang="en-US" sz="1150" dirty="0"/>
          </a:p>
        </p:txBody>
      </p:sp>
      <p:sp>
        <p:nvSpPr>
          <p:cNvPr id="26" name="Text 24"/>
          <p:cNvSpPr/>
          <p:nvPr/>
        </p:nvSpPr>
        <p:spPr>
          <a:xfrm>
            <a:off x="9144000" y="3383280"/>
            <a:ext cx="228600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Install what is missing</a:t>
            </a:r>
            <a:endParaRPr lang="en-US" sz="1150" dirty="0"/>
          </a:p>
        </p:txBody>
      </p:sp>
      <p:sp>
        <p:nvSpPr>
          <p:cNvPr id="27" name="Shape 25"/>
          <p:cNvSpPr/>
          <p:nvPr/>
        </p:nvSpPr>
        <p:spPr>
          <a:xfrm>
            <a:off x="685800" y="3785616"/>
            <a:ext cx="10789920" cy="402336"/>
          </a:xfrm>
          <a:prstGeom prst="rect">
            <a:avLst/>
          </a:prstGeom>
          <a:solidFill>
            <a:srgbClr val="F3F8F5"/>
          </a:solidFill>
          <a:ln w="12700">
            <a:solidFill>
              <a:srgbClr val="F3F8F5"/>
            </a:solidFill>
            <a:prstDash val="solid"/>
          </a:ln>
        </p:spPr>
      </p:sp>
      <p:sp>
        <p:nvSpPr>
          <p:cNvPr id="28" name="Text 26"/>
          <p:cNvSpPr/>
          <p:nvPr/>
        </p:nvSpPr>
        <p:spPr>
          <a:xfrm>
            <a:off x="822960" y="3785616"/>
            <a:ext cx="411480" cy="402336"/>
          </a:xfrm>
          <a:prstGeom prst="rect">
            <a:avLst/>
          </a:prstGeom>
          <a:noFill/>
          <a:ln/>
        </p:spPr>
        <p:txBody>
          <a:bodyPr wrap="square" lIns="0" tIns="0" rIns="0" bIns="0" rtlCol="0" anchor="ctr"/>
          <a:lstStyle/>
          <a:p>
            <a:pPr indent="0" marL="0">
              <a:buNone/>
            </a:pPr>
            <a:r>
              <a:rPr lang="en-US" sz="1150" b="1" dirty="0">
                <a:solidFill>
                  <a:srgbClr val="00915A"/>
                </a:solidFill>
                <a:latin typeface="Calibri" pitchFamily="34" charset="0"/>
                <a:ea typeface="Calibri" pitchFamily="34" charset="-122"/>
                <a:cs typeface="Calibri" pitchFamily="34" charset="-120"/>
              </a:rPr>
              <a:t>4</a:t>
            </a:r>
            <a:endParaRPr lang="en-US" sz="1150" dirty="0"/>
          </a:p>
        </p:txBody>
      </p:sp>
      <p:sp>
        <p:nvSpPr>
          <p:cNvPr id="29" name="Text 27"/>
          <p:cNvSpPr/>
          <p:nvPr/>
        </p:nvSpPr>
        <p:spPr>
          <a:xfrm>
            <a:off x="1417320" y="3785616"/>
            <a:ext cx="507492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Same custom rules and custom metrics</a:t>
            </a:r>
            <a:endParaRPr lang="en-US" sz="1150" dirty="0"/>
          </a:p>
        </p:txBody>
      </p:sp>
      <p:sp>
        <p:nvSpPr>
          <p:cNvPr id="30" name="Text 28"/>
          <p:cNvSpPr/>
          <p:nvPr/>
        </p:nvSpPr>
        <p:spPr>
          <a:xfrm>
            <a:off x="6675120" y="3785616"/>
            <a:ext cx="228600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[ours]</a:t>
            </a:r>
            <a:endParaRPr lang="en-US" sz="1150" dirty="0"/>
          </a:p>
        </p:txBody>
      </p:sp>
      <p:sp>
        <p:nvSpPr>
          <p:cNvPr id="31" name="Text 29"/>
          <p:cNvSpPr/>
          <p:nvPr/>
        </p:nvSpPr>
        <p:spPr>
          <a:xfrm>
            <a:off x="9144000" y="3785616"/>
            <a:ext cx="228600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We decide case by case</a:t>
            </a:r>
            <a:endParaRPr lang="en-US" sz="1150" dirty="0"/>
          </a:p>
        </p:txBody>
      </p:sp>
      <p:sp>
        <p:nvSpPr>
          <p:cNvPr id="32" name="Text 30"/>
          <p:cNvSpPr/>
          <p:nvPr/>
        </p:nvSpPr>
        <p:spPr>
          <a:xfrm>
            <a:off x="822960" y="4187952"/>
            <a:ext cx="411480" cy="402336"/>
          </a:xfrm>
          <a:prstGeom prst="rect">
            <a:avLst/>
          </a:prstGeom>
          <a:noFill/>
          <a:ln/>
        </p:spPr>
        <p:txBody>
          <a:bodyPr wrap="square" lIns="0" tIns="0" rIns="0" bIns="0" rtlCol="0" anchor="ctr"/>
          <a:lstStyle/>
          <a:p>
            <a:pPr indent="0" marL="0">
              <a:buNone/>
            </a:pPr>
            <a:r>
              <a:rPr lang="en-US" sz="1150" b="1" dirty="0">
                <a:solidFill>
                  <a:srgbClr val="00915A"/>
                </a:solidFill>
                <a:latin typeface="Calibri" pitchFamily="34" charset="0"/>
                <a:ea typeface="Calibri" pitchFamily="34" charset="-122"/>
                <a:cs typeface="Calibri" pitchFamily="34" charset="-120"/>
              </a:rPr>
              <a:t>5</a:t>
            </a:r>
            <a:endParaRPr lang="en-US" sz="1150" dirty="0"/>
          </a:p>
        </p:txBody>
      </p:sp>
      <p:sp>
        <p:nvSpPr>
          <p:cNvPr id="33" name="Text 31"/>
          <p:cNvSpPr/>
          <p:nvPr/>
        </p:nvSpPr>
        <p:spPr>
          <a:xfrm>
            <a:off x="1417320" y="4187952"/>
            <a:ext cx="507492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User logins aligned on the corporate directory</a:t>
            </a:r>
            <a:endParaRPr lang="en-US" sz="1150" dirty="0"/>
          </a:p>
        </p:txBody>
      </p:sp>
      <p:sp>
        <p:nvSpPr>
          <p:cNvPr id="34" name="Text 32"/>
          <p:cNvSpPr/>
          <p:nvPr/>
        </p:nvSpPr>
        <p:spPr>
          <a:xfrm>
            <a:off x="6675120" y="4187952"/>
            <a:ext cx="228600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Corporate SSO</a:t>
            </a:r>
            <a:endParaRPr lang="en-US" sz="1150" dirty="0"/>
          </a:p>
        </p:txBody>
      </p:sp>
      <p:sp>
        <p:nvSpPr>
          <p:cNvPr id="35" name="Text 33"/>
          <p:cNvSpPr/>
          <p:nvPr/>
        </p:nvSpPr>
        <p:spPr>
          <a:xfrm>
            <a:off x="9144000" y="4187952"/>
            <a:ext cx="228600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To confirm together</a:t>
            </a:r>
            <a:endParaRPr lang="en-US" sz="1150" dirty="0"/>
          </a:p>
        </p:txBody>
      </p:sp>
      <p:sp>
        <p:nvSpPr>
          <p:cNvPr id="36" name="Shape 34"/>
          <p:cNvSpPr/>
          <p:nvPr/>
        </p:nvSpPr>
        <p:spPr>
          <a:xfrm>
            <a:off x="685800" y="4590288"/>
            <a:ext cx="10789920" cy="402336"/>
          </a:xfrm>
          <a:prstGeom prst="rect">
            <a:avLst/>
          </a:prstGeom>
          <a:solidFill>
            <a:srgbClr val="F3F8F5"/>
          </a:solidFill>
          <a:ln w="12700">
            <a:solidFill>
              <a:srgbClr val="F3F8F5"/>
            </a:solidFill>
            <a:prstDash val="solid"/>
          </a:ln>
        </p:spPr>
      </p:sp>
      <p:sp>
        <p:nvSpPr>
          <p:cNvPr id="37" name="Text 35"/>
          <p:cNvSpPr/>
          <p:nvPr/>
        </p:nvSpPr>
        <p:spPr>
          <a:xfrm>
            <a:off x="822960" y="4590288"/>
            <a:ext cx="411480" cy="402336"/>
          </a:xfrm>
          <a:prstGeom prst="rect">
            <a:avLst/>
          </a:prstGeom>
          <a:noFill/>
          <a:ln/>
        </p:spPr>
        <p:txBody>
          <a:bodyPr wrap="square" lIns="0" tIns="0" rIns="0" bIns="0" rtlCol="0" anchor="ctr"/>
          <a:lstStyle/>
          <a:p>
            <a:pPr indent="0" marL="0">
              <a:buNone/>
            </a:pPr>
            <a:r>
              <a:rPr lang="en-US" sz="1150" b="1" dirty="0">
                <a:solidFill>
                  <a:srgbClr val="00915A"/>
                </a:solidFill>
                <a:latin typeface="Calibri" pitchFamily="34" charset="0"/>
                <a:ea typeface="Calibri" pitchFamily="34" charset="-122"/>
                <a:cs typeface="Calibri" pitchFamily="34" charset="-120"/>
              </a:rPr>
              <a:t>6</a:t>
            </a:r>
            <a:endParaRPr lang="en-US" sz="1150" dirty="0"/>
          </a:p>
        </p:txBody>
      </p:sp>
      <p:sp>
        <p:nvSpPr>
          <p:cNvPr id="38" name="Text 36"/>
          <p:cNvSpPr/>
          <p:nvPr/>
        </p:nvSpPr>
        <p:spPr>
          <a:xfrm>
            <a:off x="1417320" y="4590288"/>
            <a:ext cx="507492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Secure channel to transfer the export archives</a:t>
            </a:r>
            <a:endParaRPr lang="en-US" sz="1150" dirty="0"/>
          </a:p>
        </p:txBody>
      </p:sp>
      <p:sp>
        <p:nvSpPr>
          <p:cNvPr id="39" name="Text 37"/>
          <p:cNvSpPr/>
          <p:nvPr/>
        </p:nvSpPr>
        <p:spPr>
          <a:xfrm>
            <a:off x="6675120" y="4590288"/>
            <a:ext cx="228600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We propose one</a:t>
            </a:r>
            <a:endParaRPr lang="en-US" sz="1150" dirty="0"/>
          </a:p>
        </p:txBody>
      </p:sp>
      <p:sp>
        <p:nvSpPr>
          <p:cNvPr id="40" name="Text 38"/>
          <p:cNvSpPr/>
          <p:nvPr/>
        </p:nvSpPr>
        <p:spPr>
          <a:xfrm>
            <a:off x="9144000" y="4590288"/>
            <a:ext cx="2286000" cy="402336"/>
          </a:xfrm>
          <a:prstGeom prst="rect">
            <a:avLst/>
          </a:prstGeom>
          <a:noFill/>
          <a:ln/>
        </p:spPr>
        <p:txBody>
          <a:bodyPr wrap="square" lIns="0" tIns="0" rIns="0" bIns="0" rtlCol="0" anchor="ctr"/>
          <a:lstStyle/>
          <a:p>
            <a:pPr indent="0" marL="0">
              <a:buNone/>
            </a:pPr>
            <a:r>
              <a:rPr lang="en-US" sz="1150" dirty="0">
                <a:solidFill>
                  <a:srgbClr val="16302A"/>
                </a:solidFill>
                <a:latin typeface="Calibri" pitchFamily="34" charset="0"/>
                <a:ea typeface="Calibri" pitchFamily="34" charset="-122"/>
                <a:cs typeface="Calibri" pitchFamily="34" charset="-120"/>
              </a:rPr>
              <a:t>You validate it</a:t>
            </a:r>
            <a:endParaRPr lang="en-US" sz="1150" dirty="0"/>
          </a:p>
        </p:txBody>
      </p:sp>
      <p:sp>
        <p:nvSpPr>
          <p:cNvPr id="41" name="Shape 39"/>
          <p:cNvSpPr/>
          <p:nvPr/>
        </p:nvSpPr>
        <p:spPr>
          <a:xfrm>
            <a:off x="685800" y="5074920"/>
            <a:ext cx="10789920" cy="868680"/>
          </a:xfrm>
          <a:prstGeom prst="roundRect">
            <a:avLst>
              <a:gd name="adj" fmla="val 8421"/>
            </a:avLst>
          </a:prstGeom>
          <a:solidFill>
            <a:srgbClr val="FBEDEB"/>
          </a:solidFill>
          <a:ln w="12700">
            <a:solidFill>
              <a:srgbClr val="FBEDEB"/>
            </a:solidFill>
            <a:prstDash val="solid"/>
          </a:ln>
          <a:effectLst>
            <a:outerShdw sx="100000" sy="100000" kx="0" ky="0" algn="bl" rotWithShape="0" blurRad="76200" dist="508" dir="5400000">
              <a:srgbClr val="A9C2B5">
                <a:alpha val="25000"/>
              </a:srgbClr>
            </a:outerShdw>
          </a:effectLst>
        </p:spPr>
      </p:sp>
      <p:sp>
        <p:nvSpPr>
          <p:cNvPr id="42" name="Text 40"/>
          <p:cNvSpPr/>
          <p:nvPr/>
        </p:nvSpPr>
        <p:spPr>
          <a:xfrm>
            <a:off x="960120" y="5212080"/>
            <a:ext cx="10241280" cy="548640"/>
          </a:xfrm>
          <a:prstGeom prst="rect">
            <a:avLst/>
          </a:prstGeom>
          <a:noFill/>
          <a:ln/>
        </p:spPr>
        <p:txBody>
          <a:bodyPr wrap="square" lIns="0" tIns="0" rIns="0" bIns="0" rtlCol="0" anchor="ctr"/>
          <a:lstStyle/>
          <a:p>
            <a:pPr indent="0" marL="0">
              <a:buNone/>
            </a:pPr>
            <a:r>
              <a:rPr lang="en-US" sz="1350" b="1" dirty="0">
                <a:solidFill>
                  <a:srgbClr val="C0392B"/>
                </a:solidFill>
                <a:latin typeface="Calibri" pitchFamily="34" charset="0"/>
                <a:ea typeface="Calibri" pitchFamily="34" charset="-122"/>
                <a:cs typeface="Calibri" pitchFamily="34" charset="-120"/>
              </a:rPr>
              <a:t>Number zero comes first: the portal creates the Sonar project from a repository. No repository on our GitLab, no project, no migration.</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789920" cy="640080"/>
          </a:xfrm>
          <a:prstGeom prst="rect">
            <a:avLst/>
          </a:prstGeom>
          <a:noFill/>
          <a:ln/>
        </p:spPr>
        <p:txBody>
          <a:bodyPr wrap="square" lIns="0" tIns="0" rIns="0" bIns="0" rtlCol="0" anchor="ctr"/>
          <a:lstStyle/>
          <a:p>
            <a:pPr indent="0" marL="0">
              <a:buNone/>
            </a:pPr>
            <a:r>
              <a:rPr lang="en-US" sz="3100" b="1" dirty="0">
                <a:solidFill>
                  <a:srgbClr val="00382B"/>
                </a:solidFill>
                <a:latin typeface="Cambria" pitchFamily="34" charset="0"/>
                <a:ea typeface="Cambria" pitchFamily="34" charset="-122"/>
                <a:cs typeface="Cambria" pitchFamily="34" charset="-120"/>
              </a:rPr>
              <a:t>Getting your instance in shape</a:t>
            </a:r>
            <a:endParaRPr lang="en-US" sz="3100" dirty="0"/>
          </a:p>
        </p:txBody>
      </p:sp>
      <p:sp>
        <p:nvSpPr>
          <p:cNvPr id="3" name="Text 1"/>
          <p:cNvSpPr/>
          <p:nvPr/>
        </p:nvSpPr>
        <p:spPr>
          <a:xfrm>
            <a:off x="685800" y="1060704"/>
            <a:ext cx="10789920" cy="365760"/>
          </a:xfrm>
          <a:prstGeom prst="rect">
            <a:avLst/>
          </a:prstGeom>
          <a:noFill/>
          <a:ln/>
        </p:spPr>
        <p:txBody>
          <a:bodyPr wrap="square" lIns="0" tIns="0" rIns="0" bIns="0" rtlCol="0" anchor="ctr"/>
          <a:lstStyle/>
          <a:p>
            <a:pPr indent="0" marL="0">
              <a:buNone/>
            </a:pPr>
            <a:r>
              <a:rPr lang="en-US" sz="1400" i="1" dirty="0">
                <a:solidFill>
                  <a:srgbClr val="5B7268"/>
                </a:solidFill>
                <a:latin typeface="Calibri" pitchFamily="34" charset="0"/>
                <a:ea typeface="Calibri" pitchFamily="34" charset="-122"/>
                <a:cs typeface="Calibri" pitchFamily="34" charset="-120"/>
              </a:rPr>
              <a:t>You are closer than we expected. Two things to do, and neither is heavy.</a:t>
            </a:r>
            <a:endParaRPr lang="en-US" sz="1400" dirty="0"/>
          </a:p>
        </p:txBody>
      </p:sp>
      <p:sp>
        <p:nvSpPr>
          <p:cNvPr id="4" name="Shape 2"/>
          <p:cNvSpPr/>
          <p:nvPr/>
        </p:nvSpPr>
        <p:spPr>
          <a:xfrm>
            <a:off x="685800" y="1691640"/>
            <a:ext cx="3200400" cy="914400"/>
          </a:xfrm>
          <a:prstGeom prst="roundRect">
            <a:avLst>
              <a:gd name="adj" fmla="val 6000"/>
            </a:avLst>
          </a:prstGeom>
          <a:solidFill>
            <a:srgbClr val="E9E9E6"/>
          </a:solidFill>
          <a:ln w="12700">
            <a:solidFill>
              <a:srgbClr val="E9E9E6"/>
            </a:solidFill>
            <a:prstDash val="solid"/>
          </a:ln>
        </p:spPr>
      </p:sp>
      <p:sp>
        <p:nvSpPr>
          <p:cNvPr id="5" name="Text 3"/>
          <p:cNvSpPr/>
          <p:nvPr/>
        </p:nvSpPr>
        <p:spPr>
          <a:xfrm>
            <a:off x="914400" y="1801368"/>
            <a:ext cx="2743200" cy="256032"/>
          </a:xfrm>
          <a:prstGeom prst="rect">
            <a:avLst/>
          </a:prstGeom>
          <a:noFill/>
          <a:ln/>
        </p:spPr>
        <p:txBody>
          <a:bodyPr wrap="square" lIns="0" tIns="0" rIns="0" bIns="0" rtlCol="0" anchor="ctr"/>
          <a:lstStyle/>
          <a:p>
            <a:pPr indent="0" marL="0">
              <a:buNone/>
            </a:pPr>
            <a:r>
              <a:rPr lang="en-US" sz="1150" dirty="0">
                <a:solidFill>
                  <a:srgbClr val="5B7268"/>
                </a:solidFill>
                <a:latin typeface="Calibri" pitchFamily="34" charset="0"/>
                <a:ea typeface="Calibri" pitchFamily="34" charset="-122"/>
                <a:cs typeface="Calibri" pitchFamily="34" charset="-120"/>
              </a:rPr>
              <a:t>Your instance today</a:t>
            </a:r>
            <a:endParaRPr lang="en-US" sz="1150" dirty="0"/>
          </a:p>
        </p:txBody>
      </p:sp>
      <p:sp>
        <p:nvSpPr>
          <p:cNvPr id="6" name="Text 4"/>
          <p:cNvSpPr/>
          <p:nvPr/>
        </p:nvSpPr>
        <p:spPr>
          <a:xfrm>
            <a:off x="914400" y="2048256"/>
            <a:ext cx="2743200" cy="457200"/>
          </a:xfrm>
          <a:prstGeom prst="rect">
            <a:avLst/>
          </a:prstGeom>
          <a:noFill/>
          <a:ln/>
        </p:spPr>
        <p:txBody>
          <a:bodyPr wrap="square" lIns="0" tIns="0" rIns="0" bIns="0" rtlCol="0" anchor="ctr"/>
          <a:lstStyle/>
          <a:p>
            <a:pPr indent="0" marL="0">
              <a:buNone/>
            </a:pPr>
            <a:r>
              <a:rPr lang="en-US" sz="2200" b="1" dirty="0">
                <a:solidFill>
                  <a:srgbClr val="16302A"/>
                </a:solidFill>
                <a:latin typeface="Cambria" pitchFamily="34" charset="0"/>
                <a:ea typeface="Cambria" pitchFamily="34" charset="-122"/>
                <a:cs typeface="Cambria" pitchFamily="34" charset="-120"/>
              </a:rPr>
              <a:t>2026.1.1</a:t>
            </a:r>
            <a:endParaRPr lang="en-US" sz="2200" dirty="0"/>
          </a:p>
        </p:txBody>
      </p:sp>
      <p:sp>
        <p:nvSpPr>
          <p:cNvPr id="7" name="Shape 5"/>
          <p:cNvSpPr/>
          <p:nvPr/>
        </p:nvSpPr>
        <p:spPr>
          <a:xfrm>
            <a:off x="4023360" y="2048256"/>
            <a:ext cx="365760" cy="256032"/>
          </a:xfrm>
          <a:prstGeom prst="rightArrow">
            <a:avLst/>
          </a:prstGeom>
          <a:solidFill>
            <a:srgbClr val="5FD3A0"/>
          </a:solidFill>
          <a:ln w="12700">
            <a:solidFill>
              <a:srgbClr val="5FD3A0"/>
            </a:solidFill>
            <a:prstDash val="solid"/>
          </a:ln>
        </p:spPr>
      </p:sp>
      <p:sp>
        <p:nvSpPr>
          <p:cNvPr id="8" name="Shape 6"/>
          <p:cNvSpPr/>
          <p:nvPr/>
        </p:nvSpPr>
        <p:spPr>
          <a:xfrm>
            <a:off x="4526280" y="1691640"/>
            <a:ext cx="3200400" cy="914400"/>
          </a:xfrm>
          <a:prstGeom prst="roundRect">
            <a:avLst>
              <a:gd name="adj" fmla="val 6000"/>
            </a:avLst>
          </a:prstGeom>
          <a:solidFill>
            <a:srgbClr val="00915A"/>
          </a:solidFill>
          <a:ln w="12700">
            <a:solidFill>
              <a:srgbClr val="00915A"/>
            </a:solidFill>
            <a:prstDash val="solid"/>
          </a:ln>
        </p:spPr>
      </p:sp>
      <p:sp>
        <p:nvSpPr>
          <p:cNvPr id="9" name="Text 7"/>
          <p:cNvSpPr/>
          <p:nvPr/>
        </p:nvSpPr>
        <p:spPr>
          <a:xfrm>
            <a:off x="4754880" y="1801368"/>
            <a:ext cx="2743200" cy="256032"/>
          </a:xfrm>
          <a:prstGeom prst="rect">
            <a:avLst/>
          </a:prstGeom>
          <a:noFill/>
          <a:ln/>
        </p:spPr>
        <p:txBody>
          <a:bodyPr wrap="square" lIns="0" tIns="0" rIns="0" bIns="0" rtlCol="0" anchor="ctr"/>
          <a:lstStyle/>
          <a:p>
            <a:pPr indent="0" marL="0">
              <a:buNone/>
            </a:pPr>
            <a:r>
              <a:rPr lang="en-US" sz="1150" dirty="0">
                <a:solidFill>
                  <a:srgbClr val="CDEFDF"/>
                </a:solidFill>
                <a:latin typeface="Calibri" pitchFamily="34" charset="0"/>
                <a:ea typeface="Calibri" pitchFamily="34" charset="-122"/>
                <a:cs typeface="Calibri" pitchFamily="34" charset="-120"/>
              </a:rPr>
              <a:t>Our instance</a:t>
            </a:r>
            <a:endParaRPr lang="en-US" sz="1150" dirty="0"/>
          </a:p>
        </p:txBody>
      </p:sp>
      <p:sp>
        <p:nvSpPr>
          <p:cNvPr id="10" name="Text 8"/>
          <p:cNvSpPr/>
          <p:nvPr/>
        </p:nvSpPr>
        <p:spPr>
          <a:xfrm>
            <a:off x="4754880" y="2048256"/>
            <a:ext cx="27432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2026.2.1</a:t>
            </a:r>
            <a:endParaRPr lang="en-US" sz="2200" dirty="0"/>
          </a:p>
        </p:txBody>
      </p:sp>
      <p:sp>
        <p:nvSpPr>
          <p:cNvPr id="11" name="Shape 9"/>
          <p:cNvSpPr/>
          <p:nvPr/>
        </p:nvSpPr>
        <p:spPr>
          <a:xfrm>
            <a:off x="8001000" y="1691640"/>
            <a:ext cx="3474720" cy="914400"/>
          </a:xfrm>
          <a:prstGeom prst="roundRect">
            <a:avLst>
              <a:gd name="adj" fmla="val 6000"/>
            </a:avLst>
          </a:prstGeom>
          <a:solidFill>
            <a:srgbClr val="E7F4EC"/>
          </a:solidFill>
          <a:ln w="12700">
            <a:solidFill>
              <a:srgbClr val="E7F4EC"/>
            </a:solidFill>
            <a:prstDash val="solid"/>
          </a:ln>
        </p:spPr>
      </p:sp>
      <p:sp>
        <p:nvSpPr>
          <p:cNvPr id="12" name="Text 10"/>
          <p:cNvSpPr/>
          <p:nvPr/>
        </p:nvSpPr>
        <p:spPr>
          <a:xfrm>
            <a:off x="8229600" y="1801368"/>
            <a:ext cx="3017520" cy="256032"/>
          </a:xfrm>
          <a:prstGeom prst="rect">
            <a:avLst/>
          </a:prstGeom>
          <a:noFill/>
          <a:ln/>
        </p:spPr>
        <p:txBody>
          <a:bodyPr wrap="square" lIns="0" tIns="0" rIns="0" bIns="0" rtlCol="0" anchor="ctr"/>
          <a:lstStyle/>
          <a:p>
            <a:pPr indent="0" marL="0">
              <a:buNone/>
            </a:pPr>
            <a:r>
              <a:rPr lang="en-US" sz="1150" b="1" dirty="0">
                <a:solidFill>
                  <a:srgbClr val="00915A"/>
                </a:solidFill>
                <a:latin typeface="Calibri" pitchFamily="34" charset="0"/>
                <a:ea typeface="Calibri" pitchFamily="34" charset="-122"/>
                <a:cs typeface="Calibri" pitchFamily="34" charset="-120"/>
              </a:rPr>
              <a:t>One step, no LTA chain</a:t>
            </a:r>
            <a:endParaRPr lang="en-US" sz="1150" dirty="0"/>
          </a:p>
        </p:txBody>
      </p:sp>
      <p:sp>
        <p:nvSpPr>
          <p:cNvPr id="13" name="Text 11"/>
          <p:cNvSpPr/>
          <p:nvPr/>
        </p:nvSpPr>
        <p:spPr>
          <a:xfrm>
            <a:off x="8229600" y="2066544"/>
            <a:ext cx="3017520" cy="384048"/>
          </a:xfrm>
          <a:prstGeom prst="rect">
            <a:avLst/>
          </a:prstGeom>
          <a:noFill/>
          <a:ln/>
        </p:spPr>
        <p:txBody>
          <a:bodyPr wrap="square" lIns="0" tIns="0" rIns="0" bIns="0" rtlCol="0" anchor="ctr"/>
          <a:lstStyle/>
          <a:p>
            <a:pPr indent="0" marL="0">
              <a:buNone/>
            </a:pPr>
            <a:r>
              <a:rPr lang="en-US" sz="1150" dirty="0">
                <a:solidFill>
                  <a:srgbClr val="5B7268"/>
                </a:solidFill>
                <a:latin typeface="Calibri" pitchFamily="34" charset="0"/>
                <a:ea typeface="Calibri" pitchFamily="34" charset="-122"/>
                <a:cs typeface="Calibri" pitchFamily="34" charset="-120"/>
              </a:rPr>
              <a:t>A direct upgrade. Days, not weeks.</a:t>
            </a:r>
            <a:endParaRPr lang="en-US" sz="1150" dirty="0"/>
          </a:p>
        </p:txBody>
      </p:sp>
      <p:sp>
        <p:nvSpPr>
          <p:cNvPr id="14" name="Shape 12"/>
          <p:cNvSpPr/>
          <p:nvPr/>
        </p:nvSpPr>
        <p:spPr>
          <a:xfrm>
            <a:off x="685800" y="2926080"/>
            <a:ext cx="5257800" cy="548640"/>
          </a:xfrm>
          <a:prstGeom prst="roundRect">
            <a:avLst>
              <a:gd name="adj" fmla="val 10000"/>
            </a:avLst>
          </a:prstGeom>
          <a:solidFill>
            <a:srgbClr val="00915A"/>
          </a:solidFill>
          <a:ln w="12700">
            <a:solidFill>
              <a:srgbClr val="00915A"/>
            </a:solidFill>
            <a:prstDash val="solid"/>
          </a:ln>
        </p:spPr>
      </p:sp>
      <p:sp>
        <p:nvSpPr>
          <p:cNvPr id="15" name="Shape 13"/>
          <p:cNvSpPr/>
          <p:nvPr/>
        </p:nvSpPr>
        <p:spPr>
          <a:xfrm>
            <a:off x="886968" y="3017520"/>
            <a:ext cx="365760" cy="365760"/>
          </a:xfrm>
          <a:prstGeom prst="ellipse">
            <a:avLst/>
          </a:prstGeom>
          <a:solidFill>
            <a:srgbClr val="FFFFFF"/>
          </a:solidFill>
          <a:ln/>
        </p:spPr>
      </p:sp>
      <p:sp>
        <p:nvSpPr>
          <p:cNvPr id="16" name="Text 14"/>
          <p:cNvSpPr/>
          <p:nvPr/>
        </p:nvSpPr>
        <p:spPr>
          <a:xfrm>
            <a:off x="886968" y="3017520"/>
            <a:ext cx="365760" cy="365760"/>
          </a:xfrm>
          <a:prstGeom prst="rect">
            <a:avLst/>
          </a:prstGeom>
          <a:noFill/>
          <a:ln/>
        </p:spPr>
        <p:txBody>
          <a:bodyPr wrap="square" lIns="0" tIns="0" rIns="0" bIns="0" rtlCol="0" anchor="ctr"/>
          <a:lstStyle/>
          <a:p>
            <a:pPr algn="ctr" indent="0" marL="0">
              <a:buNone/>
            </a:pPr>
            <a:r>
              <a:rPr lang="en-US" sz="1200" b="1" dirty="0">
                <a:solidFill>
                  <a:srgbClr val="00915A"/>
                </a:solidFill>
                <a:latin typeface="Calibri" pitchFamily="34" charset="0"/>
                <a:ea typeface="Calibri" pitchFamily="34" charset="-122"/>
                <a:cs typeface="Calibri" pitchFamily="34" charset="-120"/>
              </a:rPr>
              <a:t>1</a:t>
            </a:r>
            <a:endParaRPr lang="en-US" sz="1200" dirty="0"/>
          </a:p>
        </p:txBody>
      </p:sp>
      <p:sp>
        <p:nvSpPr>
          <p:cNvPr id="17" name="Text 15"/>
          <p:cNvSpPr/>
          <p:nvPr/>
        </p:nvSpPr>
        <p:spPr>
          <a:xfrm>
            <a:off x="1417320" y="2926080"/>
            <a:ext cx="429768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Patch 2026.1.1 to 2026.2.1</a:t>
            </a:r>
            <a:endParaRPr lang="en-US" sz="1450" dirty="0"/>
          </a:p>
        </p:txBody>
      </p:sp>
      <p:sp>
        <p:nvSpPr>
          <p:cNvPr id="18" name="Shape 16"/>
          <p:cNvSpPr/>
          <p:nvPr/>
        </p:nvSpPr>
        <p:spPr>
          <a:xfrm>
            <a:off x="685800" y="3547872"/>
            <a:ext cx="5257800" cy="1874520"/>
          </a:xfrm>
          <a:prstGeom prst="roundRect">
            <a:avLst>
              <a:gd name="adj" fmla="val 3902"/>
            </a:avLst>
          </a:prstGeom>
          <a:solidFill>
            <a:srgbClr val="EAF4EF"/>
          </a:solidFill>
          <a:ln w="12700">
            <a:solidFill>
              <a:srgbClr val="EAF4EF"/>
            </a:solidFill>
            <a:prstDash val="solid"/>
          </a:ln>
          <a:effectLst>
            <a:outerShdw sx="100000" sy="100000" kx="0" ky="0" algn="bl" rotWithShape="0" blurRad="76200" dist="508" dir="5400000">
              <a:srgbClr val="A9C2B5">
                <a:alpha val="25000"/>
              </a:srgbClr>
            </a:outerShdw>
          </a:effectLst>
        </p:spPr>
      </p:sp>
      <p:sp>
        <p:nvSpPr>
          <p:cNvPr id="19" name="Text 17"/>
          <p:cNvSpPr/>
          <p:nvPr/>
        </p:nvSpPr>
        <p:spPr>
          <a:xfrm>
            <a:off x="1005840" y="3703320"/>
            <a:ext cx="4663440" cy="160020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16302A"/>
                </a:solidFill>
                <a:latin typeface="Calibri" pitchFamily="34" charset="0"/>
                <a:ea typeface="Calibri" pitchFamily="34" charset="-122"/>
                <a:cs typeface="Calibri" pitchFamily="34" charset="-120"/>
              </a:rPr>
              <a:t>One direct upgrade — no intermediate version to pass through.</a:t>
            </a:r>
            <a:endParaRPr lang="en-US" sz="1250" dirty="0"/>
          </a:p>
          <a:p>
            <a:pPr marL="342900" indent="-342900">
              <a:spcAft>
                <a:spcPts val="900"/>
              </a:spcAft>
              <a:buSzPct val="100000"/>
              <a:buChar char="•"/>
            </a:pPr>
            <a:r>
              <a:rPr lang="en-US" sz="1250" dirty="0">
                <a:solidFill>
                  <a:srgbClr val="16302A"/>
                </a:solidFill>
                <a:latin typeface="Calibri" pitchFamily="34" charset="0"/>
                <a:ea typeface="Calibri" pitchFamily="34" charset="-122"/>
                <a:cs typeface="Calibri" pitchFamily="34" charset="-120"/>
              </a:rPr>
              <a:t>The patch level matters: 2026.2.1 exactly, not 2026.2.0.</a:t>
            </a:r>
            <a:endParaRPr lang="en-US" sz="1250" dirty="0"/>
          </a:p>
          <a:p>
            <a:pPr marL="342900" indent="-342900">
              <a:spcAft>
                <a:spcPts val="900"/>
              </a:spcAft>
              <a:buSzPct val="100000"/>
              <a:buChar char="•"/>
            </a:pPr>
            <a:r>
              <a:rPr lang="en-US" sz="1250" dirty="0">
                <a:solidFill>
                  <a:srgbClr val="16302A"/>
                </a:solidFill>
                <a:latin typeface="Calibri" pitchFamily="34" charset="0"/>
                <a:ea typeface="Calibri" pitchFamily="34" charset="-122"/>
                <a:cs typeface="Calibri" pitchFamily="34" charset="-120"/>
              </a:rPr>
              <a:t>If you would rather not touch production, upgrade a copy of the database on a temporary server.</a:t>
            </a:r>
            <a:endParaRPr lang="en-US" sz="1250" dirty="0"/>
          </a:p>
        </p:txBody>
      </p:sp>
      <p:sp>
        <p:nvSpPr>
          <p:cNvPr id="20" name="Shape 18"/>
          <p:cNvSpPr/>
          <p:nvPr/>
        </p:nvSpPr>
        <p:spPr>
          <a:xfrm>
            <a:off x="6355080" y="2926080"/>
            <a:ext cx="5257800" cy="548640"/>
          </a:xfrm>
          <a:prstGeom prst="roundRect">
            <a:avLst>
              <a:gd name="adj" fmla="val 10000"/>
            </a:avLst>
          </a:prstGeom>
          <a:solidFill>
            <a:srgbClr val="00694F"/>
          </a:solidFill>
          <a:ln w="12700">
            <a:solidFill>
              <a:srgbClr val="00694F"/>
            </a:solidFill>
            <a:prstDash val="solid"/>
          </a:ln>
        </p:spPr>
      </p:sp>
      <p:sp>
        <p:nvSpPr>
          <p:cNvPr id="21" name="Shape 19"/>
          <p:cNvSpPr/>
          <p:nvPr/>
        </p:nvSpPr>
        <p:spPr>
          <a:xfrm>
            <a:off x="6556248" y="3017520"/>
            <a:ext cx="365760" cy="365760"/>
          </a:xfrm>
          <a:prstGeom prst="ellipse">
            <a:avLst/>
          </a:prstGeom>
          <a:solidFill>
            <a:srgbClr val="FFFFFF"/>
          </a:solidFill>
          <a:ln/>
        </p:spPr>
      </p:sp>
      <p:sp>
        <p:nvSpPr>
          <p:cNvPr id="22" name="Text 20"/>
          <p:cNvSpPr/>
          <p:nvPr/>
        </p:nvSpPr>
        <p:spPr>
          <a:xfrm>
            <a:off x="6556248" y="3017520"/>
            <a:ext cx="365760" cy="365760"/>
          </a:xfrm>
          <a:prstGeom prst="rect">
            <a:avLst/>
          </a:prstGeom>
          <a:noFill/>
          <a:ln/>
        </p:spPr>
        <p:txBody>
          <a:bodyPr wrap="square" lIns="0" tIns="0" rIns="0" bIns="0" rtlCol="0" anchor="ctr"/>
          <a:lstStyle/>
          <a:p>
            <a:pPr algn="ctr" indent="0" marL="0">
              <a:buNone/>
            </a:pPr>
            <a:r>
              <a:rPr lang="en-US" sz="1200" b="1" dirty="0">
                <a:solidFill>
                  <a:srgbClr val="00694F"/>
                </a:solidFill>
                <a:latin typeface="Calibri" pitchFamily="34" charset="0"/>
                <a:ea typeface="Calibri" pitchFamily="34" charset="-122"/>
                <a:cs typeface="Calibri" pitchFamily="34" charset="-120"/>
              </a:rPr>
              <a:t>2</a:t>
            </a:r>
            <a:endParaRPr lang="en-US" sz="1200" dirty="0"/>
          </a:p>
        </p:txBody>
      </p:sp>
      <p:sp>
        <p:nvSpPr>
          <p:cNvPr id="23" name="Text 21"/>
          <p:cNvSpPr/>
          <p:nvPr/>
        </p:nvSpPr>
        <p:spPr>
          <a:xfrm>
            <a:off x="7086600" y="2926080"/>
            <a:ext cx="429768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Install the missing plugins</a:t>
            </a:r>
            <a:endParaRPr lang="en-US" sz="1450" dirty="0"/>
          </a:p>
        </p:txBody>
      </p:sp>
      <p:sp>
        <p:nvSpPr>
          <p:cNvPr id="24" name="Shape 22"/>
          <p:cNvSpPr/>
          <p:nvPr/>
        </p:nvSpPr>
        <p:spPr>
          <a:xfrm>
            <a:off x="6355080" y="3547872"/>
            <a:ext cx="5257800" cy="1874520"/>
          </a:xfrm>
          <a:prstGeom prst="roundRect">
            <a:avLst>
              <a:gd name="adj" fmla="val 3902"/>
            </a:avLst>
          </a:prstGeom>
          <a:solidFill>
            <a:srgbClr val="F3F8F5"/>
          </a:solidFill>
          <a:ln w="12700">
            <a:solidFill>
              <a:srgbClr val="F3F8F5"/>
            </a:solidFill>
            <a:prstDash val="solid"/>
          </a:ln>
          <a:effectLst>
            <a:outerShdw sx="100000" sy="100000" kx="0" ky="0" algn="bl" rotWithShape="0" blurRad="76200" dist="508" dir="5400000">
              <a:srgbClr val="A9C2B5">
                <a:alpha val="25000"/>
              </a:srgbClr>
            </a:outerShdw>
          </a:effectLst>
        </p:spPr>
      </p:sp>
      <p:sp>
        <p:nvSpPr>
          <p:cNvPr id="25" name="Text 23"/>
          <p:cNvSpPr/>
          <p:nvPr/>
        </p:nvSpPr>
        <p:spPr>
          <a:xfrm>
            <a:off x="6675120" y="3703320"/>
            <a:ext cx="4663440" cy="160020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16302A"/>
                </a:solidFill>
                <a:latin typeface="Calibri" pitchFamily="34" charset="0"/>
                <a:ea typeface="Calibri" pitchFamily="34" charset="-122"/>
                <a:cs typeface="Calibri" pitchFamily="34" charset="-120"/>
              </a:rPr>
              <a:t>We send you the delta this week: what we have that you do not.</a:t>
            </a:r>
            <a:endParaRPr lang="en-US" sz="1250" dirty="0"/>
          </a:p>
          <a:p>
            <a:pPr marL="342900" indent="-342900">
              <a:spcAft>
                <a:spcPts val="900"/>
              </a:spcAft>
              <a:buSzPct val="100000"/>
              <a:buChar char="•"/>
            </a:pPr>
            <a:r>
              <a:rPr lang="en-US" sz="1250" dirty="0">
                <a:solidFill>
                  <a:srgbClr val="16302A"/>
                </a:solidFill>
                <a:latin typeface="Calibri" pitchFamily="34" charset="0"/>
                <a:ea typeface="Calibri" pitchFamily="34" charset="-122"/>
                <a:cs typeface="Calibri" pitchFamily="34" charset="-120"/>
              </a:rPr>
              <a:t>Same plugin, same version — Project Move compares them exactly.</a:t>
            </a:r>
            <a:endParaRPr lang="en-US" sz="1250" dirty="0"/>
          </a:p>
          <a:p>
            <a:pPr marL="342900" indent="-342900">
              <a:spcAft>
                <a:spcPts val="900"/>
              </a:spcAft>
              <a:buSzPct val="100000"/>
              <a:buChar char="•"/>
            </a:pPr>
            <a:r>
              <a:rPr lang="en-US" sz="1250" dirty="0">
                <a:solidFill>
                  <a:srgbClr val="16302A"/>
                </a:solidFill>
                <a:latin typeface="Calibri" pitchFamily="34" charset="0"/>
                <a:ea typeface="Calibri" pitchFamily="34" charset="-122"/>
                <a:cs typeface="Calibri" pitchFamily="34" charset="-120"/>
              </a:rPr>
              <a:t>And tell us if you use something we do not have. That one we sort out together.</a:t>
            </a:r>
            <a:endParaRPr lang="en-US" sz="1250" dirty="0"/>
          </a:p>
        </p:txBody>
      </p:sp>
      <p:sp>
        <p:nvSpPr>
          <p:cNvPr id="26" name="Shape 24"/>
          <p:cNvSpPr/>
          <p:nvPr/>
        </p:nvSpPr>
        <p:spPr>
          <a:xfrm>
            <a:off x="685800" y="5577840"/>
            <a:ext cx="10789920" cy="777240"/>
          </a:xfrm>
          <a:prstGeom prst="roundRect">
            <a:avLst>
              <a:gd name="adj" fmla="val 9412"/>
            </a:avLst>
          </a:prstGeom>
          <a:solidFill>
            <a:srgbClr val="E7F4EC"/>
          </a:solidFill>
          <a:ln w="12700">
            <a:solidFill>
              <a:srgbClr val="E7F4EC"/>
            </a:solidFill>
            <a:prstDash val="solid"/>
          </a:ln>
          <a:effectLst>
            <a:outerShdw sx="100000" sy="100000" kx="0" ky="0" algn="bl" rotWithShape="0" blurRad="76200" dist="508" dir="5400000">
              <a:srgbClr val="A9C2B5">
                <a:alpha val="25000"/>
              </a:srgbClr>
            </a:outerShdw>
          </a:effectLst>
        </p:spPr>
      </p:sp>
      <p:sp>
        <p:nvSpPr>
          <p:cNvPr id="27" name="Text 25"/>
          <p:cNvSpPr/>
          <p:nvPr/>
        </p:nvSpPr>
        <p:spPr>
          <a:xfrm>
            <a:off x="960120" y="5577840"/>
            <a:ext cx="10241280" cy="777240"/>
          </a:xfrm>
          <a:prstGeom prst="rect">
            <a:avLst/>
          </a:prstGeom>
          <a:noFill/>
          <a:ln/>
        </p:spPr>
        <p:txBody>
          <a:bodyPr wrap="square" lIns="0" tIns="0" rIns="0" bIns="0" rtlCol="0" anchor="ctr"/>
          <a:lstStyle/>
          <a:p>
            <a:pPr indent="0" marL="0">
              <a:buNone/>
            </a:pPr>
            <a:r>
              <a:rPr lang="en-US" sz="1300" b="1" dirty="0">
                <a:solidFill>
                  <a:srgbClr val="00915A"/>
                </a:solidFill>
                <a:latin typeface="Calibri" pitchFamily="34" charset="0"/>
                <a:ea typeface="Calibri" pitchFamily="34" charset="-122"/>
                <a:cs typeface="Calibri" pitchFamily="34" charset="-120"/>
              </a:rPr>
              <a:t>This week we send you the plugin delta with versions. Once you are on 2026.2.1 with those plugins, we can start the POC.</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789920" cy="640080"/>
          </a:xfrm>
          <a:prstGeom prst="rect">
            <a:avLst/>
          </a:prstGeom>
          <a:noFill/>
          <a:ln/>
        </p:spPr>
        <p:txBody>
          <a:bodyPr wrap="square" lIns="0" tIns="0" rIns="0" bIns="0" rtlCol="0" anchor="ctr"/>
          <a:lstStyle/>
          <a:p>
            <a:pPr indent="0" marL="0">
              <a:buNone/>
            </a:pPr>
            <a:r>
              <a:rPr lang="en-US" sz="3100" b="1" dirty="0">
                <a:solidFill>
                  <a:srgbClr val="00382B"/>
                </a:solidFill>
                <a:latin typeface="Cambria" pitchFamily="34" charset="0"/>
                <a:ea typeface="Cambria" pitchFamily="34" charset="-122"/>
                <a:cs typeface="Cambria" pitchFamily="34" charset="-120"/>
              </a:rPr>
              <a:t>The migration procedure</a:t>
            </a:r>
            <a:endParaRPr lang="en-US" sz="3100" dirty="0"/>
          </a:p>
        </p:txBody>
      </p:sp>
      <p:sp>
        <p:nvSpPr>
          <p:cNvPr id="3" name="Text 1"/>
          <p:cNvSpPr/>
          <p:nvPr/>
        </p:nvSpPr>
        <p:spPr>
          <a:xfrm>
            <a:off x="685800" y="1060704"/>
            <a:ext cx="10789920" cy="365760"/>
          </a:xfrm>
          <a:prstGeom prst="rect">
            <a:avLst/>
          </a:prstGeom>
          <a:noFill/>
          <a:ln/>
        </p:spPr>
        <p:txBody>
          <a:bodyPr wrap="square" lIns="0" tIns="0" rIns="0" bIns="0" rtlCol="0" anchor="ctr"/>
          <a:lstStyle/>
          <a:p>
            <a:pPr indent="0" marL="0">
              <a:buNone/>
            </a:pPr>
            <a:r>
              <a:rPr lang="en-US" sz="1400" i="1" dirty="0">
                <a:solidFill>
                  <a:srgbClr val="5B7268"/>
                </a:solidFill>
                <a:latin typeface="Calibri" pitchFamily="34" charset="0"/>
                <a:ea typeface="Calibri" pitchFamily="34" charset="-122"/>
                <a:cs typeface="Calibri" pitchFamily="34" charset="-120"/>
              </a:rPr>
              <a:t>Your DevOps team drives it on your side. The portal creates the key, so the order matters.</a:t>
            </a:r>
            <a:endParaRPr lang="en-US" sz="1400" dirty="0"/>
          </a:p>
        </p:txBody>
      </p:sp>
      <p:sp>
        <p:nvSpPr>
          <p:cNvPr id="4" name="Shape 2"/>
          <p:cNvSpPr/>
          <p:nvPr/>
        </p:nvSpPr>
        <p:spPr>
          <a:xfrm>
            <a:off x="685800" y="1737360"/>
            <a:ext cx="1604772" cy="2331720"/>
          </a:xfrm>
          <a:prstGeom prst="roundRect">
            <a:avLst>
              <a:gd name="adj" fmla="val 3989"/>
            </a:avLst>
          </a:prstGeom>
          <a:solidFill>
            <a:srgbClr val="EAF4EF"/>
          </a:solidFill>
          <a:ln w="12700">
            <a:solidFill>
              <a:srgbClr val="EAF4EF"/>
            </a:solidFill>
            <a:prstDash val="solid"/>
          </a:ln>
        </p:spPr>
      </p:sp>
      <p:sp>
        <p:nvSpPr>
          <p:cNvPr id="5" name="Shape 3"/>
          <p:cNvSpPr/>
          <p:nvPr/>
        </p:nvSpPr>
        <p:spPr>
          <a:xfrm>
            <a:off x="886968" y="1965960"/>
            <a:ext cx="420624" cy="420624"/>
          </a:xfrm>
          <a:prstGeom prst="ellipse">
            <a:avLst/>
          </a:prstGeom>
          <a:solidFill>
            <a:srgbClr val="00915A"/>
          </a:solidFill>
          <a:ln/>
        </p:spPr>
      </p:sp>
      <p:sp>
        <p:nvSpPr>
          <p:cNvPr id="6" name="Text 4"/>
          <p:cNvSpPr/>
          <p:nvPr/>
        </p:nvSpPr>
        <p:spPr>
          <a:xfrm>
            <a:off x="886968" y="19659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886968" y="2487168"/>
            <a:ext cx="1325880" cy="274320"/>
          </a:xfrm>
          <a:prstGeom prst="rect">
            <a:avLst/>
          </a:prstGeom>
          <a:noFill/>
          <a:ln/>
        </p:spPr>
        <p:txBody>
          <a:bodyPr wrap="square" lIns="0" tIns="0" rIns="0" bIns="0" rtlCol="0" anchor="ctr"/>
          <a:lstStyle/>
          <a:p>
            <a:pPr indent="0" marL="0">
              <a:buNone/>
            </a:pPr>
            <a:r>
              <a:rPr lang="en-US" sz="1300" b="1" dirty="0">
                <a:solidFill>
                  <a:srgbClr val="00382B"/>
                </a:solidFill>
                <a:latin typeface="Cambria" pitchFamily="34" charset="0"/>
                <a:ea typeface="Cambria" pitchFamily="34" charset="-122"/>
                <a:cs typeface="Cambria" pitchFamily="34" charset="-120"/>
              </a:rPr>
              <a:t>Project team</a:t>
            </a:r>
            <a:endParaRPr lang="en-US" sz="1300" dirty="0"/>
          </a:p>
        </p:txBody>
      </p:sp>
      <p:sp>
        <p:nvSpPr>
          <p:cNvPr id="8" name="Text 6"/>
          <p:cNvSpPr/>
          <p:nvPr/>
        </p:nvSpPr>
        <p:spPr>
          <a:xfrm>
            <a:off x="886968" y="2816352"/>
            <a:ext cx="1234440" cy="1097280"/>
          </a:xfrm>
          <a:prstGeom prst="rect">
            <a:avLst/>
          </a:prstGeom>
          <a:noFill/>
          <a:ln/>
        </p:spPr>
        <p:txBody>
          <a:bodyPr wrap="square" lIns="0" tIns="0" rIns="0" bIns="0" rtlCol="0" anchor="ctr"/>
          <a:lstStyle/>
          <a:p>
            <a:pPr indent="0" marL="0">
              <a:buNone/>
            </a:pPr>
            <a:r>
              <a:rPr lang="en-US" sz="1050" dirty="0">
                <a:solidFill>
                  <a:srgbClr val="16302A"/>
                </a:solidFill>
                <a:latin typeface="Calibri" pitchFamily="34" charset="0"/>
                <a:ea typeface="Calibri" pitchFamily="34" charset="-122"/>
                <a:cs typeface="Calibri" pitchFamily="34" charset="-120"/>
              </a:rPr>
              <a:t>Create the project in the portal, as usual. A key is generated.</a:t>
            </a:r>
            <a:endParaRPr lang="en-US" sz="1050" dirty="0"/>
          </a:p>
        </p:txBody>
      </p:sp>
      <p:sp>
        <p:nvSpPr>
          <p:cNvPr id="9" name="Shape 7"/>
          <p:cNvSpPr/>
          <p:nvPr/>
        </p:nvSpPr>
        <p:spPr>
          <a:xfrm>
            <a:off x="2336292" y="2743200"/>
            <a:ext cx="155448" cy="173736"/>
          </a:xfrm>
          <a:prstGeom prst="rightArrow">
            <a:avLst/>
          </a:prstGeom>
          <a:solidFill>
            <a:srgbClr val="5B7268"/>
          </a:solidFill>
          <a:ln w="12700">
            <a:solidFill>
              <a:srgbClr val="5B7268"/>
            </a:solidFill>
            <a:prstDash val="solid"/>
          </a:ln>
        </p:spPr>
      </p:sp>
      <p:sp>
        <p:nvSpPr>
          <p:cNvPr id="10" name="Shape 8"/>
          <p:cNvSpPr/>
          <p:nvPr/>
        </p:nvSpPr>
        <p:spPr>
          <a:xfrm>
            <a:off x="2546604" y="1737360"/>
            <a:ext cx="1604772" cy="2331720"/>
          </a:xfrm>
          <a:prstGeom prst="roundRect">
            <a:avLst>
              <a:gd name="adj" fmla="val 3989"/>
            </a:avLst>
          </a:prstGeom>
          <a:solidFill>
            <a:srgbClr val="EAF4EF"/>
          </a:solidFill>
          <a:ln w="12700">
            <a:solidFill>
              <a:srgbClr val="EAF4EF"/>
            </a:solidFill>
            <a:prstDash val="solid"/>
          </a:ln>
        </p:spPr>
      </p:sp>
      <p:sp>
        <p:nvSpPr>
          <p:cNvPr id="11" name="Shape 9"/>
          <p:cNvSpPr/>
          <p:nvPr/>
        </p:nvSpPr>
        <p:spPr>
          <a:xfrm>
            <a:off x="2747772" y="1965960"/>
            <a:ext cx="420624" cy="420624"/>
          </a:xfrm>
          <a:prstGeom prst="ellipse">
            <a:avLst/>
          </a:prstGeom>
          <a:solidFill>
            <a:srgbClr val="00915A"/>
          </a:solidFill>
          <a:ln/>
        </p:spPr>
      </p:sp>
      <p:sp>
        <p:nvSpPr>
          <p:cNvPr id="12" name="Text 10"/>
          <p:cNvSpPr/>
          <p:nvPr/>
        </p:nvSpPr>
        <p:spPr>
          <a:xfrm>
            <a:off x="2747772" y="19659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2747772" y="2487168"/>
            <a:ext cx="1325880" cy="274320"/>
          </a:xfrm>
          <a:prstGeom prst="rect">
            <a:avLst/>
          </a:prstGeom>
          <a:noFill/>
          <a:ln/>
        </p:spPr>
        <p:txBody>
          <a:bodyPr wrap="square" lIns="0" tIns="0" rIns="0" bIns="0" rtlCol="0" anchor="ctr"/>
          <a:lstStyle/>
          <a:p>
            <a:pPr indent="0" marL="0">
              <a:buNone/>
            </a:pPr>
            <a:r>
              <a:rPr lang="en-US" sz="1300" b="1" dirty="0">
                <a:solidFill>
                  <a:srgbClr val="00382B"/>
                </a:solidFill>
                <a:latin typeface="Cambria" pitchFamily="34" charset="0"/>
                <a:ea typeface="Cambria" pitchFamily="34" charset="-122"/>
                <a:cs typeface="Cambria" pitchFamily="34" charset="-120"/>
              </a:rPr>
              <a:t>Your DevOps</a:t>
            </a:r>
            <a:endParaRPr lang="en-US" sz="1300" dirty="0"/>
          </a:p>
        </p:txBody>
      </p:sp>
      <p:sp>
        <p:nvSpPr>
          <p:cNvPr id="14" name="Text 12"/>
          <p:cNvSpPr/>
          <p:nvPr/>
        </p:nvSpPr>
        <p:spPr>
          <a:xfrm>
            <a:off x="2747772" y="2816352"/>
            <a:ext cx="1234440" cy="1097280"/>
          </a:xfrm>
          <a:prstGeom prst="rect">
            <a:avLst/>
          </a:prstGeom>
          <a:noFill/>
          <a:ln/>
        </p:spPr>
        <p:txBody>
          <a:bodyPr wrap="square" lIns="0" tIns="0" rIns="0" bIns="0" rtlCol="0" anchor="ctr"/>
          <a:lstStyle/>
          <a:p>
            <a:pPr indent="0" marL="0">
              <a:buNone/>
            </a:pPr>
            <a:r>
              <a:rPr lang="en-US" sz="1050" dirty="0">
                <a:solidFill>
                  <a:srgbClr val="16302A"/>
                </a:solidFill>
                <a:latin typeface="Calibri" pitchFamily="34" charset="0"/>
                <a:ea typeface="Calibri" pitchFamily="34" charset="-122"/>
                <a:cs typeface="Calibri" pitchFamily="34" charset="-120"/>
              </a:rPr>
              <a:t>Export the project from your instance, with your key.</a:t>
            </a:r>
            <a:endParaRPr lang="en-US" sz="1050" dirty="0"/>
          </a:p>
        </p:txBody>
      </p:sp>
      <p:sp>
        <p:nvSpPr>
          <p:cNvPr id="15" name="Shape 13"/>
          <p:cNvSpPr/>
          <p:nvPr/>
        </p:nvSpPr>
        <p:spPr>
          <a:xfrm>
            <a:off x="4197096" y="2743200"/>
            <a:ext cx="155448" cy="173736"/>
          </a:xfrm>
          <a:prstGeom prst="rightArrow">
            <a:avLst/>
          </a:prstGeom>
          <a:solidFill>
            <a:srgbClr val="5B7268"/>
          </a:solidFill>
          <a:ln w="12700">
            <a:solidFill>
              <a:srgbClr val="5B7268"/>
            </a:solidFill>
            <a:prstDash val="solid"/>
          </a:ln>
        </p:spPr>
      </p:sp>
      <p:sp>
        <p:nvSpPr>
          <p:cNvPr id="16" name="Shape 14"/>
          <p:cNvSpPr/>
          <p:nvPr/>
        </p:nvSpPr>
        <p:spPr>
          <a:xfrm>
            <a:off x="4407408" y="1737360"/>
            <a:ext cx="1604772" cy="2331720"/>
          </a:xfrm>
          <a:prstGeom prst="roundRect">
            <a:avLst>
              <a:gd name="adj" fmla="val 3989"/>
            </a:avLst>
          </a:prstGeom>
          <a:solidFill>
            <a:srgbClr val="EAF4EF"/>
          </a:solidFill>
          <a:ln w="12700">
            <a:solidFill>
              <a:srgbClr val="EAF4EF"/>
            </a:solidFill>
            <a:prstDash val="solid"/>
          </a:ln>
        </p:spPr>
      </p:sp>
      <p:sp>
        <p:nvSpPr>
          <p:cNvPr id="17" name="Shape 15"/>
          <p:cNvSpPr/>
          <p:nvPr/>
        </p:nvSpPr>
        <p:spPr>
          <a:xfrm>
            <a:off x="4608576" y="1965960"/>
            <a:ext cx="420624" cy="420624"/>
          </a:xfrm>
          <a:prstGeom prst="ellipse">
            <a:avLst/>
          </a:prstGeom>
          <a:solidFill>
            <a:srgbClr val="00915A"/>
          </a:solidFill>
          <a:ln/>
        </p:spPr>
      </p:sp>
      <p:sp>
        <p:nvSpPr>
          <p:cNvPr id="18" name="Text 16"/>
          <p:cNvSpPr/>
          <p:nvPr/>
        </p:nvSpPr>
        <p:spPr>
          <a:xfrm>
            <a:off x="4608576" y="19659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4608576" y="2487168"/>
            <a:ext cx="1325880" cy="274320"/>
          </a:xfrm>
          <a:prstGeom prst="rect">
            <a:avLst/>
          </a:prstGeom>
          <a:noFill/>
          <a:ln/>
        </p:spPr>
        <p:txBody>
          <a:bodyPr wrap="square" lIns="0" tIns="0" rIns="0" bIns="0" rtlCol="0" anchor="ctr"/>
          <a:lstStyle/>
          <a:p>
            <a:pPr indent="0" marL="0">
              <a:buNone/>
            </a:pPr>
            <a:r>
              <a:rPr lang="en-US" sz="1300" b="1" dirty="0">
                <a:solidFill>
                  <a:srgbClr val="00382B"/>
                </a:solidFill>
                <a:latin typeface="Cambria" pitchFamily="34" charset="0"/>
                <a:ea typeface="Cambria" pitchFamily="34" charset="-122"/>
                <a:cs typeface="Cambria" pitchFamily="34" charset="-120"/>
              </a:rPr>
              <a:t>Your DevOps</a:t>
            </a:r>
            <a:endParaRPr lang="en-US" sz="1300" dirty="0"/>
          </a:p>
        </p:txBody>
      </p:sp>
      <p:sp>
        <p:nvSpPr>
          <p:cNvPr id="20" name="Text 18"/>
          <p:cNvSpPr/>
          <p:nvPr/>
        </p:nvSpPr>
        <p:spPr>
          <a:xfrm>
            <a:off x="4608576" y="2816352"/>
            <a:ext cx="1234440" cy="1097280"/>
          </a:xfrm>
          <a:prstGeom prst="rect">
            <a:avLst/>
          </a:prstGeom>
          <a:noFill/>
          <a:ln/>
        </p:spPr>
        <p:txBody>
          <a:bodyPr wrap="square" lIns="0" tIns="0" rIns="0" bIns="0" rtlCol="0" anchor="ctr"/>
          <a:lstStyle/>
          <a:p>
            <a:pPr indent="0" marL="0">
              <a:buNone/>
            </a:pPr>
            <a:r>
              <a:rPr lang="en-US" sz="1050" dirty="0">
                <a:solidFill>
                  <a:srgbClr val="16302A"/>
                </a:solidFill>
                <a:latin typeface="Calibri" pitchFamily="34" charset="0"/>
                <a:ea typeface="Calibri" pitchFamily="34" charset="-122"/>
                <a:cs typeface="Calibri" pitchFamily="34" charset="-120"/>
              </a:rPr>
              <a:t>Send us the archive through the agreed channel.</a:t>
            </a:r>
            <a:endParaRPr lang="en-US" sz="1050" dirty="0"/>
          </a:p>
        </p:txBody>
      </p:sp>
      <p:sp>
        <p:nvSpPr>
          <p:cNvPr id="21" name="Shape 19"/>
          <p:cNvSpPr/>
          <p:nvPr/>
        </p:nvSpPr>
        <p:spPr>
          <a:xfrm>
            <a:off x="6057900" y="2743200"/>
            <a:ext cx="155448" cy="173736"/>
          </a:xfrm>
          <a:prstGeom prst="rightArrow">
            <a:avLst/>
          </a:prstGeom>
          <a:solidFill>
            <a:srgbClr val="5B7268"/>
          </a:solidFill>
          <a:ln w="12700">
            <a:solidFill>
              <a:srgbClr val="5B7268"/>
            </a:solidFill>
            <a:prstDash val="solid"/>
          </a:ln>
        </p:spPr>
      </p:sp>
      <p:sp>
        <p:nvSpPr>
          <p:cNvPr id="22" name="Shape 20"/>
          <p:cNvSpPr/>
          <p:nvPr/>
        </p:nvSpPr>
        <p:spPr>
          <a:xfrm>
            <a:off x="6268212" y="1737360"/>
            <a:ext cx="1604772" cy="2331720"/>
          </a:xfrm>
          <a:prstGeom prst="roundRect">
            <a:avLst>
              <a:gd name="adj" fmla="val 3989"/>
            </a:avLst>
          </a:prstGeom>
          <a:solidFill>
            <a:srgbClr val="00382B"/>
          </a:solidFill>
          <a:ln w="12700">
            <a:solidFill>
              <a:srgbClr val="00382B"/>
            </a:solidFill>
            <a:prstDash val="solid"/>
          </a:ln>
        </p:spPr>
      </p:sp>
      <p:sp>
        <p:nvSpPr>
          <p:cNvPr id="23" name="Shape 21"/>
          <p:cNvSpPr/>
          <p:nvPr/>
        </p:nvSpPr>
        <p:spPr>
          <a:xfrm>
            <a:off x="6469380" y="1965960"/>
            <a:ext cx="420624" cy="420624"/>
          </a:xfrm>
          <a:prstGeom prst="ellipse">
            <a:avLst/>
          </a:prstGeom>
          <a:solidFill>
            <a:srgbClr val="5FD3A0"/>
          </a:solidFill>
          <a:ln/>
        </p:spPr>
      </p:sp>
      <p:sp>
        <p:nvSpPr>
          <p:cNvPr id="24" name="Text 22"/>
          <p:cNvSpPr/>
          <p:nvPr/>
        </p:nvSpPr>
        <p:spPr>
          <a:xfrm>
            <a:off x="6469380" y="1965960"/>
            <a:ext cx="420624" cy="420624"/>
          </a:xfrm>
          <a:prstGeom prst="rect">
            <a:avLst/>
          </a:prstGeom>
          <a:noFill/>
          <a:ln/>
        </p:spPr>
        <p:txBody>
          <a:bodyPr wrap="square" lIns="0" tIns="0" rIns="0" bIns="0" rtlCol="0" anchor="ctr"/>
          <a:lstStyle/>
          <a:p>
            <a:pPr algn="ctr" indent="0" marL="0">
              <a:buNone/>
            </a:pPr>
            <a:r>
              <a:rPr lang="en-US" sz="1300" b="1" dirty="0">
                <a:solidFill>
                  <a:srgbClr val="00382B"/>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6469380" y="2487168"/>
            <a:ext cx="132588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Us</a:t>
            </a:r>
            <a:endParaRPr lang="en-US" sz="1300" dirty="0"/>
          </a:p>
        </p:txBody>
      </p:sp>
      <p:sp>
        <p:nvSpPr>
          <p:cNvPr id="26" name="Text 24"/>
          <p:cNvSpPr/>
          <p:nvPr/>
        </p:nvSpPr>
        <p:spPr>
          <a:xfrm>
            <a:off x="6469380" y="2816352"/>
            <a:ext cx="1234440" cy="1097280"/>
          </a:xfrm>
          <a:prstGeom prst="rect">
            <a:avLst/>
          </a:prstGeom>
          <a:noFill/>
          <a:ln/>
        </p:spPr>
        <p:txBody>
          <a:bodyPr wrap="square" lIns="0" tIns="0" rIns="0" bIns="0" rtlCol="0" anchor="ctr"/>
          <a:lstStyle/>
          <a:p>
            <a:pPr indent="0" marL="0">
              <a:buNone/>
            </a:pPr>
            <a:r>
              <a:rPr lang="en-US" sz="1050" dirty="0">
                <a:solidFill>
                  <a:srgbClr val="BFDDCE"/>
                </a:solidFill>
                <a:latin typeface="Calibri" pitchFamily="34" charset="0"/>
                <a:ea typeface="Calibri" pitchFamily="34" charset="-122"/>
                <a:cs typeface="Calibri" pitchFamily="34" charset="-120"/>
              </a:rPr>
              <a:t>Import the archive. It keeps your original key.</a:t>
            </a:r>
            <a:endParaRPr lang="en-US" sz="1050" dirty="0"/>
          </a:p>
        </p:txBody>
      </p:sp>
      <p:sp>
        <p:nvSpPr>
          <p:cNvPr id="27" name="Shape 25"/>
          <p:cNvSpPr/>
          <p:nvPr/>
        </p:nvSpPr>
        <p:spPr>
          <a:xfrm>
            <a:off x="7918704" y="2743200"/>
            <a:ext cx="155448" cy="173736"/>
          </a:xfrm>
          <a:prstGeom prst="rightArrow">
            <a:avLst/>
          </a:prstGeom>
          <a:solidFill>
            <a:srgbClr val="5B7268"/>
          </a:solidFill>
          <a:ln w="12700">
            <a:solidFill>
              <a:srgbClr val="5B7268"/>
            </a:solidFill>
            <a:prstDash val="solid"/>
          </a:ln>
        </p:spPr>
      </p:sp>
      <p:sp>
        <p:nvSpPr>
          <p:cNvPr id="28" name="Shape 26"/>
          <p:cNvSpPr/>
          <p:nvPr/>
        </p:nvSpPr>
        <p:spPr>
          <a:xfrm>
            <a:off x="8129016" y="1737360"/>
            <a:ext cx="1604772" cy="2331720"/>
          </a:xfrm>
          <a:prstGeom prst="roundRect">
            <a:avLst>
              <a:gd name="adj" fmla="val 3989"/>
            </a:avLst>
          </a:prstGeom>
          <a:solidFill>
            <a:srgbClr val="00382B"/>
          </a:solidFill>
          <a:ln w="12700">
            <a:solidFill>
              <a:srgbClr val="00382B"/>
            </a:solidFill>
            <a:prstDash val="solid"/>
          </a:ln>
        </p:spPr>
      </p:sp>
      <p:sp>
        <p:nvSpPr>
          <p:cNvPr id="29" name="Shape 27"/>
          <p:cNvSpPr/>
          <p:nvPr/>
        </p:nvSpPr>
        <p:spPr>
          <a:xfrm>
            <a:off x="8330184" y="1965960"/>
            <a:ext cx="420624" cy="420624"/>
          </a:xfrm>
          <a:prstGeom prst="ellipse">
            <a:avLst/>
          </a:prstGeom>
          <a:solidFill>
            <a:srgbClr val="5FD3A0"/>
          </a:solidFill>
          <a:ln/>
        </p:spPr>
      </p:sp>
      <p:sp>
        <p:nvSpPr>
          <p:cNvPr id="30" name="Text 28"/>
          <p:cNvSpPr/>
          <p:nvPr/>
        </p:nvSpPr>
        <p:spPr>
          <a:xfrm>
            <a:off x="8330184" y="1965960"/>
            <a:ext cx="420624" cy="420624"/>
          </a:xfrm>
          <a:prstGeom prst="rect">
            <a:avLst/>
          </a:prstGeom>
          <a:noFill/>
          <a:ln/>
        </p:spPr>
        <p:txBody>
          <a:bodyPr wrap="square" lIns="0" tIns="0" rIns="0" bIns="0" rtlCol="0" anchor="ctr"/>
          <a:lstStyle/>
          <a:p>
            <a:pPr algn="ctr" indent="0" marL="0">
              <a:buNone/>
            </a:pPr>
            <a:r>
              <a:rPr lang="en-US" sz="1300" b="1" dirty="0">
                <a:solidFill>
                  <a:srgbClr val="00382B"/>
                </a:solidFill>
                <a:latin typeface="Calibri" pitchFamily="34" charset="0"/>
                <a:ea typeface="Calibri" pitchFamily="34" charset="-122"/>
                <a:cs typeface="Calibri" pitchFamily="34" charset="-120"/>
              </a:rPr>
              <a:t>5</a:t>
            </a:r>
            <a:endParaRPr lang="en-US" sz="1300" dirty="0"/>
          </a:p>
        </p:txBody>
      </p:sp>
      <p:sp>
        <p:nvSpPr>
          <p:cNvPr id="31" name="Text 29"/>
          <p:cNvSpPr/>
          <p:nvPr/>
        </p:nvSpPr>
        <p:spPr>
          <a:xfrm>
            <a:off x="8330184" y="2487168"/>
            <a:ext cx="132588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Us</a:t>
            </a:r>
            <a:endParaRPr lang="en-US" sz="1300" dirty="0"/>
          </a:p>
        </p:txBody>
      </p:sp>
      <p:sp>
        <p:nvSpPr>
          <p:cNvPr id="32" name="Text 30"/>
          <p:cNvSpPr/>
          <p:nvPr/>
        </p:nvSpPr>
        <p:spPr>
          <a:xfrm>
            <a:off x="8330184" y="2816352"/>
            <a:ext cx="1234440" cy="1097280"/>
          </a:xfrm>
          <a:prstGeom prst="rect">
            <a:avLst/>
          </a:prstGeom>
          <a:noFill/>
          <a:ln/>
        </p:spPr>
        <p:txBody>
          <a:bodyPr wrap="square" lIns="0" tIns="0" rIns="0" bIns="0" rtlCol="0" anchor="ctr"/>
          <a:lstStyle/>
          <a:p>
            <a:pPr indent="0" marL="0">
              <a:buNone/>
            </a:pPr>
            <a:r>
              <a:rPr lang="en-US" sz="1050" dirty="0">
                <a:solidFill>
                  <a:srgbClr val="BFDDCE"/>
                </a:solidFill>
                <a:latin typeface="Calibri" pitchFamily="34" charset="0"/>
                <a:ea typeface="Calibri" pitchFamily="34" charset="-122"/>
                <a:cs typeface="Calibri" pitchFamily="34" charset="-120"/>
              </a:rPr>
              <a:t>Delete the empty project, rename, apply the template.</a:t>
            </a:r>
            <a:endParaRPr lang="en-US" sz="1050" dirty="0"/>
          </a:p>
        </p:txBody>
      </p:sp>
      <p:sp>
        <p:nvSpPr>
          <p:cNvPr id="33" name="Shape 31"/>
          <p:cNvSpPr/>
          <p:nvPr/>
        </p:nvSpPr>
        <p:spPr>
          <a:xfrm>
            <a:off x="9779508" y="2743200"/>
            <a:ext cx="155448" cy="173736"/>
          </a:xfrm>
          <a:prstGeom prst="rightArrow">
            <a:avLst/>
          </a:prstGeom>
          <a:solidFill>
            <a:srgbClr val="5B7268"/>
          </a:solidFill>
          <a:ln w="12700">
            <a:solidFill>
              <a:srgbClr val="5B7268"/>
            </a:solidFill>
            <a:prstDash val="solid"/>
          </a:ln>
        </p:spPr>
      </p:sp>
      <p:sp>
        <p:nvSpPr>
          <p:cNvPr id="34" name="Shape 32"/>
          <p:cNvSpPr/>
          <p:nvPr/>
        </p:nvSpPr>
        <p:spPr>
          <a:xfrm>
            <a:off x="9989820" y="1737360"/>
            <a:ext cx="1604772" cy="2331720"/>
          </a:xfrm>
          <a:prstGeom prst="roundRect">
            <a:avLst>
              <a:gd name="adj" fmla="val 3989"/>
            </a:avLst>
          </a:prstGeom>
          <a:solidFill>
            <a:srgbClr val="EAF4EF"/>
          </a:solidFill>
          <a:ln w="12700">
            <a:solidFill>
              <a:srgbClr val="EAF4EF"/>
            </a:solidFill>
            <a:prstDash val="solid"/>
          </a:ln>
        </p:spPr>
      </p:sp>
      <p:sp>
        <p:nvSpPr>
          <p:cNvPr id="35" name="Shape 33"/>
          <p:cNvSpPr/>
          <p:nvPr/>
        </p:nvSpPr>
        <p:spPr>
          <a:xfrm>
            <a:off x="10190988" y="1965960"/>
            <a:ext cx="420624" cy="420624"/>
          </a:xfrm>
          <a:prstGeom prst="ellipse">
            <a:avLst/>
          </a:prstGeom>
          <a:solidFill>
            <a:srgbClr val="00915A"/>
          </a:solidFill>
          <a:ln/>
        </p:spPr>
      </p:sp>
      <p:sp>
        <p:nvSpPr>
          <p:cNvPr id="36" name="Text 34"/>
          <p:cNvSpPr/>
          <p:nvPr/>
        </p:nvSpPr>
        <p:spPr>
          <a:xfrm>
            <a:off x="10190988" y="19659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7" name="Text 35"/>
          <p:cNvSpPr/>
          <p:nvPr/>
        </p:nvSpPr>
        <p:spPr>
          <a:xfrm>
            <a:off x="10190988" y="2487168"/>
            <a:ext cx="1325880" cy="274320"/>
          </a:xfrm>
          <a:prstGeom prst="rect">
            <a:avLst/>
          </a:prstGeom>
          <a:noFill/>
          <a:ln/>
        </p:spPr>
        <p:txBody>
          <a:bodyPr wrap="square" lIns="0" tIns="0" rIns="0" bIns="0" rtlCol="0" anchor="ctr"/>
          <a:lstStyle/>
          <a:p>
            <a:pPr indent="0" marL="0">
              <a:buNone/>
            </a:pPr>
            <a:r>
              <a:rPr lang="en-US" sz="1300" b="1" dirty="0">
                <a:solidFill>
                  <a:srgbClr val="00382B"/>
                </a:solidFill>
                <a:latin typeface="Cambria" pitchFamily="34" charset="0"/>
                <a:ea typeface="Cambria" pitchFamily="34" charset="-122"/>
                <a:cs typeface="Cambria" pitchFamily="34" charset="-120"/>
              </a:rPr>
              <a:t>Project team</a:t>
            </a:r>
            <a:endParaRPr lang="en-US" sz="1300" dirty="0"/>
          </a:p>
        </p:txBody>
      </p:sp>
      <p:sp>
        <p:nvSpPr>
          <p:cNvPr id="38" name="Text 36"/>
          <p:cNvSpPr/>
          <p:nvPr/>
        </p:nvSpPr>
        <p:spPr>
          <a:xfrm>
            <a:off x="10190988" y="2816352"/>
            <a:ext cx="1234440" cy="1097280"/>
          </a:xfrm>
          <a:prstGeom prst="rect">
            <a:avLst/>
          </a:prstGeom>
          <a:noFill/>
          <a:ln/>
        </p:spPr>
        <p:txBody>
          <a:bodyPr wrap="square" lIns="0" tIns="0" rIns="0" bIns="0" rtlCol="0" anchor="ctr"/>
          <a:lstStyle/>
          <a:p>
            <a:pPr indent="0" marL="0">
              <a:buNone/>
            </a:pPr>
            <a:r>
              <a:rPr lang="en-US" sz="1050" dirty="0">
                <a:solidFill>
                  <a:srgbClr val="16302A"/>
                </a:solidFill>
                <a:latin typeface="Calibri" pitchFamily="34" charset="0"/>
                <a:ea typeface="Calibri" pitchFamily="34" charset="-122"/>
                <a:cs typeface="Calibri" pitchFamily="34" charset="-120"/>
              </a:rPr>
              <a:t>Update the pipeline. Re-bind SonarLint. Validate.</a:t>
            </a:r>
            <a:endParaRPr lang="en-US" sz="1050" dirty="0"/>
          </a:p>
        </p:txBody>
      </p:sp>
      <p:sp>
        <p:nvSpPr>
          <p:cNvPr id="39" name="Shape 37"/>
          <p:cNvSpPr/>
          <p:nvPr/>
        </p:nvSpPr>
        <p:spPr>
          <a:xfrm>
            <a:off x="685800" y="4251960"/>
            <a:ext cx="5257800" cy="1463040"/>
          </a:xfrm>
          <a:prstGeom prst="roundRect">
            <a:avLst>
              <a:gd name="adj" fmla="val 5000"/>
            </a:avLst>
          </a:prstGeom>
          <a:solidFill>
            <a:srgbClr val="E7F4EC"/>
          </a:solidFill>
          <a:ln w="12700">
            <a:solidFill>
              <a:srgbClr val="E7F4EC"/>
            </a:solidFill>
            <a:prstDash val="solid"/>
          </a:ln>
          <a:effectLst>
            <a:outerShdw sx="100000" sy="100000" kx="0" ky="0" algn="bl" rotWithShape="0" blurRad="76200" dist="508" dir="5400000">
              <a:srgbClr val="A9C2B5">
                <a:alpha val="25000"/>
              </a:srgbClr>
            </a:outerShdw>
          </a:effectLst>
        </p:spPr>
      </p:sp>
      <p:sp>
        <p:nvSpPr>
          <p:cNvPr id="40" name="Text 38"/>
          <p:cNvSpPr/>
          <p:nvPr/>
        </p:nvSpPr>
        <p:spPr>
          <a:xfrm>
            <a:off x="960120" y="4407408"/>
            <a:ext cx="4754880" cy="292608"/>
          </a:xfrm>
          <a:prstGeom prst="rect">
            <a:avLst/>
          </a:prstGeom>
          <a:noFill/>
          <a:ln/>
        </p:spPr>
        <p:txBody>
          <a:bodyPr wrap="square" lIns="0" tIns="0" rIns="0" bIns="0" rtlCol="0" anchor="ctr"/>
          <a:lstStyle/>
          <a:p>
            <a:pPr indent="0" marL="0">
              <a:buNone/>
            </a:pPr>
            <a:r>
              <a:rPr lang="en-US" sz="1300" b="1" dirty="0">
                <a:solidFill>
                  <a:srgbClr val="00915A"/>
                </a:solidFill>
                <a:latin typeface="Calibri" pitchFamily="34" charset="0"/>
                <a:ea typeface="Calibri" pitchFamily="34" charset="-122"/>
                <a:cs typeface="Calibri" pitchFamily="34" charset="-120"/>
              </a:rPr>
              <a:t>Good news — nothing is lost</a:t>
            </a:r>
            <a:endParaRPr lang="en-US" sz="1300" dirty="0"/>
          </a:p>
        </p:txBody>
      </p:sp>
      <p:sp>
        <p:nvSpPr>
          <p:cNvPr id="41" name="Text 39"/>
          <p:cNvSpPr/>
          <p:nvPr/>
        </p:nvSpPr>
        <p:spPr>
          <a:xfrm>
            <a:off x="960120" y="4736592"/>
            <a:ext cx="4754880" cy="822960"/>
          </a:xfrm>
          <a:prstGeom prst="rect">
            <a:avLst/>
          </a:prstGeom>
          <a:noFill/>
          <a:ln/>
        </p:spPr>
        <p:txBody>
          <a:bodyPr wrap="square" lIns="0" tIns="0" rIns="0" bIns="0" rtlCol="0" anchor="ctr"/>
          <a:lstStyle/>
          <a:p>
            <a:pPr indent="0" marL="0">
              <a:buNone/>
            </a:pPr>
            <a:r>
              <a:rPr lang="en-US" sz="1200" dirty="0">
                <a:solidFill>
                  <a:srgbClr val="16302A"/>
                </a:solidFill>
                <a:latin typeface="Calibri" pitchFamily="34" charset="0"/>
                <a:ea typeface="Calibri" pitchFamily="34" charset="-122"/>
                <a:cs typeface="Calibri" pitchFamily="34" charset="-120"/>
              </a:rPr>
              <a:t>Groups and the permission template live on the instance, not on the project. Deleting the empty project leaves them untouched — we simply re-apply the template afterwards.</a:t>
            </a:r>
            <a:endParaRPr lang="en-US" sz="1200" dirty="0"/>
          </a:p>
        </p:txBody>
      </p:sp>
      <p:sp>
        <p:nvSpPr>
          <p:cNvPr id="42" name="Shape 40"/>
          <p:cNvSpPr/>
          <p:nvPr/>
        </p:nvSpPr>
        <p:spPr>
          <a:xfrm>
            <a:off x="6217920" y="4251960"/>
            <a:ext cx="5257800" cy="1463040"/>
          </a:xfrm>
          <a:prstGeom prst="roundRect">
            <a:avLst>
              <a:gd name="adj" fmla="val 5000"/>
            </a:avLst>
          </a:prstGeom>
          <a:solidFill>
            <a:srgbClr val="FBEDEB"/>
          </a:solidFill>
          <a:ln w="12700">
            <a:solidFill>
              <a:srgbClr val="FBEDEB"/>
            </a:solidFill>
            <a:prstDash val="solid"/>
          </a:ln>
          <a:effectLst>
            <a:outerShdw sx="100000" sy="100000" kx="0" ky="0" algn="bl" rotWithShape="0" blurRad="76200" dist="508" dir="5400000">
              <a:srgbClr val="A9C2B5">
                <a:alpha val="25000"/>
              </a:srgbClr>
            </a:outerShdw>
          </a:effectLst>
        </p:spPr>
      </p:sp>
      <p:sp>
        <p:nvSpPr>
          <p:cNvPr id="43" name="Text 41"/>
          <p:cNvSpPr/>
          <p:nvPr/>
        </p:nvSpPr>
        <p:spPr>
          <a:xfrm>
            <a:off x="6492240" y="4407408"/>
            <a:ext cx="4754880" cy="292608"/>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What the pilot will tell us</a:t>
            </a:r>
            <a:endParaRPr lang="en-US" sz="1300" dirty="0"/>
          </a:p>
        </p:txBody>
      </p:sp>
      <p:sp>
        <p:nvSpPr>
          <p:cNvPr id="44" name="Text 42"/>
          <p:cNvSpPr/>
          <p:nvPr/>
        </p:nvSpPr>
        <p:spPr>
          <a:xfrm>
            <a:off x="6492240" y="4736592"/>
            <a:ext cx="4754880" cy="822960"/>
          </a:xfrm>
          <a:prstGeom prst="rect">
            <a:avLst/>
          </a:prstGeom>
          <a:noFill/>
          <a:ln/>
        </p:spPr>
        <p:txBody>
          <a:bodyPr wrap="square" lIns="0" tIns="0" rIns="0" bIns="0" rtlCol="0" anchor="ctr"/>
          <a:lstStyle/>
          <a:p>
            <a:pPr indent="0" marL="0">
              <a:buNone/>
            </a:pPr>
            <a:r>
              <a:rPr lang="en-US" sz="1200" dirty="0">
                <a:solidFill>
                  <a:srgbClr val="16302A"/>
                </a:solidFill>
                <a:latin typeface="Calibri" pitchFamily="34" charset="0"/>
                <a:ea typeface="Calibri" pitchFamily="34" charset="-122"/>
                <a:cs typeface="Calibri" pitchFamily="34" charset="-120"/>
              </a:rPr>
              <a:t>Once imported, the project no longer comes from the portal. We still need to check the DevOps binding, the portfolio, and how the portal reacts. That is on us.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789920" cy="640080"/>
          </a:xfrm>
          <a:prstGeom prst="rect">
            <a:avLst/>
          </a:prstGeom>
          <a:noFill/>
          <a:ln/>
        </p:spPr>
        <p:txBody>
          <a:bodyPr wrap="square" lIns="0" tIns="0" rIns="0" bIns="0" rtlCol="0" anchor="ctr"/>
          <a:lstStyle/>
          <a:p>
            <a:pPr indent="0" marL="0">
              <a:buNone/>
            </a:pPr>
            <a:r>
              <a:rPr lang="en-US" sz="3100" b="1" dirty="0">
                <a:solidFill>
                  <a:srgbClr val="00382B"/>
                </a:solidFill>
                <a:latin typeface="Cambria" pitchFamily="34" charset="0"/>
                <a:ea typeface="Cambria" pitchFamily="34" charset="-122"/>
                <a:cs typeface="Cambria" pitchFamily="34" charset="-120"/>
              </a:rPr>
              <a:t>How the archive reaches us</a:t>
            </a:r>
            <a:endParaRPr lang="en-US" sz="3100" dirty="0"/>
          </a:p>
        </p:txBody>
      </p:sp>
      <p:sp>
        <p:nvSpPr>
          <p:cNvPr id="3" name="Text 1"/>
          <p:cNvSpPr/>
          <p:nvPr/>
        </p:nvSpPr>
        <p:spPr>
          <a:xfrm>
            <a:off x="685800" y="1060704"/>
            <a:ext cx="10789920" cy="365760"/>
          </a:xfrm>
          <a:prstGeom prst="rect">
            <a:avLst/>
          </a:prstGeom>
          <a:noFill/>
          <a:ln/>
        </p:spPr>
        <p:txBody>
          <a:bodyPr wrap="square" lIns="0" tIns="0" rIns="0" bIns="0" rtlCol="0" anchor="ctr"/>
          <a:lstStyle/>
          <a:p>
            <a:pPr indent="0" marL="0">
              <a:buNone/>
            </a:pPr>
            <a:r>
              <a:rPr lang="en-US" sz="1400" i="1" dirty="0">
                <a:solidFill>
                  <a:srgbClr val="5B7268"/>
                </a:solidFill>
                <a:latin typeface="Calibri" pitchFamily="34" charset="0"/>
                <a:ea typeface="Calibri" pitchFamily="34" charset="-122"/>
                <a:cs typeface="Calibri" pitchFamily="34" charset="-120"/>
              </a:rPr>
              <a:t>Step 3, in detail. Once your team launches the export, nothing else is manual.</a:t>
            </a:r>
            <a:endParaRPr lang="en-US" sz="1400" dirty="0"/>
          </a:p>
        </p:txBody>
      </p:sp>
      <p:sp>
        <p:nvSpPr>
          <p:cNvPr id="4" name="Shape 2"/>
          <p:cNvSpPr/>
          <p:nvPr/>
        </p:nvSpPr>
        <p:spPr>
          <a:xfrm>
            <a:off x="685800" y="1691640"/>
            <a:ext cx="3291840" cy="2395728"/>
          </a:xfrm>
          <a:prstGeom prst="roundRect">
            <a:avLst>
              <a:gd name="adj" fmla="val 2672"/>
            </a:avLst>
          </a:prstGeom>
          <a:solidFill>
            <a:srgbClr val="EAF4EF"/>
          </a:solidFill>
          <a:ln w="12700">
            <a:solidFill>
              <a:srgbClr val="EAF4EF"/>
            </a:solidFill>
            <a:prstDash val="solid"/>
          </a:ln>
        </p:spPr>
      </p:sp>
      <p:sp>
        <p:nvSpPr>
          <p:cNvPr id="5" name="Text 3"/>
          <p:cNvSpPr/>
          <p:nvPr/>
        </p:nvSpPr>
        <p:spPr>
          <a:xfrm>
            <a:off x="905256" y="1856232"/>
            <a:ext cx="2852928" cy="292608"/>
          </a:xfrm>
          <a:prstGeom prst="rect">
            <a:avLst/>
          </a:prstGeom>
          <a:noFill/>
          <a:ln/>
        </p:spPr>
        <p:txBody>
          <a:bodyPr wrap="square" lIns="0" tIns="0" rIns="0" bIns="0" rtlCol="0" anchor="ctr"/>
          <a:lstStyle/>
          <a:p>
            <a:pPr indent="0" marL="0">
              <a:buNone/>
            </a:pPr>
            <a:r>
              <a:rPr lang="en-US" sz="1500" b="1" dirty="0">
                <a:solidFill>
                  <a:srgbClr val="00382B"/>
                </a:solidFill>
                <a:latin typeface="Cambria" pitchFamily="34" charset="0"/>
                <a:ea typeface="Cambria" pitchFamily="34" charset="-122"/>
                <a:cs typeface="Cambria" pitchFamily="34" charset="-120"/>
              </a:rPr>
              <a:t>On your instance</a:t>
            </a:r>
            <a:endParaRPr lang="en-US" sz="1500" dirty="0"/>
          </a:p>
        </p:txBody>
      </p:sp>
      <p:sp>
        <p:nvSpPr>
          <p:cNvPr id="6" name="Text 4"/>
          <p:cNvSpPr/>
          <p:nvPr/>
        </p:nvSpPr>
        <p:spPr>
          <a:xfrm>
            <a:off x="905256" y="2167128"/>
            <a:ext cx="2852928" cy="256032"/>
          </a:xfrm>
          <a:prstGeom prst="rect">
            <a:avLst/>
          </a:prstGeom>
          <a:noFill/>
          <a:ln/>
        </p:spPr>
        <p:txBody>
          <a:bodyPr wrap="square" lIns="0" tIns="0" rIns="0" bIns="0" rtlCol="0" anchor="ctr"/>
          <a:lstStyle/>
          <a:p>
            <a:pPr indent="0" marL="0">
              <a:buNone/>
            </a:pPr>
            <a:r>
              <a:rPr lang="en-US" sz="1050" i="1" dirty="0">
                <a:solidFill>
                  <a:srgbClr val="5B7268"/>
                </a:solidFill>
                <a:latin typeface="Calibri" pitchFamily="34" charset="0"/>
                <a:ea typeface="Calibri" pitchFamily="34" charset="-122"/>
                <a:cs typeface="Calibri" pitchFamily="34" charset="-120"/>
              </a:rPr>
              <a:t>A small agent, installed once</a:t>
            </a:r>
            <a:endParaRPr lang="en-US" sz="1050" dirty="0"/>
          </a:p>
        </p:txBody>
      </p:sp>
      <p:sp>
        <p:nvSpPr>
          <p:cNvPr id="7" name="Shape 5"/>
          <p:cNvSpPr/>
          <p:nvPr/>
        </p:nvSpPr>
        <p:spPr>
          <a:xfrm>
            <a:off x="923544" y="2697480"/>
            <a:ext cx="91440" cy="91440"/>
          </a:xfrm>
          <a:prstGeom prst="ellipse">
            <a:avLst/>
          </a:prstGeom>
          <a:solidFill>
            <a:srgbClr val="00915A"/>
          </a:solidFill>
          <a:ln/>
        </p:spPr>
      </p:sp>
      <p:sp>
        <p:nvSpPr>
          <p:cNvPr id="8" name="Text 6"/>
          <p:cNvSpPr/>
          <p:nvPr/>
        </p:nvSpPr>
        <p:spPr>
          <a:xfrm>
            <a:off x="1106424" y="2532888"/>
            <a:ext cx="2633472" cy="475488"/>
          </a:xfrm>
          <a:prstGeom prst="rect">
            <a:avLst/>
          </a:prstGeom>
          <a:noFill/>
          <a:ln/>
        </p:spPr>
        <p:txBody>
          <a:bodyPr wrap="square" lIns="0" tIns="0" rIns="0" bIns="0" rtlCol="0" anchor="ctr"/>
          <a:lstStyle/>
          <a:p>
            <a:pPr indent="0" marL="0">
              <a:buNone/>
            </a:pPr>
            <a:r>
              <a:rPr lang="en-US" sz="1050" dirty="0">
                <a:solidFill>
                  <a:srgbClr val="16302A"/>
                </a:solidFill>
                <a:latin typeface="Calibri" pitchFamily="34" charset="0"/>
                <a:ea typeface="Calibri" pitchFamily="34" charset="-122"/>
                <a:cs typeface="Calibri" pitchFamily="34" charset="-120"/>
              </a:rPr>
              <a:t>The export lands in the dump folder.</a:t>
            </a:r>
            <a:endParaRPr lang="en-US" sz="1050" dirty="0"/>
          </a:p>
        </p:txBody>
      </p:sp>
      <p:sp>
        <p:nvSpPr>
          <p:cNvPr id="9" name="Shape 7"/>
          <p:cNvSpPr/>
          <p:nvPr/>
        </p:nvSpPr>
        <p:spPr>
          <a:xfrm>
            <a:off x="923544" y="3209544"/>
            <a:ext cx="91440" cy="91440"/>
          </a:xfrm>
          <a:prstGeom prst="ellipse">
            <a:avLst/>
          </a:prstGeom>
          <a:solidFill>
            <a:srgbClr val="00915A"/>
          </a:solidFill>
          <a:ln/>
        </p:spPr>
      </p:sp>
      <p:sp>
        <p:nvSpPr>
          <p:cNvPr id="10" name="Text 8"/>
          <p:cNvSpPr/>
          <p:nvPr/>
        </p:nvSpPr>
        <p:spPr>
          <a:xfrm>
            <a:off x="1106424" y="3044952"/>
            <a:ext cx="2633472" cy="475488"/>
          </a:xfrm>
          <a:prstGeom prst="rect">
            <a:avLst/>
          </a:prstGeom>
          <a:noFill/>
          <a:ln/>
        </p:spPr>
        <p:txBody>
          <a:bodyPr wrap="square" lIns="0" tIns="0" rIns="0" bIns="0" rtlCol="0" anchor="ctr"/>
          <a:lstStyle/>
          <a:p>
            <a:pPr indent="0" marL="0">
              <a:buNone/>
            </a:pPr>
            <a:r>
              <a:rPr lang="en-US" sz="1050" dirty="0">
                <a:solidFill>
                  <a:srgbClr val="16302A"/>
                </a:solidFill>
                <a:latin typeface="Calibri" pitchFamily="34" charset="0"/>
                <a:ea typeface="Calibri" pitchFamily="34" charset="-122"/>
                <a:cs typeface="Calibri" pitchFamily="34" charset="-120"/>
              </a:rPr>
              <a:t>The agent reads the MIGRATION link to learn the target key.</a:t>
            </a:r>
            <a:endParaRPr lang="en-US" sz="1050" dirty="0"/>
          </a:p>
        </p:txBody>
      </p:sp>
      <p:sp>
        <p:nvSpPr>
          <p:cNvPr id="11" name="Shape 9"/>
          <p:cNvSpPr/>
          <p:nvPr/>
        </p:nvSpPr>
        <p:spPr>
          <a:xfrm>
            <a:off x="923544" y="3721608"/>
            <a:ext cx="91440" cy="91440"/>
          </a:xfrm>
          <a:prstGeom prst="ellipse">
            <a:avLst/>
          </a:prstGeom>
          <a:solidFill>
            <a:srgbClr val="00915A"/>
          </a:solidFill>
          <a:ln/>
        </p:spPr>
      </p:sp>
      <p:sp>
        <p:nvSpPr>
          <p:cNvPr id="12" name="Text 10"/>
          <p:cNvSpPr/>
          <p:nvPr/>
        </p:nvSpPr>
        <p:spPr>
          <a:xfrm>
            <a:off x="1106424" y="3557016"/>
            <a:ext cx="2633472" cy="475488"/>
          </a:xfrm>
          <a:prstGeom prst="rect">
            <a:avLst/>
          </a:prstGeom>
          <a:noFill/>
          <a:ln/>
        </p:spPr>
        <p:txBody>
          <a:bodyPr wrap="square" lIns="0" tIns="0" rIns="0" bIns="0" rtlCol="0" anchor="ctr"/>
          <a:lstStyle/>
          <a:p>
            <a:pPr indent="0" marL="0">
              <a:buNone/>
            </a:pPr>
            <a:r>
              <a:rPr lang="en-US" sz="1050" dirty="0">
                <a:solidFill>
                  <a:srgbClr val="16302A"/>
                </a:solidFill>
                <a:latin typeface="Calibri" pitchFamily="34" charset="0"/>
                <a:ea typeface="Calibri" pitchFamily="34" charset="-122"/>
                <a:cs typeface="Calibri" pitchFamily="34" charset="-120"/>
              </a:rPr>
              <a:t>It publishes the archive, then a manifest.</a:t>
            </a:r>
            <a:endParaRPr lang="en-US" sz="1050" dirty="0"/>
          </a:p>
        </p:txBody>
      </p:sp>
      <p:sp>
        <p:nvSpPr>
          <p:cNvPr id="13" name="Shape 11"/>
          <p:cNvSpPr/>
          <p:nvPr/>
        </p:nvSpPr>
        <p:spPr>
          <a:xfrm>
            <a:off x="4105656" y="2788920"/>
            <a:ext cx="182880" cy="201168"/>
          </a:xfrm>
          <a:prstGeom prst="rightArrow">
            <a:avLst/>
          </a:prstGeom>
          <a:solidFill>
            <a:srgbClr val="5B7268"/>
          </a:solidFill>
          <a:ln w="12700">
            <a:solidFill>
              <a:srgbClr val="5B7268"/>
            </a:solidFill>
            <a:prstDash val="solid"/>
          </a:ln>
        </p:spPr>
      </p:sp>
      <p:sp>
        <p:nvSpPr>
          <p:cNvPr id="14" name="Shape 12"/>
          <p:cNvSpPr/>
          <p:nvPr/>
        </p:nvSpPr>
        <p:spPr>
          <a:xfrm>
            <a:off x="4434840" y="1691640"/>
            <a:ext cx="3291840" cy="2395728"/>
          </a:xfrm>
          <a:prstGeom prst="roundRect">
            <a:avLst>
              <a:gd name="adj" fmla="val 2672"/>
            </a:avLst>
          </a:prstGeom>
          <a:solidFill>
            <a:srgbClr val="00382B"/>
          </a:solidFill>
          <a:ln w="12700">
            <a:solidFill>
              <a:srgbClr val="00382B"/>
            </a:solidFill>
            <a:prstDash val="solid"/>
          </a:ln>
        </p:spPr>
      </p:sp>
      <p:sp>
        <p:nvSpPr>
          <p:cNvPr id="15" name="Text 13"/>
          <p:cNvSpPr/>
          <p:nvPr/>
        </p:nvSpPr>
        <p:spPr>
          <a:xfrm>
            <a:off x="4654296" y="1856232"/>
            <a:ext cx="2852928"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Artifactory</a:t>
            </a:r>
            <a:endParaRPr lang="en-US" sz="1500" dirty="0"/>
          </a:p>
        </p:txBody>
      </p:sp>
      <p:sp>
        <p:nvSpPr>
          <p:cNvPr id="16" name="Text 14"/>
          <p:cNvSpPr/>
          <p:nvPr/>
        </p:nvSpPr>
        <p:spPr>
          <a:xfrm>
            <a:off x="4654296" y="2167128"/>
            <a:ext cx="2852928" cy="256032"/>
          </a:xfrm>
          <a:prstGeom prst="rect">
            <a:avLst/>
          </a:prstGeom>
          <a:noFill/>
          <a:ln/>
        </p:spPr>
        <p:txBody>
          <a:bodyPr wrap="square" lIns="0" tIns="0" rIns="0" bIns="0" rtlCol="0" anchor="ctr"/>
          <a:lstStyle/>
          <a:p>
            <a:pPr indent="0" marL="0">
              <a:buNone/>
            </a:pPr>
            <a:r>
              <a:rPr lang="en-US" sz="1050" i="1" dirty="0">
                <a:solidFill>
                  <a:srgbClr val="5FD3A0"/>
                </a:solidFill>
                <a:latin typeface="Calibri" pitchFamily="34" charset="0"/>
                <a:ea typeface="Calibri" pitchFamily="34" charset="-122"/>
                <a:cs typeface="Calibri" pitchFamily="34" charset="-120"/>
              </a:rPr>
              <a:t>The only thing both sides share</a:t>
            </a:r>
            <a:endParaRPr lang="en-US" sz="1050" dirty="0"/>
          </a:p>
        </p:txBody>
      </p:sp>
      <p:sp>
        <p:nvSpPr>
          <p:cNvPr id="17" name="Shape 15"/>
          <p:cNvSpPr/>
          <p:nvPr/>
        </p:nvSpPr>
        <p:spPr>
          <a:xfrm>
            <a:off x="4672584" y="2697480"/>
            <a:ext cx="91440" cy="91440"/>
          </a:xfrm>
          <a:prstGeom prst="ellipse">
            <a:avLst/>
          </a:prstGeom>
          <a:solidFill>
            <a:srgbClr val="5FD3A0"/>
          </a:solidFill>
          <a:ln/>
        </p:spPr>
      </p:sp>
      <p:sp>
        <p:nvSpPr>
          <p:cNvPr id="18" name="Text 16"/>
          <p:cNvSpPr/>
          <p:nvPr/>
        </p:nvSpPr>
        <p:spPr>
          <a:xfrm>
            <a:off x="4855464" y="2532888"/>
            <a:ext cx="2633472" cy="475488"/>
          </a:xfrm>
          <a:prstGeom prst="rect">
            <a:avLst/>
          </a:prstGeom>
          <a:noFill/>
          <a:ln/>
        </p:spPr>
        <p:txBody>
          <a:bodyPr wrap="square" lIns="0" tIns="0" rIns="0" bIns="0" rtlCol="0" anchor="ctr"/>
          <a:lstStyle/>
          <a:p>
            <a:pPr indent="0" marL="0">
              <a:buNone/>
            </a:pPr>
            <a:r>
              <a:rPr lang="en-US" sz="1050" dirty="0">
                <a:solidFill>
                  <a:srgbClr val="BFDDCE"/>
                </a:solidFill>
                <a:latin typeface="Calibri" pitchFamily="34" charset="0"/>
                <a:ea typeface="Calibri" pitchFamily="34" charset="-122"/>
                <a:cs typeface="Calibri" pitchFamily="34" charset="-120"/>
              </a:rPr>
              <a:t>One folder per DevOps space.</a:t>
            </a:r>
            <a:endParaRPr lang="en-US" sz="1050" dirty="0"/>
          </a:p>
        </p:txBody>
      </p:sp>
      <p:sp>
        <p:nvSpPr>
          <p:cNvPr id="19" name="Shape 17"/>
          <p:cNvSpPr/>
          <p:nvPr/>
        </p:nvSpPr>
        <p:spPr>
          <a:xfrm>
            <a:off x="4672584" y="3209544"/>
            <a:ext cx="91440" cy="91440"/>
          </a:xfrm>
          <a:prstGeom prst="ellipse">
            <a:avLst/>
          </a:prstGeom>
          <a:solidFill>
            <a:srgbClr val="5FD3A0"/>
          </a:solidFill>
          <a:ln/>
        </p:spPr>
      </p:sp>
      <p:sp>
        <p:nvSpPr>
          <p:cNvPr id="20" name="Text 18"/>
          <p:cNvSpPr/>
          <p:nvPr/>
        </p:nvSpPr>
        <p:spPr>
          <a:xfrm>
            <a:off x="4855464" y="3044952"/>
            <a:ext cx="2633472" cy="475488"/>
          </a:xfrm>
          <a:prstGeom prst="rect">
            <a:avLst/>
          </a:prstGeom>
          <a:noFill/>
          <a:ln/>
        </p:spPr>
        <p:txBody>
          <a:bodyPr wrap="square" lIns="0" tIns="0" rIns="0" bIns="0" rtlCol="0" anchor="ctr"/>
          <a:lstStyle/>
          <a:p>
            <a:pPr indent="0" marL="0">
              <a:buNone/>
            </a:pPr>
            <a:r>
              <a:rPr lang="en-US" sz="1050" dirty="0">
                <a:solidFill>
                  <a:srgbClr val="BFDDCE"/>
                </a:solidFill>
                <a:latin typeface="Calibri" pitchFamily="34" charset="0"/>
                <a:ea typeface="Calibri" pitchFamily="34" charset="-122"/>
                <a:cs typeface="Calibri" pitchFamily="34" charset="-120"/>
              </a:rPr>
              <a:t>Archive first, manifest second — so we never read a half-finished upload.</a:t>
            </a:r>
            <a:endParaRPr lang="en-US" sz="1050" dirty="0"/>
          </a:p>
        </p:txBody>
      </p:sp>
      <p:sp>
        <p:nvSpPr>
          <p:cNvPr id="21" name="Shape 19"/>
          <p:cNvSpPr/>
          <p:nvPr/>
        </p:nvSpPr>
        <p:spPr>
          <a:xfrm>
            <a:off x="4672584" y="3721608"/>
            <a:ext cx="91440" cy="91440"/>
          </a:xfrm>
          <a:prstGeom prst="ellipse">
            <a:avLst/>
          </a:prstGeom>
          <a:solidFill>
            <a:srgbClr val="5FD3A0"/>
          </a:solidFill>
          <a:ln/>
        </p:spPr>
      </p:sp>
      <p:sp>
        <p:nvSpPr>
          <p:cNvPr id="22" name="Text 20"/>
          <p:cNvSpPr/>
          <p:nvPr/>
        </p:nvSpPr>
        <p:spPr>
          <a:xfrm>
            <a:off x="4855464" y="3557016"/>
            <a:ext cx="2633472" cy="475488"/>
          </a:xfrm>
          <a:prstGeom prst="rect">
            <a:avLst/>
          </a:prstGeom>
          <a:noFill/>
          <a:ln/>
        </p:spPr>
        <p:txBody>
          <a:bodyPr wrap="square" lIns="0" tIns="0" rIns="0" bIns="0" rtlCol="0" anchor="ctr"/>
          <a:lstStyle/>
          <a:p>
            <a:pPr indent="0" marL="0">
              <a:buNone/>
            </a:pPr>
            <a:r>
              <a:rPr lang="en-US" sz="1050" dirty="0">
                <a:solidFill>
                  <a:srgbClr val="BFDDCE"/>
                </a:solidFill>
                <a:latin typeface="Calibri" pitchFamily="34" charset="0"/>
                <a:ea typeface="Calibri" pitchFamily="34" charset="-122"/>
                <a:cs typeface="Calibri" pitchFamily="34" charset="-120"/>
              </a:rPr>
              <a:t>Moved aside once imported.</a:t>
            </a:r>
            <a:endParaRPr lang="en-US" sz="1050" dirty="0"/>
          </a:p>
        </p:txBody>
      </p:sp>
      <p:sp>
        <p:nvSpPr>
          <p:cNvPr id="23" name="Shape 21"/>
          <p:cNvSpPr/>
          <p:nvPr/>
        </p:nvSpPr>
        <p:spPr>
          <a:xfrm>
            <a:off x="7854696" y="2788920"/>
            <a:ext cx="182880" cy="201168"/>
          </a:xfrm>
          <a:prstGeom prst="rightArrow">
            <a:avLst/>
          </a:prstGeom>
          <a:solidFill>
            <a:srgbClr val="5B7268"/>
          </a:solidFill>
          <a:ln w="12700">
            <a:solidFill>
              <a:srgbClr val="5B7268"/>
            </a:solidFill>
            <a:prstDash val="solid"/>
          </a:ln>
        </p:spPr>
      </p:sp>
      <p:sp>
        <p:nvSpPr>
          <p:cNvPr id="24" name="Shape 22"/>
          <p:cNvSpPr/>
          <p:nvPr/>
        </p:nvSpPr>
        <p:spPr>
          <a:xfrm>
            <a:off x="8183880" y="1691640"/>
            <a:ext cx="3291840" cy="2395728"/>
          </a:xfrm>
          <a:prstGeom prst="roundRect">
            <a:avLst>
              <a:gd name="adj" fmla="val 2672"/>
            </a:avLst>
          </a:prstGeom>
          <a:solidFill>
            <a:srgbClr val="EAF4EF"/>
          </a:solidFill>
          <a:ln w="12700">
            <a:solidFill>
              <a:srgbClr val="EAF4EF"/>
            </a:solidFill>
            <a:prstDash val="solid"/>
          </a:ln>
        </p:spPr>
      </p:sp>
      <p:sp>
        <p:nvSpPr>
          <p:cNvPr id="25" name="Text 23"/>
          <p:cNvSpPr/>
          <p:nvPr/>
        </p:nvSpPr>
        <p:spPr>
          <a:xfrm>
            <a:off x="8403336" y="1856232"/>
            <a:ext cx="2852928" cy="292608"/>
          </a:xfrm>
          <a:prstGeom prst="rect">
            <a:avLst/>
          </a:prstGeom>
          <a:noFill/>
          <a:ln/>
        </p:spPr>
        <p:txBody>
          <a:bodyPr wrap="square" lIns="0" tIns="0" rIns="0" bIns="0" rtlCol="0" anchor="ctr"/>
          <a:lstStyle/>
          <a:p>
            <a:pPr indent="0" marL="0">
              <a:buNone/>
            </a:pPr>
            <a:r>
              <a:rPr lang="en-US" sz="1500" b="1" dirty="0">
                <a:solidFill>
                  <a:srgbClr val="00382B"/>
                </a:solidFill>
                <a:latin typeface="Cambria" pitchFamily="34" charset="0"/>
                <a:ea typeface="Cambria" pitchFamily="34" charset="-122"/>
                <a:cs typeface="Cambria" pitchFamily="34" charset="-120"/>
              </a:rPr>
              <a:t>On our instance</a:t>
            </a:r>
            <a:endParaRPr lang="en-US" sz="1500" dirty="0"/>
          </a:p>
        </p:txBody>
      </p:sp>
      <p:sp>
        <p:nvSpPr>
          <p:cNvPr id="26" name="Text 24"/>
          <p:cNvSpPr/>
          <p:nvPr/>
        </p:nvSpPr>
        <p:spPr>
          <a:xfrm>
            <a:off x="8403336" y="2167128"/>
            <a:ext cx="2852928" cy="256032"/>
          </a:xfrm>
          <a:prstGeom prst="rect">
            <a:avLst/>
          </a:prstGeom>
          <a:noFill/>
          <a:ln/>
        </p:spPr>
        <p:txBody>
          <a:bodyPr wrap="square" lIns="0" tIns="0" rIns="0" bIns="0" rtlCol="0" anchor="ctr"/>
          <a:lstStyle/>
          <a:p>
            <a:pPr indent="0" marL="0">
              <a:buNone/>
            </a:pPr>
            <a:r>
              <a:rPr lang="en-US" sz="1050" i="1" dirty="0">
                <a:solidFill>
                  <a:srgbClr val="5B7268"/>
                </a:solidFill>
                <a:latin typeface="Calibri" pitchFamily="34" charset="0"/>
                <a:ea typeface="Calibri" pitchFamily="34" charset="-122"/>
                <a:cs typeface="Calibri" pitchFamily="34" charset="-120"/>
              </a:rPr>
              <a:t>A worker, driven by Ansible</a:t>
            </a:r>
            <a:endParaRPr lang="en-US" sz="1050" dirty="0"/>
          </a:p>
        </p:txBody>
      </p:sp>
      <p:sp>
        <p:nvSpPr>
          <p:cNvPr id="27" name="Shape 25"/>
          <p:cNvSpPr/>
          <p:nvPr/>
        </p:nvSpPr>
        <p:spPr>
          <a:xfrm>
            <a:off x="8421624" y="2697480"/>
            <a:ext cx="91440" cy="91440"/>
          </a:xfrm>
          <a:prstGeom prst="ellipse">
            <a:avLst/>
          </a:prstGeom>
          <a:solidFill>
            <a:srgbClr val="00915A"/>
          </a:solidFill>
          <a:ln/>
        </p:spPr>
      </p:sp>
      <p:sp>
        <p:nvSpPr>
          <p:cNvPr id="28" name="Text 26"/>
          <p:cNvSpPr/>
          <p:nvPr/>
        </p:nvSpPr>
        <p:spPr>
          <a:xfrm>
            <a:off x="8604504" y="2532888"/>
            <a:ext cx="2633472" cy="475488"/>
          </a:xfrm>
          <a:prstGeom prst="rect">
            <a:avLst/>
          </a:prstGeom>
          <a:noFill/>
          <a:ln/>
        </p:spPr>
        <p:txBody>
          <a:bodyPr wrap="square" lIns="0" tIns="0" rIns="0" bIns="0" rtlCol="0" anchor="ctr"/>
          <a:lstStyle/>
          <a:p>
            <a:pPr indent="0" marL="0">
              <a:buNone/>
            </a:pPr>
            <a:r>
              <a:rPr lang="en-US" sz="1050" dirty="0">
                <a:solidFill>
                  <a:srgbClr val="16302A"/>
                </a:solidFill>
                <a:latin typeface="Calibri" pitchFamily="34" charset="0"/>
                <a:ea typeface="Calibri" pitchFamily="34" charset="-122"/>
                <a:cs typeface="Calibri" pitchFamily="34" charset="-120"/>
              </a:rPr>
              <a:t>It reacts to the manifest, never to a lone archive.</a:t>
            </a:r>
            <a:endParaRPr lang="en-US" sz="1050" dirty="0"/>
          </a:p>
        </p:txBody>
      </p:sp>
      <p:sp>
        <p:nvSpPr>
          <p:cNvPr id="29" name="Shape 27"/>
          <p:cNvSpPr/>
          <p:nvPr/>
        </p:nvSpPr>
        <p:spPr>
          <a:xfrm>
            <a:off x="8421624" y="3209544"/>
            <a:ext cx="91440" cy="91440"/>
          </a:xfrm>
          <a:prstGeom prst="ellipse">
            <a:avLst/>
          </a:prstGeom>
          <a:solidFill>
            <a:srgbClr val="00915A"/>
          </a:solidFill>
          <a:ln/>
        </p:spPr>
      </p:sp>
      <p:sp>
        <p:nvSpPr>
          <p:cNvPr id="30" name="Text 28"/>
          <p:cNvSpPr/>
          <p:nvPr/>
        </p:nvSpPr>
        <p:spPr>
          <a:xfrm>
            <a:off x="8604504" y="3044952"/>
            <a:ext cx="2633472" cy="475488"/>
          </a:xfrm>
          <a:prstGeom prst="rect">
            <a:avLst/>
          </a:prstGeom>
          <a:noFill/>
          <a:ln/>
        </p:spPr>
        <p:txBody>
          <a:bodyPr wrap="square" lIns="0" tIns="0" rIns="0" bIns="0" rtlCol="0" anchor="ctr"/>
          <a:lstStyle/>
          <a:p>
            <a:pPr indent="0" marL="0">
              <a:buNone/>
            </a:pPr>
            <a:r>
              <a:rPr lang="en-US" sz="1050" dirty="0">
                <a:solidFill>
                  <a:srgbClr val="16302A"/>
                </a:solidFill>
                <a:latin typeface="Calibri" pitchFamily="34" charset="0"/>
                <a:ea typeface="Calibri" pitchFamily="34" charset="-122"/>
                <a:cs typeface="Calibri" pitchFamily="34" charset="-120"/>
              </a:rPr>
              <a:t>It runs every check before writing.</a:t>
            </a:r>
            <a:endParaRPr lang="en-US" sz="1050" dirty="0"/>
          </a:p>
        </p:txBody>
      </p:sp>
      <p:sp>
        <p:nvSpPr>
          <p:cNvPr id="31" name="Shape 29"/>
          <p:cNvSpPr/>
          <p:nvPr/>
        </p:nvSpPr>
        <p:spPr>
          <a:xfrm>
            <a:off x="8421624" y="3721608"/>
            <a:ext cx="91440" cy="91440"/>
          </a:xfrm>
          <a:prstGeom prst="ellipse">
            <a:avLst/>
          </a:prstGeom>
          <a:solidFill>
            <a:srgbClr val="00915A"/>
          </a:solidFill>
          <a:ln/>
        </p:spPr>
      </p:sp>
      <p:sp>
        <p:nvSpPr>
          <p:cNvPr id="32" name="Text 30"/>
          <p:cNvSpPr/>
          <p:nvPr/>
        </p:nvSpPr>
        <p:spPr>
          <a:xfrm>
            <a:off x="8604504" y="3557016"/>
            <a:ext cx="2633472" cy="475488"/>
          </a:xfrm>
          <a:prstGeom prst="rect">
            <a:avLst/>
          </a:prstGeom>
          <a:noFill/>
          <a:ln/>
        </p:spPr>
        <p:txBody>
          <a:bodyPr wrap="square" lIns="0" tIns="0" rIns="0" bIns="0" rtlCol="0" anchor="ctr"/>
          <a:lstStyle/>
          <a:p>
            <a:pPr indent="0" marL="0">
              <a:buNone/>
            </a:pPr>
            <a:r>
              <a:rPr lang="en-US" sz="1050" dirty="0">
                <a:solidFill>
                  <a:srgbClr val="16302A"/>
                </a:solidFill>
                <a:latin typeface="Calibri" pitchFamily="34" charset="0"/>
                <a:ea typeface="Calibri" pitchFamily="34" charset="-122"/>
                <a:cs typeface="Calibri" pitchFamily="34" charset="-120"/>
              </a:rPr>
              <a:t>Then import, rename, configure.</a:t>
            </a:r>
            <a:endParaRPr lang="en-US" sz="1050" dirty="0"/>
          </a:p>
        </p:txBody>
      </p:sp>
      <p:sp>
        <p:nvSpPr>
          <p:cNvPr id="33" name="Shape 31"/>
          <p:cNvSpPr/>
          <p:nvPr/>
        </p:nvSpPr>
        <p:spPr>
          <a:xfrm>
            <a:off x="685800" y="4315968"/>
            <a:ext cx="10789920" cy="1371600"/>
          </a:xfrm>
          <a:prstGeom prst="roundRect">
            <a:avLst>
              <a:gd name="adj" fmla="val 5333"/>
            </a:avLst>
          </a:prstGeom>
          <a:solidFill>
            <a:srgbClr val="F3F8F5"/>
          </a:solidFill>
          <a:ln w="12700">
            <a:solidFill>
              <a:srgbClr val="F3F8F5"/>
            </a:solidFill>
            <a:prstDash val="solid"/>
          </a:ln>
          <a:effectLst>
            <a:outerShdw sx="100000" sy="100000" kx="0" ky="0" algn="bl" rotWithShape="0" blurRad="76200" dist="508" dir="5400000">
              <a:srgbClr val="A9C2B5">
                <a:alpha val="25000"/>
              </a:srgbClr>
            </a:outerShdw>
          </a:effectLst>
        </p:spPr>
      </p:sp>
      <p:sp>
        <p:nvSpPr>
          <p:cNvPr id="34" name="Text 32"/>
          <p:cNvSpPr/>
          <p:nvPr/>
        </p:nvSpPr>
        <p:spPr>
          <a:xfrm>
            <a:off x="960120" y="4480560"/>
            <a:ext cx="7315200" cy="274320"/>
          </a:xfrm>
          <a:prstGeom prst="rect">
            <a:avLst/>
          </a:prstGeom>
          <a:noFill/>
          <a:ln/>
        </p:spPr>
        <p:txBody>
          <a:bodyPr wrap="square" lIns="0" tIns="0" rIns="0" bIns="0" rtlCol="0" anchor="ctr"/>
          <a:lstStyle/>
          <a:p>
            <a:pPr indent="0" marL="0">
              <a:buNone/>
            </a:pPr>
            <a:r>
              <a:rPr lang="en-US" sz="1300" b="1" dirty="0">
                <a:solidFill>
                  <a:srgbClr val="00915A"/>
                </a:solidFill>
                <a:latin typeface="Calibri" pitchFamily="34" charset="0"/>
                <a:ea typeface="Calibri" pitchFamily="34" charset="-122"/>
                <a:cs typeface="Calibri" pitchFamily="34" charset="-120"/>
              </a:rPr>
              <a:t>Before we write anything on the central instance</a:t>
            </a:r>
            <a:endParaRPr lang="en-US" sz="1300" dirty="0"/>
          </a:p>
        </p:txBody>
      </p:sp>
      <p:sp>
        <p:nvSpPr>
          <p:cNvPr id="35" name="Shape 33"/>
          <p:cNvSpPr/>
          <p:nvPr/>
        </p:nvSpPr>
        <p:spPr>
          <a:xfrm>
            <a:off x="960120" y="4882896"/>
            <a:ext cx="1569110" cy="384048"/>
          </a:xfrm>
          <a:prstGeom prst="roundRect">
            <a:avLst>
              <a:gd name="adj" fmla="val 14286"/>
            </a:avLst>
          </a:prstGeom>
          <a:solidFill>
            <a:srgbClr val="FFFFFF"/>
          </a:solidFill>
          <a:ln w="12700">
            <a:solidFill>
              <a:srgbClr val="CBDED4"/>
            </a:solidFill>
            <a:prstDash val="solid"/>
          </a:ln>
        </p:spPr>
      </p:sp>
      <p:sp>
        <p:nvSpPr>
          <p:cNvPr id="36" name="Text 34"/>
          <p:cNvSpPr/>
          <p:nvPr/>
        </p:nvSpPr>
        <p:spPr>
          <a:xfrm>
            <a:off x="960120" y="4882896"/>
            <a:ext cx="1569110" cy="384048"/>
          </a:xfrm>
          <a:prstGeom prst="rect">
            <a:avLst/>
          </a:prstGeom>
          <a:noFill/>
          <a:ln/>
        </p:spPr>
        <p:txBody>
          <a:bodyPr wrap="square" lIns="0" tIns="0" rIns="0" bIns="0" rtlCol="0" anchor="ctr"/>
          <a:lstStyle/>
          <a:p>
            <a:pPr algn="ctr" indent="0" marL="0">
              <a:buNone/>
            </a:pPr>
            <a:r>
              <a:rPr lang="en-US" sz="950" b="1" dirty="0">
                <a:solidFill>
                  <a:srgbClr val="00694F"/>
                </a:solidFill>
                <a:latin typeface="Calibri" pitchFamily="34" charset="0"/>
                <a:ea typeface="Calibri" pitchFamily="34" charset="-122"/>
                <a:cs typeface="Calibri" pitchFamily="34" charset="-120"/>
              </a:rPr>
              <a:t>Same version</a:t>
            </a:r>
            <a:endParaRPr lang="en-US" sz="950" dirty="0"/>
          </a:p>
        </p:txBody>
      </p:sp>
      <p:sp>
        <p:nvSpPr>
          <p:cNvPr id="37" name="Shape 35"/>
          <p:cNvSpPr/>
          <p:nvPr/>
        </p:nvSpPr>
        <p:spPr>
          <a:xfrm>
            <a:off x="2693822" y="4882896"/>
            <a:ext cx="1569110" cy="384048"/>
          </a:xfrm>
          <a:prstGeom prst="roundRect">
            <a:avLst>
              <a:gd name="adj" fmla="val 14286"/>
            </a:avLst>
          </a:prstGeom>
          <a:solidFill>
            <a:srgbClr val="FFFFFF"/>
          </a:solidFill>
          <a:ln w="12700">
            <a:solidFill>
              <a:srgbClr val="CBDED4"/>
            </a:solidFill>
            <a:prstDash val="solid"/>
          </a:ln>
        </p:spPr>
      </p:sp>
      <p:sp>
        <p:nvSpPr>
          <p:cNvPr id="38" name="Text 36"/>
          <p:cNvSpPr/>
          <p:nvPr/>
        </p:nvSpPr>
        <p:spPr>
          <a:xfrm>
            <a:off x="2693822" y="4882896"/>
            <a:ext cx="1569110" cy="384048"/>
          </a:xfrm>
          <a:prstGeom prst="rect">
            <a:avLst/>
          </a:prstGeom>
          <a:noFill/>
          <a:ln/>
        </p:spPr>
        <p:txBody>
          <a:bodyPr wrap="square" lIns="0" tIns="0" rIns="0" bIns="0" rtlCol="0" anchor="ctr"/>
          <a:lstStyle/>
          <a:p>
            <a:pPr algn="ctr" indent="0" marL="0">
              <a:buNone/>
            </a:pPr>
            <a:r>
              <a:rPr lang="en-US" sz="950" b="1" dirty="0">
                <a:solidFill>
                  <a:srgbClr val="00694F"/>
                </a:solidFill>
                <a:latin typeface="Calibri" pitchFamily="34" charset="0"/>
                <a:ea typeface="Calibri" pitchFamily="34" charset="-122"/>
                <a:cs typeface="Calibri" pitchFamily="34" charset="-120"/>
              </a:rPr>
              <a:t>Same plugins</a:t>
            </a:r>
            <a:endParaRPr lang="en-US" sz="950" dirty="0"/>
          </a:p>
        </p:txBody>
      </p:sp>
      <p:sp>
        <p:nvSpPr>
          <p:cNvPr id="39" name="Shape 37"/>
          <p:cNvSpPr/>
          <p:nvPr/>
        </p:nvSpPr>
        <p:spPr>
          <a:xfrm>
            <a:off x="4427525" y="4882896"/>
            <a:ext cx="1569110" cy="384048"/>
          </a:xfrm>
          <a:prstGeom prst="roundRect">
            <a:avLst>
              <a:gd name="adj" fmla="val 14286"/>
            </a:avLst>
          </a:prstGeom>
          <a:solidFill>
            <a:srgbClr val="FFFFFF"/>
          </a:solidFill>
          <a:ln w="12700">
            <a:solidFill>
              <a:srgbClr val="CBDED4"/>
            </a:solidFill>
            <a:prstDash val="solid"/>
          </a:ln>
        </p:spPr>
      </p:sp>
      <p:sp>
        <p:nvSpPr>
          <p:cNvPr id="40" name="Text 38"/>
          <p:cNvSpPr/>
          <p:nvPr/>
        </p:nvSpPr>
        <p:spPr>
          <a:xfrm>
            <a:off x="4427525" y="4882896"/>
            <a:ext cx="1569110" cy="384048"/>
          </a:xfrm>
          <a:prstGeom prst="rect">
            <a:avLst/>
          </a:prstGeom>
          <a:noFill/>
          <a:ln/>
        </p:spPr>
        <p:txBody>
          <a:bodyPr wrap="square" lIns="0" tIns="0" rIns="0" bIns="0" rtlCol="0" anchor="ctr"/>
          <a:lstStyle/>
          <a:p>
            <a:pPr algn="ctr" indent="0" marL="0">
              <a:buNone/>
            </a:pPr>
            <a:r>
              <a:rPr lang="en-US" sz="950" b="1" dirty="0">
                <a:solidFill>
                  <a:srgbClr val="00694F"/>
                </a:solidFill>
                <a:latin typeface="Calibri" pitchFamily="34" charset="0"/>
                <a:ea typeface="Calibri" pitchFamily="34" charset="-122"/>
                <a:cs typeface="Calibri" pitchFamily="34" charset="-120"/>
              </a:rPr>
              <a:t>Target is empty</a:t>
            </a:r>
            <a:endParaRPr lang="en-US" sz="950" dirty="0"/>
          </a:p>
        </p:txBody>
      </p:sp>
      <p:sp>
        <p:nvSpPr>
          <p:cNvPr id="41" name="Shape 39"/>
          <p:cNvSpPr/>
          <p:nvPr/>
        </p:nvSpPr>
        <p:spPr>
          <a:xfrm>
            <a:off x="6161227" y="4882896"/>
            <a:ext cx="1569110" cy="384048"/>
          </a:xfrm>
          <a:prstGeom prst="roundRect">
            <a:avLst>
              <a:gd name="adj" fmla="val 14286"/>
            </a:avLst>
          </a:prstGeom>
          <a:solidFill>
            <a:srgbClr val="FFFFFF"/>
          </a:solidFill>
          <a:ln w="12700">
            <a:solidFill>
              <a:srgbClr val="CBDED4"/>
            </a:solidFill>
            <a:prstDash val="solid"/>
          </a:ln>
        </p:spPr>
      </p:sp>
      <p:sp>
        <p:nvSpPr>
          <p:cNvPr id="42" name="Text 40"/>
          <p:cNvSpPr/>
          <p:nvPr/>
        </p:nvSpPr>
        <p:spPr>
          <a:xfrm>
            <a:off x="6161227" y="4882896"/>
            <a:ext cx="1569110" cy="384048"/>
          </a:xfrm>
          <a:prstGeom prst="rect">
            <a:avLst/>
          </a:prstGeom>
          <a:noFill/>
          <a:ln/>
        </p:spPr>
        <p:txBody>
          <a:bodyPr wrap="square" lIns="0" tIns="0" rIns="0" bIns="0" rtlCol="0" anchor="ctr"/>
          <a:lstStyle/>
          <a:p>
            <a:pPr algn="ctr" indent="0" marL="0">
              <a:buNone/>
            </a:pPr>
            <a:r>
              <a:rPr lang="en-US" sz="950" b="1" dirty="0">
                <a:solidFill>
                  <a:srgbClr val="00694F"/>
                </a:solidFill>
                <a:latin typeface="Calibri" pitchFamily="34" charset="0"/>
                <a:ea typeface="Calibri" pitchFamily="34" charset="-122"/>
                <a:cs typeface="Calibri" pitchFamily="34" charset="-120"/>
              </a:rPr>
              <a:t>Key is free</a:t>
            </a:r>
            <a:endParaRPr lang="en-US" sz="950" dirty="0"/>
          </a:p>
        </p:txBody>
      </p:sp>
      <p:sp>
        <p:nvSpPr>
          <p:cNvPr id="43" name="Shape 41"/>
          <p:cNvSpPr/>
          <p:nvPr/>
        </p:nvSpPr>
        <p:spPr>
          <a:xfrm>
            <a:off x="7894930" y="4882896"/>
            <a:ext cx="1569110" cy="384048"/>
          </a:xfrm>
          <a:prstGeom prst="roundRect">
            <a:avLst>
              <a:gd name="adj" fmla="val 14286"/>
            </a:avLst>
          </a:prstGeom>
          <a:solidFill>
            <a:srgbClr val="FFFFFF"/>
          </a:solidFill>
          <a:ln w="12700">
            <a:solidFill>
              <a:srgbClr val="CBDED4"/>
            </a:solidFill>
            <a:prstDash val="solid"/>
          </a:ln>
        </p:spPr>
      </p:sp>
      <p:sp>
        <p:nvSpPr>
          <p:cNvPr id="44" name="Text 42"/>
          <p:cNvSpPr/>
          <p:nvPr/>
        </p:nvSpPr>
        <p:spPr>
          <a:xfrm>
            <a:off x="7894930" y="4882896"/>
            <a:ext cx="1569110" cy="384048"/>
          </a:xfrm>
          <a:prstGeom prst="rect">
            <a:avLst/>
          </a:prstGeom>
          <a:noFill/>
          <a:ln/>
        </p:spPr>
        <p:txBody>
          <a:bodyPr wrap="square" lIns="0" tIns="0" rIns="0" bIns="0" rtlCol="0" anchor="ctr"/>
          <a:lstStyle/>
          <a:p>
            <a:pPr algn="ctr" indent="0" marL="0">
              <a:buNone/>
            </a:pPr>
            <a:r>
              <a:rPr lang="en-US" sz="950" b="1" dirty="0">
                <a:solidFill>
                  <a:srgbClr val="00694F"/>
                </a:solidFill>
                <a:latin typeface="Calibri" pitchFamily="34" charset="0"/>
                <a:ea typeface="Calibri" pitchFamily="34" charset="-122"/>
                <a:cs typeface="Calibri" pitchFamily="34" charset="-120"/>
              </a:rPr>
              <a:t>Checksum matches</a:t>
            </a:r>
            <a:endParaRPr lang="en-US" sz="950" dirty="0"/>
          </a:p>
        </p:txBody>
      </p:sp>
      <p:sp>
        <p:nvSpPr>
          <p:cNvPr id="45" name="Shape 43"/>
          <p:cNvSpPr/>
          <p:nvPr/>
        </p:nvSpPr>
        <p:spPr>
          <a:xfrm>
            <a:off x="9628632" y="4882896"/>
            <a:ext cx="1569110" cy="384048"/>
          </a:xfrm>
          <a:prstGeom prst="roundRect">
            <a:avLst>
              <a:gd name="adj" fmla="val 14286"/>
            </a:avLst>
          </a:prstGeom>
          <a:solidFill>
            <a:srgbClr val="FFFFFF"/>
          </a:solidFill>
          <a:ln w="12700">
            <a:solidFill>
              <a:srgbClr val="CBDED4"/>
            </a:solidFill>
            <a:prstDash val="solid"/>
          </a:ln>
        </p:spPr>
      </p:sp>
      <p:sp>
        <p:nvSpPr>
          <p:cNvPr id="46" name="Text 44"/>
          <p:cNvSpPr/>
          <p:nvPr/>
        </p:nvSpPr>
        <p:spPr>
          <a:xfrm>
            <a:off x="9628632" y="4882896"/>
            <a:ext cx="1569110" cy="384048"/>
          </a:xfrm>
          <a:prstGeom prst="rect">
            <a:avLst/>
          </a:prstGeom>
          <a:noFill/>
          <a:ln/>
        </p:spPr>
        <p:txBody>
          <a:bodyPr wrap="square" lIns="0" tIns="0" rIns="0" bIns="0" rtlCol="0" anchor="ctr"/>
          <a:lstStyle/>
          <a:p>
            <a:pPr algn="ctr" indent="0" marL="0">
              <a:buNone/>
            </a:pPr>
            <a:r>
              <a:rPr lang="en-US" sz="950" b="1" dirty="0">
                <a:solidFill>
                  <a:srgbClr val="00694F"/>
                </a:solidFill>
                <a:latin typeface="Calibri" pitchFamily="34" charset="0"/>
                <a:ea typeface="Calibri" pitchFamily="34" charset="-122"/>
                <a:cs typeface="Calibri" pitchFamily="34" charset="-120"/>
              </a:rPr>
              <a:t>Requester is admin</a:t>
            </a:r>
            <a:endParaRPr lang="en-US" sz="950" dirty="0"/>
          </a:p>
        </p:txBody>
      </p:sp>
      <p:sp>
        <p:nvSpPr>
          <p:cNvPr id="47" name="Text 45"/>
          <p:cNvSpPr/>
          <p:nvPr/>
        </p:nvSpPr>
        <p:spPr>
          <a:xfrm>
            <a:off x="960120" y="5340096"/>
            <a:ext cx="10241280" cy="274320"/>
          </a:xfrm>
          <a:prstGeom prst="rect">
            <a:avLst/>
          </a:prstGeom>
          <a:noFill/>
          <a:ln/>
        </p:spPr>
        <p:txBody>
          <a:bodyPr wrap="square" lIns="0" tIns="0" rIns="0" bIns="0" rtlCol="0" anchor="ctr"/>
          <a:lstStyle/>
          <a:p>
            <a:pPr indent="0" marL="0">
              <a:buNone/>
            </a:pPr>
            <a:r>
              <a:rPr lang="en-US" sz="1150" i="1" dirty="0">
                <a:solidFill>
                  <a:srgbClr val="5B7268"/>
                </a:solidFill>
                <a:latin typeface="Calibri" pitchFamily="34" charset="0"/>
                <a:ea typeface="Calibri" pitchFamily="34" charset="-122"/>
                <a:cs typeface="Calibri" pitchFamily="34" charset="-120"/>
              </a:rPr>
              <a:t>If any of these fails, the project is refused and nothing is touched. You get the reason, not a broken project.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789920" cy="640080"/>
          </a:xfrm>
          <a:prstGeom prst="rect">
            <a:avLst/>
          </a:prstGeom>
          <a:noFill/>
          <a:ln/>
        </p:spPr>
        <p:txBody>
          <a:bodyPr wrap="square" lIns="0" tIns="0" rIns="0" bIns="0" rtlCol="0" anchor="ctr"/>
          <a:lstStyle/>
          <a:p>
            <a:pPr indent="0" marL="0">
              <a:buNone/>
            </a:pPr>
            <a:r>
              <a:rPr lang="en-US" sz="3100" b="1" dirty="0">
                <a:solidFill>
                  <a:srgbClr val="00382B"/>
                </a:solidFill>
                <a:latin typeface="Cambria" pitchFamily="34" charset="0"/>
                <a:ea typeface="Cambria" pitchFamily="34" charset="-122"/>
                <a:cs typeface="Cambria" pitchFamily="34" charset="-120"/>
              </a:rPr>
              <a:t>What is automated, and what stays manual</a:t>
            </a:r>
            <a:endParaRPr lang="en-US" sz="3100" dirty="0"/>
          </a:p>
        </p:txBody>
      </p:sp>
      <p:sp>
        <p:nvSpPr>
          <p:cNvPr id="3" name="Text 1"/>
          <p:cNvSpPr/>
          <p:nvPr/>
        </p:nvSpPr>
        <p:spPr>
          <a:xfrm>
            <a:off x="685800" y="1060704"/>
            <a:ext cx="10789920" cy="365760"/>
          </a:xfrm>
          <a:prstGeom prst="rect">
            <a:avLst/>
          </a:prstGeom>
          <a:noFill/>
          <a:ln/>
        </p:spPr>
        <p:txBody>
          <a:bodyPr wrap="square" lIns="0" tIns="0" rIns="0" bIns="0" rtlCol="0" anchor="ctr"/>
          <a:lstStyle/>
          <a:p>
            <a:pPr indent="0" marL="0">
              <a:buNone/>
            </a:pPr>
            <a:r>
              <a:rPr lang="en-US" sz="1400" i="1" dirty="0">
                <a:solidFill>
                  <a:srgbClr val="5B7268"/>
                </a:solidFill>
                <a:latin typeface="Calibri" pitchFamily="34" charset="0"/>
                <a:ea typeface="Calibri" pitchFamily="34" charset="-122"/>
                <a:cs typeface="Calibri" pitchFamily="34" charset="-120"/>
              </a:rPr>
              <a:t>So you know exactly what to plan on your side.</a:t>
            </a:r>
            <a:endParaRPr lang="en-US" sz="1400" dirty="0"/>
          </a:p>
        </p:txBody>
      </p:sp>
      <p:sp>
        <p:nvSpPr>
          <p:cNvPr id="4" name="Shape 2"/>
          <p:cNvSpPr/>
          <p:nvPr/>
        </p:nvSpPr>
        <p:spPr>
          <a:xfrm>
            <a:off x="685800" y="1691640"/>
            <a:ext cx="3413455" cy="3246120"/>
          </a:xfrm>
          <a:prstGeom prst="roundRect">
            <a:avLst>
              <a:gd name="adj" fmla="val 1972"/>
            </a:avLst>
          </a:prstGeom>
          <a:solidFill>
            <a:srgbClr val="EAF4EF"/>
          </a:solidFill>
          <a:ln w="12700">
            <a:solidFill>
              <a:srgbClr val="EAF4EF"/>
            </a:solidFill>
            <a:prstDash val="solid"/>
          </a:ln>
        </p:spPr>
      </p:sp>
      <p:sp>
        <p:nvSpPr>
          <p:cNvPr id="5" name="Shape 3"/>
          <p:cNvSpPr/>
          <p:nvPr/>
        </p:nvSpPr>
        <p:spPr>
          <a:xfrm>
            <a:off x="923544" y="1911096"/>
            <a:ext cx="310896" cy="310896"/>
          </a:xfrm>
          <a:prstGeom prst="ellipse">
            <a:avLst/>
          </a:prstGeom>
          <a:solidFill>
            <a:srgbClr val="00915A"/>
          </a:solidFill>
          <a:ln/>
        </p:spPr>
      </p:sp>
      <p:sp>
        <p:nvSpPr>
          <p:cNvPr id="6" name="Text 4"/>
          <p:cNvSpPr/>
          <p:nvPr/>
        </p:nvSpPr>
        <p:spPr>
          <a:xfrm>
            <a:off x="923544" y="191109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325880" y="1911096"/>
            <a:ext cx="2553919" cy="310896"/>
          </a:xfrm>
          <a:prstGeom prst="rect">
            <a:avLst/>
          </a:prstGeom>
          <a:noFill/>
          <a:ln/>
        </p:spPr>
        <p:txBody>
          <a:bodyPr wrap="square" lIns="0" tIns="0" rIns="0" bIns="0" rtlCol="0" anchor="ctr"/>
          <a:lstStyle/>
          <a:p>
            <a:pPr indent="0" marL="0">
              <a:buNone/>
            </a:pPr>
            <a:r>
              <a:rPr lang="en-US" sz="1450" b="1" dirty="0">
                <a:solidFill>
                  <a:srgbClr val="00382B"/>
                </a:solidFill>
                <a:latin typeface="Cambria" pitchFamily="34" charset="0"/>
                <a:ea typeface="Cambria" pitchFamily="34" charset="-122"/>
                <a:cs typeface="Cambria" pitchFamily="34" charset="-120"/>
              </a:rPr>
              <a:t>Your team, per project</a:t>
            </a:r>
            <a:endParaRPr lang="en-US" sz="1450" dirty="0"/>
          </a:p>
        </p:txBody>
      </p:sp>
      <p:sp>
        <p:nvSpPr>
          <p:cNvPr id="8" name="Text 6"/>
          <p:cNvSpPr/>
          <p:nvPr/>
        </p:nvSpPr>
        <p:spPr>
          <a:xfrm>
            <a:off x="923544" y="2295144"/>
            <a:ext cx="2937967" cy="256032"/>
          </a:xfrm>
          <a:prstGeom prst="rect">
            <a:avLst/>
          </a:prstGeom>
          <a:noFill/>
          <a:ln/>
        </p:spPr>
        <p:txBody>
          <a:bodyPr wrap="square" lIns="0" tIns="0" rIns="0" bIns="0" rtlCol="0" anchor="ctr"/>
          <a:lstStyle/>
          <a:p>
            <a:pPr indent="0" marL="0">
              <a:buNone/>
            </a:pPr>
            <a:r>
              <a:rPr lang="en-US" sz="1050" i="1" dirty="0">
                <a:solidFill>
                  <a:srgbClr val="5B7268"/>
                </a:solidFill>
                <a:latin typeface="Calibri" pitchFamily="34" charset="0"/>
                <a:ea typeface="Calibri" pitchFamily="34" charset="-122"/>
                <a:cs typeface="Calibri" pitchFamily="34" charset="-120"/>
              </a:rPr>
              <a:t>Three actions, in your own tools</a:t>
            </a:r>
            <a:endParaRPr lang="en-US" sz="1050" dirty="0"/>
          </a:p>
        </p:txBody>
      </p:sp>
      <p:sp>
        <p:nvSpPr>
          <p:cNvPr id="9" name="Shape 7"/>
          <p:cNvSpPr/>
          <p:nvPr/>
        </p:nvSpPr>
        <p:spPr>
          <a:xfrm>
            <a:off x="941832" y="2834640"/>
            <a:ext cx="91440" cy="91440"/>
          </a:xfrm>
          <a:prstGeom prst="ellipse">
            <a:avLst/>
          </a:prstGeom>
          <a:solidFill>
            <a:srgbClr val="00915A"/>
          </a:solidFill>
          <a:ln/>
        </p:spPr>
      </p:sp>
      <p:sp>
        <p:nvSpPr>
          <p:cNvPr id="10" name="Text 8"/>
          <p:cNvSpPr/>
          <p:nvPr/>
        </p:nvSpPr>
        <p:spPr>
          <a:xfrm>
            <a:off x="1124712" y="2660904"/>
            <a:ext cx="2718511" cy="512064"/>
          </a:xfrm>
          <a:prstGeom prst="rect">
            <a:avLst/>
          </a:prstGeom>
          <a:noFill/>
          <a:ln/>
        </p:spPr>
        <p:txBody>
          <a:bodyPr wrap="square" lIns="0" tIns="0" rIns="0" bIns="0" rtlCol="0" anchor="ctr"/>
          <a:lstStyle/>
          <a:p>
            <a:pPr indent="0" marL="0">
              <a:buNone/>
            </a:pPr>
            <a:r>
              <a:rPr lang="en-US" sz="1050" dirty="0">
                <a:solidFill>
                  <a:srgbClr val="16302A"/>
                </a:solidFill>
                <a:latin typeface="Calibri" pitchFamily="34" charset="0"/>
                <a:ea typeface="Calibri" pitchFamily="34" charset="-122"/>
                <a:cs typeface="Calibri" pitchFamily="34" charset="-120"/>
              </a:rPr>
              <a:t>Create the project in the DevOps portal.</a:t>
            </a:r>
            <a:endParaRPr lang="en-US" sz="1050" dirty="0"/>
          </a:p>
        </p:txBody>
      </p:sp>
      <p:sp>
        <p:nvSpPr>
          <p:cNvPr id="11" name="Shape 9"/>
          <p:cNvSpPr/>
          <p:nvPr/>
        </p:nvSpPr>
        <p:spPr>
          <a:xfrm>
            <a:off x="941832" y="3383280"/>
            <a:ext cx="91440" cy="91440"/>
          </a:xfrm>
          <a:prstGeom prst="ellipse">
            <a:avLst/>
          </a:prstGeom>
          <a:solidFill>
            <a:srgbClr val="00915A"/>
          </a:solidFill>
          <a:ln/>
        </p:spPr>
      </p:sp>
      <p:sp>
        <p:nvSpPr>
          <p:cNvPr id="12" name="Text 10"/>
          <p:cNvSpPr/>
          <p:nvPr/>
        </p:nvSpPr>
        <p:spPr>
          <a:xfrm>
            <a:off x="1124712" y="3209544"/>
            <a:ext cx="2718511" cy="512064"/>
          </a:xfrm>
          <a:prstGeom prst="rect">
            <a:avLst/>
          </a:prstGeom>
          <a:noFill/>
          <a:ln/>
        </p:spPr>
        <p:txBody>
          <a:bodyPr wrap="square" lIns="0" tIns="0" rIns="0" bIns="0" rtlCol="0" anchor="ctr"/>
          <a:lstStyle/>
          <a:p>
            <a:pPr indent="0" marL="0">
              <a:buNone/>
            </a:pPr>
            <a:r>
              <a:rPr lang="en-US" sz="1050" dirty="0">
                <a:solidFill>
                  <a:srgbClr val="16302A"/>
                </a:solidFill>
                <a:latin typeface="Calibri" pitchFamily="34" charset="0"/>
                <a:ea typeface="Calibri" pitchFamily="34" charset="-122"/>
                <a:cs typeface="Calibri" pitchFamily="34" charset="-120"/>
              </a:rPr>
              <a:t>Add the MIGRATION link on the source project.</a:t>
            </a:r>
            <a:endParaRPr lang="en-US" sz="1050" dirty="0"/>
          </a:p>
        </p:txBody>
      </p:sp>
      <p:sp>
        <p:nvSpPr>
          <p:cNvPr id="13" name="Shape 11"/>
          <p:cNvSpPr/>
          <p:nvPr/>
        </p:nvSpPr>
        <p:spPr>
          <a:xfrm>
            <a:off x="941832" y="3931920"/>
            <a:ext cx="91440" cy="91440"/>
          </a:xfrm>
          <a:prstGeom prst="ellipse">
            <a:avLst/>
          </a:prstGeom>
          <a:solidFill>
            <a:srgbClr val="00915A"/>
          </a:solidFill>
          <a:ln/>
        </p:spPr>
      </p:sp>
      <p:sp>
        <p:nvSpPr>
          <p:cNvPr id="14" name="Text 12"/>
          <p:cNvSpPr/>
          <p:nvPr/>
        </p:nvSpPr>
        <p:spPr>
          <a:xfrm>
            <a:off x="1124712" y="3758184"/>
            <a:ext cx="2718511" cy="512064"/>
          </a:xfrm>
          <a:prstGeom prst="rect">
            <a:avLst/>
          </a:prstGeom>
          <a:noFill/>
          <a:ln/>
        </p:spPr>
        <p:txBody>
          <a:bodyPr wrap="square" lIns="0" tIns="0" rIns="0" bIns="0" rtlCol="0" anchor="ctr"/>
          <a:lstStyle/>
          <a:p>
            <a:pPr indent="0" marL="0">
              <a:buNone/>
            </a:pPr>
            <a:r>
              <a:rPr lang="en-US" sz="1050" dirty="0">
                <a:solidFill>
                  <a:srgbClr val="16302A"/>
                </a:solidFill>
                <a:latin typeface="Calibri" pitchFamily="34" charset="0"/>
                <a:ea typeface="Calibri" pitchFamily="34" charset="-122"/>
                <a:cs typeface="Calibri" pitchFamily="34" charset="-120"/>
              </a:rPr>
              <a:t>Launch the export from the SonarQube UI.</a:t>
            </a:r>
            <a:endParaRPr lang="en-US" sz="1050" dirty="0"/>
          </a:p>
        </p:txBody>
      </p:sp>
      <p:sp>
        <p:nvSpPr>
          <p:cNvPr id="15" name="Shape 13"/>
          <p:cNvSpPr/>
          <p:nvPr/>
        </p:nvSpPr>
        <p:spPr>
          <a:xfrm>
            <a:off x="941832" y="4480560"/>
            <a:ext cx="91440" cy="91440"/>
          </a:xfrm>
          <a:prstGeom prst="ellipse">
            <a:avLst/>
          </a:prstGeom>
          <a:solidFill>
            <a:srgbClr val="00915A"/>
          </a:solidFill>
          <a:ln/>
        </p:spPr>
      </p:sp>
      <p:sp>
        <p:nvSpPr>
          <p:cNvPr id="16" name="Text 14"/>
          <p:cNvSpPr/>
          <p:nvPr/>
        </p:nvSpPr>
        <p:spPr>
          <a:xfrm>
            <a:off x="1124712" y="4306824"/>
            <a:ext cx="2718511" cy="512064"/>
          </a:xfrm>
          <a:prstGeom prst="rect">
            <a:avLst/>
          </a:prstGeom>
          <a:noFill/>
          <a:ln/>
        </p:spPr>
        <p:txBody>
          <a:bodyPr wrap="square" lIns="0" tIns="0" rIns="0" bIns="0" rtlCol="0" anchor="ctr"/>
          <a:lstStyle/>
          <a:p>
            <a:pPr indent="0" marL="0">
              <a:buNone/>
            </a:pPr>
            <a:r>
              <a:rPr lang="en-US" sz="1050" dirty="0">
                <a:solidFill>
                  <a:srgbClr val="16302A"/>
                </a:solidFill>
                <a:latin typeface="Calibri" pitchFamily="34" charset="0"/>
                <a:ea typeface="Calibri" pitchFamily="34" charset="-122"/>
                <a:cs typeface="Calibri" pitchFamily="34" charset="-120"/>
              </a:rPr>
              <a:t>Afterwards: update the pipeline and re-bind SonarLint.</a:t>
            </a:r>
            <a:endParaRPr lang="en-US" sz="1050" dirty="0"/>
          </a:p>
        </p:txBody>
      </p:sp>
      <p:sp>
        <p:nvSpPr>
          <p:cNvPr id="17" name="Shape 15"/>
          <p:cNvSpPr/>
          <p:nvPr/>
        </p:nvSpPr>
        <p:spPr>
          <a:xfrm>
            <a:off x="4373575" y="1691640"/>
            <a:ext cx="3413455" cy="3246120"/>
          </a:xfrm>
          <a:prstGeom prst="roundRect">
            <a:avLst>
              <a:gd name="adj" fmla="val 1972"/>
            </a:avLst>
          </a:prstGeom>
          <a:solidFill>
            <a:srgbClr val="00382B"/>
          </a:solidFill>
          <a:ln w="12700">
            <a:solidFill>
              <a:srgbClr val="00382B"/>
            </a:solidFill>
            <a:prstDash val="solid"/>
          </a:ln>
        </p:spPr>
      </p:sp>
      <p:sp>
        <p:nvSpPr>
          <p:cNvPr id="18" name="Shape 16"/>
          <p:cNvSpPr/>
          <p:nvPr/>
        </p:nvSpPr>
        <p:spPr>
          <a:xfrm>
            <a:off x="4611319" y="1911096"/>
            <a:ext cx="310896" cy="310896"/>
          </a:xfrm>
          <a:prstGeom prst="ellipse">
            <a:avLst/>
          </a:prstGeom>
          <a:solidFill>
            <a:srgbClr val="5FD3A0"/>
          </a:solidFill>
          <a:ln/>
        </p:spPr>
      </p:sp>
      <p:sp>
        <p:nvSpPr>
          <p:cNvPr id="19" name="Text 17"/>
          <p:cNvSpPr/>
          <p:nvPr/>
        </p:nvSpPr>
        <p:spPr>
          <a:xfrm>
            <a:off x="4611319" y="1911096"/>
            <a:ext cx="310896" cy="310896"/>
          </a:xfrm>
          <a:prstGeom prst="rect">
            <a:avLst/>
          </a:prstGeom>
          <a:noFill/>
          <a:ln/>
        </p:spPr>
        <p:txBody>
          <a:bodyPr wrap="square" lIns="0" tIns="0" rIns="0" bIns="0" rtlCol="0" anchor="ctr"/>
          <a:lstStyle/>
          <a:p>
            <a:pPr algn="ctr" indent="0" marL="0">
              <a:buNone/>
            </a:pPr>
            <a:r>
              <a:rPr lang="en-US" sz="1200" b="1" dirty="0">
                <a:solidFill>
                  <a:srgbClr val="00382B"/>
                </a:solidFill>
                <a:latin typeface="Calibri" pitchFamily="34" charset="0"/>
                <a:ea typeface="Calibri" pitchFamily="34" charset="-122"/>
                <a:cs typeface="Calibri" pitchFamily="34" charset="-120"/>
              </a:rPr>
              <a:t>2</a:t>
            </a:r>
            <a:endParaRPr lang="en-US" sz="1200" dirty="0"/>
          </a:p>
        </p:txBody>
      </p:sp>
      <p:sp>
        <p:nvSpPr>
          <p:cNvPr id="20" name="Text 18"/>
          <p:cNvSpPr/>
          <p:nvPr/>
        </p:nvSpPr>
        <p:spPr>
          <a:xfrm>
            <a:off x="5013655" y="1911096"/>
            <a:ext cx="2553919" cy="310896"/>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Automated</a:t>
            </a:r>
            <a:endParaRPr lang="en-US" sz="1450" dirty="0"/>
          </a:p>
        </p:txBody>
      </p:sp>
      <p:sp>
        <p:nvSpPr>
          <p:cNvPr id="21" name="Text 19"/>
          <p:cNvSpPr/>
          <p:nvPr/>
        </p:nvSpPr>
        <p:spPr>
          <a:xfrm>
            <a:off x="4611319" y="2295144"/>
            <a:ext cx="2937967" cy="256032"/>
          </a:xfrm>
          <a:prstGeom prst="rect">
            <a:avLst/>
          </a:prstGeom>
          <a:noFill/>
          <a:ln/>
        </p:spPr>
        <p:txBody>
          <a:bodyPr wrap="square" lIns="0" tIns="0" rIns="0" bIns="0" rtlCol="0" anchor="ctr"/>
          <a:lstStyle/>
          <a:p>
            <a:pPr indent="0" marL="0">
              <a:buNone/>
            </a:pPr>
            <a:r>
              <a:rPr lang="en-US" sz="1050" i="1" dirty="0">
                <a:solidFill>
                  <a:srgbClr val="5FD3A0"/>
                </a:solidFill>
                <a:latin typeface="Calibri" pitchFamily="34" charset="0"/>
                <a:ea typeface="Calibri" pitchFamily="34" charset="-122"/>
                <a:cs typeface="Calibri" pitchFamily="34" charset="-120"/>
              </a:rPr>
              <a:t>No one touches this</a:t>
            </a:r>
            <a:endParaRPr lang="en-US" sz="1050" dirty="0"/>
          </a:p>
        </p:txBody>
      </p:sp>
      <p:sp>
        <p:nvSpPr>
          <p:cNvPr id="22" name="Shape 20"/>
          <p:cNvSpPr/>
          <p:nvPr/>
        </p:nvSpPr>
        <p:spPr>
          <a:xfrm>
            <a:off x="4629607" y="2834640"/>
            <a:ext cx="91440" cy="91440"/>
          </a:xfrm>
          <a:prstGeom prst="ellipse">
            <a:avLst/>
          </a:prstGeom>
          <a:solidFill>
            <a:srgbClr val="5FD3A0"/>
          </a:solidFill>
          <a:ln/>
        </p:spPr>
      </p:sp>
      <p:sp>
        <p:nvSpPr>
          <p:cNvPr id="23" name="Text 21"/>
          <p:cNvSpPr/>
          <p:nvPr/>
        </p:nvSpPr>
        <p:spPr>
          <a:xfrm>
            <a:off x="4812487" y="2660904"/>
            <a:ext cx="2718511" cy="512064"/>
          </a:xfrm>
          <a:prstGeom prst="rect">
            <a:avLst/>
          </a:prstGeom>
          <a:noFill/>
          <a:ln/>
        </p:spPr>
        <p:txBody>
          <a:bodyPr wrap="square" lIns="0" tIns="0" rIns="0" bIns="0" rtlCol="0" anchor="ctr"/>
          <a:lstStyle/>
          <a:p>
            <a:pPr indent="0" marL="0">
              <a:buNone/>
            </a:pPr>
            <a:r>
              <a:rPr lang="en-US" sz="1050" dirty="0">
                <a:solidFill>
                  <a:srgbClr val="BFDDCE"/>
                </a:solidFill>
                <a:latin typeface="Calibri" pitchFamily="34" charset="0"/>
                <a:ea typeface="Calibri" pitchFamily="34" charset="-122"/>
                <a:cs typeface="Calibri" pitchFamily="34" charset="-120"/>
              </a:rPr>
              <a:t>Publish the archive and the manifest.</a:t>
            </a:r>
            <a:endParaRPr lang="en-US" sz="1050" dirty="0"/>
          </a:p>
        </p:txBody>
      </p:sp>
      <p:sp>
        <p:nvSpPr>
          <p:cNvPr id="24" name="Shape 22"/>
          <p:cNvSpPr/>
          <p:nvPr/>
        </p:nvSpPr>
        <p:spPr>
          <a:xfrm>
            <a:off x="4629607" y="3383280"/>
            <a:ext cx="91440" cy="91440"/>
          </a:xfrm>
          <a:prstGeom prst="ellipse">
            <a:avLst/>
          </a:prstGeom>
          <a:solidFill>
            <a:srgbClr val="5FD3A0"/>
          </a:solidFill>
          <a:ln/>
        </p:spPr>
      </p:sp>
      <p:sp>
        <p:nvSpPr>
          <p:cNvPr id="25" name="Text 23"/>
          <p:cNvSpPr/>
          <p:nvPr/>
        </p:nvSpPr>
        <p:spPr>
          <a:xfrm>
            <a:off x="4812487" y="3209544"/>
            <a:ext cx="2718511" cy="512064"/>
          </a:xfrm>
          <a:prstGeom prst="rect">
            <a:avLst/>
          </a:prstGeom>
          <a:noFill/>
          <a:ln/>
        </p:spPr>
        <p:txBody>
          <a:bodyPr wrap="square" lIns="0" tIns="0" rIns="0" bIns="0" rtlCol="0" anchor="ctr"/>
          <a:lstStyle/>
          <a:p>
            <a:pPr indent="0" marL="0">
              <a:buNone/>
            </a:pPr>
            <a:r>
              <a:rPr lang="en-US" sz="1050" dirty="0">
                <a:solidFill>
                  <a:srgbClr val="BFDDCE"/>
                </a:solidFill>
                <a:latin typeface="Calibri" pitchFamily="34" charset="0"/>
                <a:ea typeface="Calibri" pitchFamily="34" charset="-122"/>
                <a:cs typeface="Calibri" pitchFamily="34" charset="-120"/>
              </a:rPr>
              <a:t>Run all checks on both instances.</a:t>
            </a:r>
            <a:endParaRPr lang="en-US" sz="1050" dirty="0"/>
          </a:p>
        </p:txBody>
      </p:sp>
      <p:sp>
        <p:nvSpPr>
          <p:cNvPr id="26" name="Shape 24"/>
          <p:cNvSpPr/>
          <p:nvPr/>
        </p:nvSpPr>
        <p:spPr>
          <a:xfrm>
            <a:off x="4629607" y="3931920"/>
            <a:ext cx="91440" cy="91440"/>
          </a:xfrm>
          <a:prstGeom prst="ellipse">
            <a:avLst/>
          </a:prstGeom>
          <a:solidFill>
            <a:srgbClr val="5FD3A0"/>
          </a:solidFill>
          <a:ln/>
        </p:spPr>
      </p:sp>
      <p:sp>
        <p:nvSpPr>
          <p:cNvPr id="27" name="Text 25"/>
          <p:cNvSpPr/>
          <p:nvPr/>
        </p:nvSpPr>
        <p:spPr>
          <a:xfrm>
            <a:off x="4812487" y="3758184"/>
            <a:ext cx="2718511" cy="512064"/>
          </a:xfrm>
          <a:prstGeom prst="rect">
            <a:avLst/>
          </a:prstGeom>
          <a:noFill/>
          <a:ln/>
        </p:spPr>
        <p:txBody>
          <a:bodyPr wrap="square" lIns="0" tIns="0" rIns="0" bIns="0" rtlCol="0" anchor="ctr"/>
          <a:lstStyle/>
          <a:p>
            <a:pPr indent="0" marL="0">
              <a:buNone/>
            </a:pPr>
            <a:r>
              <a:rPr lang="en-US" sz="1050" dirty="0">
                <a:solidFill>
                  <a:srgbClr val="BFDDCE"/>
                </a:solidFill>
                <a:latin typeface="Calibri" pitchFamily="34" charset="0"/>
                <a:ea typeface="Calibri" pitchFamily="34" charset="-122"/>
                <a:cs typeface="Calibri" pitchFamily="34" charset="-120"/>
              </a:rPr>
              <a:t>Import, delete the empty project, rename.</a:t>
            </a:r>
            <a:endParaRPr lang="en-US" sz="1050" dirty="0"/>
          </a:p>
        </p:txBody>
      </p:sp>
      <p:sp>
        <p:nvSpPr>
          <p:cNvPr id="28" name="Shape 26"/>
          <p:cNvSpPr/>
          <p:nvPr/>
        </p:nvSpPr>
        <p:spPr>
          <a:xfrm>
            <a:off x="4629607" y="4480560"/>
            <a:ext cx="91440" cy="91440"/>
          </a:xfrm>
          <a:prstGeom prst="ellipse">
            <a:avLst/>
          </a:prstGeom>
          <a:solidFill>
            <a:srgbClr val="5FD3A0"/>
          </a:solidFill>
          <a:ln/>
        </p:spPr>
      </p:sp>
      <p:sp>
        <p:nvSpPr>
          <p:cNvPr id="29" name="Text 27"/>
          <p:cNvSpPr/>
          <p:nvPr/>
        </p:nvSpPr>
        <p:spPr>
          <a:xfrm>
            <a:off x="4812487" y="4306824"/>
            <a:ext cx="2718511" cy="512064"/>
          </a:xfrm>
          <a:prstGeom prst="rect">
            <a:avLst/>
          </a:prstGeom>
          <a:noFill/>
          <a:ln/>
        </p:spPr>
        <p:txBody>
          <a:bodyPr wrap="square" lIns="0" tIns="0" rIns="0" bIns="0" rtlCol="0" anchor="ctr"/>
          <a:lstStyle/>
          <a:p>
            <a:pPr indent="0" marL="0">
              <a:buNone/>
            </a:pPr>
            <a:r>
              <a:rPr lang="en-US" sz="1050" dirty="0">
                <a:solidFill>
                  <a:srgbClr val="BFDDCE"/>
                </a:solidFill>
                <a:latin typeface="Calibri" pitchFamily="34" charset="0"/>
                <a:ea typeface="Calibri" pitchFamily="34" charset="-122"/>
                <a:cs typeface="Calibri" pitchFamily="34" charset="-120"/>
              </a:rPr>
              <a:t>Apply the permission template and the Quality Gate.</a:t>
            </a:r>
            <a:endParaRPr lang="en-US" sz="1050" dirty="0"/>
          </a:p>
        </p:txBody>
      </p:sp>
      <p:sp>
        <p:nvSpPr>
          <p:cNvPr id="30" name="Shape 28"/>
          <p:cNvSpPr/>
          <p:nvPr/>
        </p:nvSpPr>
        <p:spPr>
          <a:xfrm>
            <a:off x="8061350" y="1691640"/>
            <a:ext cx="3413455" cy="3246120"/>
          </a:xfrm>
          <a:prstGeom prst="roundRect">
            <a:avLst>
              <a:gd name="adj" fmla="val 1972"/>
            </a:avLst>
          </a:prstGeom>
          <a:solidFill>
            <a:srgbClr val="EAF4EF"/>
          </a:solidFill>
          <a:ln w="12700">
            <a:solidFill>
              <a:srgbClr val="EAF4EF"/>
            </a:solidFill>
            <a:prstDash val="solid"/>
          </a:ln>
        </p:spPr>
      </p:sp>
      <p:sp>
        <p:nvSpPr>
          <p:cNvPr id="31" name="Shape 29"/>
          <p:cNvSpPr/>
          <p:nvPr/>
        </p:nvSpPr>
        <p:spPr>
          <a:xfrm>
            <a:off x="8299094" y="1911096"/>
            <a:ext cx="310896" cy="310896"/>
          </a:xfrm>
          <a:prstGeom prst="ellipse">
            <a:avLst/>
          </a:prstGeom>
          <a:solidFill>
            <a:srgbClr val="C98A1E"/>
          </a:solidFill>
          <a:ln/>
        </p:spPr>
      </p:sp>
      <p:sp>
        <p:nvSpPr>
          <p:cNvPr id="32" name="Text 30"/>
          <p:cNvSpPr/>
          <p:nvPr/>
        </p:nvSpPr>
        <p:spPr>
          <a:xfrm>
            <a:off x="8299094" y="191109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3" name="Text 31"/>
          <p:cNvSpPr/>
          <p:nvPr/>
        </p:nvSpPr>
        <p:spPr>
          <a:xfrm>
            <a:off x="8701430" y="1911096"/>
            <a:ext cx="2553919" cy="310896"/>
          </a:xfrm>
          <a:prstGeom prst="rect">
            <a:avLst/>
          </a:prstGeom>
          <a:noFill/>
          <a:ln/>
        </p:spPr>
        <p:txBody>
          <a:bodyPr wrap="square" lIns="0" tIns="0" rIns="0" bIns="0" rtlCol="0" anchor="ctr"/>
          <a:lstStyle/>
          <a:p>
            <a:pPr indent="0" marL="0">
              <a:buNone/>
            </a:pPr>
            <a:r>
              <a:rPr lang="en-US" sz="1450" b="1" dirty="0">
                <a:solidFill>
                  <a:srgbClr val="00382B"/>
                </a:solidFill>
                <a:latin typeface="Cambria" pitchFamily="34" charset="0"/>
                <a:ea typeface="Cambria" pitchFamily="34" charset="-122"/>
                <a:cs typeface="Cambria" pitchFamily="34" charset="-120"/>
              </a:rPr>
              <a:t>Us, by exception</a:t>
            </a:r>
            <a:endParaRPr lang="en-US" sz="1450" dirty="0"/>
          </a:p>
        </p:txBody>
      </p:sp>
      <p:sp>
        <p:nvSpPr>
          <p:cNvPr id="34" name="Text 32"/>
          <p:cNvSpPr/>
          <p:nvPr/>
        </p:nvSpPr>
        <p:spPr>
          <a:xfrm>
            <a:off x="8299094" y="2295144"/>
            <a:ext cx="2937967" cy="256032"/>
          </a:xfrm>
          <a:prstGeom prst="rect">
            <a:avLst/>
          </a:prstGeom>
          <a:noFill/>
          <a:ln/>
        </p:spPr>
        <p:txBody>
          <a:bodyPr wrap="square" lIns="0" tIns="0" rIns="0" bIns="0" rtlCol="0" anchor="ctr"/>
          <a:lstStyle/>
          <a:p>
            <a:pPr indent="0" marL="0">
              <a:buNone/>
            </a:pPr>
            <a:r>
              <a:rPr lang="en-US" sz="1050" i="1" dirty="0">
                <a:solidFill>
                  <a:srgbClr val="5B7268"/>
                </a:solidFill>
                <a:latin typeface="Calibri" pitchFamily="34" charset="0"/>
                <a:ea typeface="Calibri" pitchFamily="34" charset="-122"/>
                <a:cs typeface="Calibri" pitchFamily="34" charset="-120"/>
              </a:rPr>
              <a:t>Only when something is off</a:t>
            </a:r>
            <a:endParaRPr lang="en-US" sz="1050" dirty="0"/>
          </a:p>
        </p:txBody>
      </p:sp>
      <p:sp>
        <p:nvSpPr>
          <p:cNvPr id="35" name="Shape 33"/>
          <p:cNvSpPr/>
          <p:nvPr/>
        </p:nvSpPr>
        <p:spPr>
          <a:xfrm>
            <a:off x="8317382" y="2834640"/>
            <a:ext cx="91440" cy="91440"/>
          </a:xfrm>
          <a:prstGeom prst="ellipse">
            <a:avLst/>
          </a:prstGeom>
          <a:solidFill>
            <a:srgbClr val="C98A1E"/>
          </a:solidFill>
          <a:ln/>
        </p:spPr>
      </p:sp>
      <p:sp>
        <p:nvSpPr>
          <p:cNvPr id="36" name="Text 34"/>
          <p:cNvSpPr/>
          <p:nvPr/>
        </p:nvSpPr>
        <p:spPr>
          <a:xfrm>
            <a:off x="8500262" y="2660904"/>
            <a:ext cx="2718511" cy="512064"/>
          </a:xfrm>
          <a:prstGeom prst="rect">
            <a:avLst/>
          </a:prstGeom>
          <a:noFill/>
          <a:ln/>
        </p:spPr>
        <p:txBody>
          <a:bodyPr wrap="square" lIns="0" tIns="0" rIns="0" bIns="0" rtlCol="0" anchor="ctr"/>
          <a:lstStyle/>
          <a:p>
            <a:pPr indent="0" marL="0">
              <a:buNone/>
            </a:pPr>
            <a:r>
              <a:rPr lang="en-US" sz="1050" dirty="0">
                <a:solidFill>
                  <a:srgbClr val="16302A"/>
                </a:solidFill>
                <a:latin typeface="Calibri" pitchFamily="34" charset="0"/>
                <a:ea typeface="Calibri" pitchFamily="34" charset="-122"/>
                <a:cs typeface="Calibri" pitchFamily="34" charset="-120"/>
              </a:rPr>
              <a:t>A check refuses a project.</a:t>
            </a:r>
            <a:endParaRPr lang="en-US" sz="1050" dirty="0"/>
          </a:p>
        </p:txBody>
      </p:sp>
      <p:sp>
        <p:nvSpPr>
          <p:cNvPr id="37" name="Shape 35"/>
          <p:cNvSpPr/>
          <p:nvPr/>
        </p:nvSpPr>
        <p:spPr>
          <a:xfrm>
            <a:off x="8317382" y="3383280"/>
            <a:ext cx="91440" cy="91440"/>
          </a:xfrm>
          <a:prstGeom prst="ellipse">
            <a:avLst/>
          </a:prstGeom>
          <a:solidFill>
            <a:srgbClr val="C98A1E"/>
          </a:solidFill>
          <a:ln/>
        </p:spPr>
      </p:sp>
      <p:sp>
        <p:nvSpPr>
          <p:cNvPr id="38" name="Text 36"/>
          <p:cNvSpPr/>
          <p:nvPr/>
        </p:nvSpPr>
        <p:spPr>
          <a:xfrm>
            <a:off x="8500262" y="3209544"/>
            <a:ext cx="2718511" cy="512064"/>
          </a:xfrm>
          <a:prstGeom prst="rect">
            <a:avLst/>
          </a:prstGeom>
          <a:noFill/>
          <a:ln/>
        </p:spPr>
        <p:txBody>
          <a:bodyPr wrap="square" lIns="0" tIns="0" rIns="0" bIns="0" rtlCol="0" anchor="ctr"/>
          <a:lstStyle/>
          <a:p>
            <a:pPr indent="0" marL="0">
              <a:buNone/>
            </a:pPr>
            <a:r>
              <a:rPr lang="en-US" sz="1050" dirty="0">
                <a:solidFill>
                  <a:srgbClr val="16302A"/>
                </a:solidFill>
                <a:latin typeface="Calibri" pitchFamily="34" charset="0"/>
                <a:ea typeface="Calibri" pitchFamily="34" charset="-122"/>
                <a:cs typeface="Calibri" pitchFamily="34" charset="-120"/>
              </a:rPr>
              <a:t>A plugin or a version does not match.</a:t>
            </a:r>
            <a:endParaRPr lang="en-US" sz="1050" dirty="0"/>
          </a:p>
        </p:txBody>
      </p:sp>
      <p:sp>
        <p:nvSpPr>
          <p:cNvPr id="39" name="Shape 37"/>
          <p:cNvSpPr/>
          <p:nvPr/>
        </p:nvSpPr>
        <p:spPr>
          <a:xfrm>
            <a:off x="8317382" y="3931920"/>
            <a:ext cx="91440" cy="91440"/>
          </a:xfrm>
          <a:prstGeom prst="ellipse">
            <a:avLst/>
          </a:prstGeom>
          <a:solidFill>
            <a:srgbClr val="C98A1E"/>
          </a:solidFill>
          <a:ln/>
        </p:spPr>
      </p:sp>
      <p:sp>
        <p:nvSpPr>
          <p:cNvPr id="40" name="Text 38"/>
          <p:cNvSpPr/>
          <p:nvPr/>
        </p:nvSpPr>
        <p:spPr>
          <a:xfrm>
            <a:off x="8500262" y="3758184"/>
            <a:ext cx="2718511" cy="512064"/>
          </a:xfrm>
          <a:prstGeom prst="rect">
            <a:avLst/>
          </a:prstGeom>
          <a:noFill/>
          <a:ln/>
        </p:spPr>
        <p:txBody>
          <a:bodyPr wrap="square" lIns="0" tIns="0" rIns="0" bIns="0" rtlCol="0" anchor="ctr"/>
          <a:lstStyle/>
          <a:p>
            <a:pPr indent="0" marL="0">
              <a:buNone/>
            </a:pPr>
            <a:r>
              <a:rPr lang="en-US" sz="1050" dirty="0">
                <a:solidFill>
                  <a:srgbClr val="16302A"/>
                </a:solidFill>
                <a:latin typeface="Calibri" pitchFamily="34" charset="0"/>
                <a:ea typeface="Calibri" pitchFamily="34" charset="-122"/>
                <a:cs typeface="Calibri" pitchFamily="34" charset="-120"/>
              </a:rPr>
              <a:t>Anything that needs a decision rather than a retry.</a:t>
            </a:r>
            <a:endParaRPr lang="en-US" sz="1050" dirty="0"/>
          </a:p>
        </p:txBody>
      </p:sp>
      <p:sp>
        <p:nvSpPr>
          <p:cNvPr id="41" name="Shape 39"/>
          <p:cNvSpPr/>
          <p:nvPr/>
        </p:nvSpPr>
        <p:spPr>
          <a:xfrm>
            <a:off x="685800" y="5138928"/>
            <a:ext cx="10789920" cy="713232"/>
          </a:xfrm>
          <a:prstGeom prst="roundRect">
            <a:avLst>
              <a:gd name="adj" fmla="val 10256"/>
            </a:avLst>
          </a:prstGeom>
          <a:solidFill>
            <a:srgbClr val="E7F4EC"/>
          </a:solidFill>
          <a:ln w="12700">
            <a:solidFill>
              <a:srgbClr val="E7F4EC"/>
            </a:solidFill>
            <a:prstDash val="solid"/>
          </a:ln>
          <a:effectLst>
            <a:outerShdw sx="100000" sy="100000" kx="0" ky="0" algn="bl" rotWithShape="0" blurRad="76200" dist="508" dir="5400000">
              <a:srgbClr val="A9C2B5">
                <a:alpha val="25000"/>
              </a:srgbClr>
            </a:outerShdw>
          </a:effectLst>
        </p:spPr>
      </p:sp>
      <p:sp>
        <p:nvSpPr>
          <p:cNvPr id="42" name="Text 40"/>
          <p:cNvSpPr/>
          <p:nvPr/>
        </p:nvSpPr>
        <p:spPr>
          <a:xfrm>
            <a:off x="960120" y="5285232"/>
            <a:ext cx="10241280" cy="420624"/>
          </a:xfrm>
          <a:prstGeom prst="rect">
            <a:avLst/>
          </a:prstGeom>
          <a:noFill/>
          <a:ln/>
        </p:spPr>
        <p:txBody>
          <a:bodyPr wrap="square" lIns="0" tIns="0" rIns="0" bIns="0" rtlCol="0" anchor="ctr"/>
          <a:lstStyle/>
          <a:p>
            <a:pPr indent="0" marL="0">
              <a:buNone/>
            </a:pPr>
            <a:r>
              <a:rPr lang="en-US" sz="1350" b="1" dirty="0">
                <a:solidFill>
                  <a:srgbClr val="00915A"/>
                </a:solidFill>
                <a:latin typeface="Calibri" pitchFamily="34" charset="0"/>
                <a:ea typeface="Calibri" pitchFamily="34" charset="-122"/>
                <a:cs typeface="Calibri" pitchFamily="34" charset="-120"/>
              </a:rPr>
              <a:t>Your effort per project stays small — and it all happens in tools your teams already use.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789920" cy="640080"/>
          </a:xfrm>
          <a:prstGeom prst="rect">
            <a:avLst/>
          </a:prstGeom>
          <a:noFill/>
          <a:ln/>
        </p:spPr>
        <p:txBody>
          <a:bodyPr wrap="square" lIns="0" tIns="0" rIns="0" bIns="0" rtlCol="0" anchor="ctr"/>
          <a:lstStyle/>
          <a:p>
            <a:pPr indent="0" marL="0">
              <a:buNone/>
            </a:pPr>
            <a:r>
              <a:rPr lang="en-US" sz="3100" b="1" dirty="0">
                <a:solidFill>
                  <a:srgbClr val="00382B"/>
                </a:solidFill>
                <a:latin typeface="Cambria" pitchFamily="34" charset="0"/>
                <a:ea typeface="Cambria" pitchFamily="34" charset="-122"/>
                <a:cs typeface="Cambria" pitchFamily="34" charset="-120"/>
              </a:rPr>
              <a:t>Starting with a POC</a:t>
            </a:r>
            <a:endParaRPr lang="en-US" sz="3100" dirty="0"/>
          </a:p>
        </p:txBody>
      </p:sp>
      <p:sp>
        <p:nvSpPr>
          <p:cNvPr id="3" name="Text 1"/>
          <p:cNvSpPr/>
          <p:nvPr/>
        </p:nvSpPr>
        <p:spPr>
          <a:xfrm>
            <a:off x="685800" y="1060704"/>
            <a:ext cx="10789920" cy="365760"/>
          </a:xfrm>
          <a:prstGeom prst="rect">
            <a:avLst/>
          </a:prstGeom>
          <a:noFill/>
          <a:ln/>
        </p:spPr>
        <p:txBody>
          <a:bodyPr wrap="square" lIns="0" tIns="0" rIns="0" bIns="0" rtlCol="0" anchor="ctr"/>
          <a:lstStyle/>
          <a:p>
            <a:pPr indent="0" marL="0">
              <a:buNone/>
            </a:pPr>
            <a:r>
              <a:rPr lang="en-US" sz="1400" i="1" dirty="0">
                <a:solidFill>
                  <a:srgbClr val="5B7268"/>
                </a:solidFill>
                <a:latin typeface="Calibri" pitchFamily="34" charset="0"/>
                <a:ea typeface="Calibri" pitchFamily="34" charset="-122"/>
                <a:cs typeface="Calibri" pitchFamily="34" charset="-120"/>
              </a:rPr>
              <a:t>Your DevOps team runs it, on a few pilot projects. We prove the procedure before we scale it.</a:t>
            </a:r>
            <a:endParaRPr lang="en-US" sz="1400" dirty="0"/>
          </a:p>
        </p:txBody>
      </p:sp>
      <p:sp>
        <p:nvSpPr>
          <p:cNvPr id="4" name="Shape 2"/>
          <p:cNvSpPr/>
          <p:nvPr/>
        </p:nvSpPr>
        <p:spPr>
          <a:xfrm>
            <a:off x="685800" y="1737360"/>
            <a:ext cx="3383280" cy="457200"/>
          </a:xfrm>
          <a:prstGeom prst="roundRect">
            <a:avLst>
              <a:gd name="adj" fmla="val 10000"/>
            </a:avLst>
          </a:prstGeom>
          <a:solidFill>
            <a:srgbClr val="00382B"/>
          </a:solidFill>
          <a:ln w="12700">
            <a:solidFill>
              <a:srgbClr val="00382B"/>
            </a:solidFill>
            <a:prstDash val="solid"/>
          </a:ln>
        </p:spPr>
      </p:sp>
      <p:sp>
        <p:nvSpPr>
          <p:cNvPr id="5" name="Text 3"/>
          <p:cNvSpPr/>
          <p:nvPr/>
        </p:nvSpPr>
        <p:spPr>
          <a:xfrm>
            <a:off x="914400" y="1737360"/>
            <a:ext cx="2926080" cy="457200"/>
          </a:xfrm>
          <a:prstGeom prst="rect">
            <a:avLst/>
          </a:prstGeom>
          <a:noFill/>
          <a:ln/>
        </p:spPr>
        <p:txBody>
          <a:bodyPr wrap="square" lIns="0" tIns="0" rIns="0" bIns="0" rtlCol="0" anchor="ctr"/>
          <a:lstStyle/>
          <a:p>
            <a:pPr indent="0" marL="0">
              <a:buNone/>
            </a:pPr>
            <a:r>
              <a:rPr lang="en-US" sz="1100" b="1" spc="200" kern="0" dirty="0">
                <a:solidFill>
                  <a:srgbClr val="5FD3A0"/>
                </a:solidFill>
                <a:latin typeface="Calibri" pitchFamily="34" charset="0"/>
                <a:ea typeface="Calibri" pitchFamily="34" charset="-122"/>
                <a:cs typeface="Calibri" pitchFamily="34" charset="-120"/>
              </a:rPr>
              <a:t>THE POC</a:t>
            </a:r>
            <a:endParaRPr lang="en-US" sz="1100" dirty="0"/>
          </a:p>
        </p:txBody>
      </p:sp>
      <p:sp>
        <p:nvSpPr>
          <p:cNvPr id="6" name="Shape 4"/>
          <p:cNvSpPr/>
          <p:nvPr/>
        </p:nvSpPr>
        <p:spPr>
          <a:xfrm>
            <a:off x="685800" y="2286000"/>
            <a:ext cx="3383280" cy="2743200"/>
          </a:xfrm>
          <a:prstGeom prst="roundRect">
            <a:avLst>
              <a:gd name="adj" fmla="val 2667"/>
            </a:avLst>
          </a:prstGeom>
          <a:solidFill>
            <a:srgbClr val="EAF4EF"/>
          </a:solidFill>
          <a:ln w="12700">
            <a:solidFill>
              <a:srgbClr val="EAF4EF"/>
            </a:solidFill>
            <a:prstDash val="solid"/>
          </a:ln>
          <a:effectLst>
            <a:outerShdw sx="100000" sy="100000" kx="0" ky="0" algn="bl" rotWithShape="0" blurRad="76200" dist="508" dir="5400000">
              <a:srgbClr val="A9C2B5">
                <a:alpha val="25000"/>
              </a:srgbClr>
            </a:outerShdw>
          </a:effectLst>
        </p:spPr>
      </p:sp>
      <p:sp>
        <p:nvSpPr>
          <p:cNvPr id="7" name="Text 5"/>
          <p:cNvSpPr/>
          <p:nvPr/>
        </p:nvSpPr>
        <p:spPr>
          <a:xfrm>
            <a:off x="960120" y="2450592"/>
            <a:ext cx="2834640" cy="566928"/>
          </a:xfrm>
          <a:prstGeom prst="rect">
            <a:avLst/>
          </a:prstGeom>
          <a:noFill/>
          <a:ln/>
        </p:spPr>
        <p:txBody>
          <a:bodyPr wrap="square" lIns="0" tIns="0" rIns="0" bIns="0" rtlCol="0" anchor="ctr"/>
          <a:lstStyle/>
          <a:p>
            <a:pPr indent="0" marL="0">
              <a:buNone/>
            </a:pPr>
            <a:r>
              <a:rPr lang="en-US" sz="1550" b="1" dirty="0">
                <a:solidFill>
                  <a:srgbClr val="00382B"/>
                </a:solidFill>
                <a:latin typeface="Cambria" pitchFamily="34" charset="0"/>
                <a:ea typeface="Cambria" pitchFamily="34" charset="-122"/>
                <a:cs typeface="Cambria" pitchFamily="34" charset="-120"/>
              </a:rPr>
              <a:t>A few pilot projects, end to end</a:t>
            </a:r>
            <a:endParaRPr lang="en-US" sz="1550" dirty="0"/>
          </a:p>
        </p:txBody>
      </p:sp>
      <p:sp>
        <p:nvSpPr>
          <p:cNvPr id="8" name="Text 6"/>
          <p:cNvSpPr/>
          <p:nvPr/>
        </p:nvSpPr>
        <p:spPr>
          <a:xfrm>
            <a:off x="960120" y="3090672"/>
            <a:ext cx="2834640" cy="182880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The pilot repositories move to our GitLab first.</a:t>
            </a:r>
            <a:endParaRPr lang="en-US" sz="1150" dirty="0"/>
          </a:p>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Your DevOps team drives it, we run the import side.</a:t>
            </a:r>
            <a:endParaRPr lang="en-US" sz="1150" dirty="0"/>
          </a:p>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Every step by hand — that is the point.</a:t>
            </a:r>
            <a:endParaRPr lang="en-US" sz="1150" dirty="0"/>
          </a:p>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We measure how long one project really takes.</a:t>
            </a:r>
            <a:endParaRPr lang="en-US" sz="1150" dirty="0"/>
          </a:p>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We check the portal behaviour after the import.</a:t>
            </a:r>
            <a:endParaRPr lang="en-US" sz="1150" dirty="0"/>
          </a:p>
        </p:txBody>
      </p:sp>
      <p:sp>
        <p:nvSpPr>
          <p:cNvPr id="9" name="Shape 7"/>
          <p:cNvSpPr/>
          <p:nvPr/>
        </p:nvSpPr>
        <p:spPr>
          <a:xfrm>
            <a:off x="4389120" y="1737360"/>
            <a:ext cx="3383280" cy="457200"/>
          </a:xfrm>
          <a:prstGeom prst="roundRect">
            <a:avLst>
              <a:gd name="adj" fmla="val 10000"/>
            </a:avLst>
          </a:prstGeom>
          <a:solidFill>
            <a:srgbClr val="C98A1E"/>
          </a:solidFill>
          <a:ln w="12700">
            <a:solidFill>
              <a:srgbClr val="C98A1E"/>
            </a:solidFill>
            <a:prstDash val="solid"/>
          </a:ln>
        </p:spPr>
      </p:sp>
      <p:sp>
        <p:nvSpPr>
          <p:cNvPr id="10" name="Text 8"/>
          <p:cNvSpPr/>
          <p:nvPr/>
        </p:nvSpPr>
        <p:spPr>
          <a:xfrm>
            <a:off x="4617720" y="1737360"/>
            <a:ext cx="2926080" cy="45720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ALWAYS MANUAL</a:t>
            </a:r>
            <a:endParaRPr lang="en-US" sz="1100" dirty="0"/>
          </a:p>
        </p:txBody>
      </p:sp>
      <p:sp>
        <p:nvSpPr>
          <p:cNvPr id="11" name="Shape 9"/>
          <p:cNvSpPr/>
          <p:nvPr/>
        </p:nvSpPr>
        <p:spPr>
          <a:xfrm>
            <a:off x="4389120" y="2286000"/>
            <a:ext cx="3383280" cy="2743200"/>
          </a:xfrm>
          <a:prstGeom prst="roundRect">
            <a:avLst>
              <a:gd name="adj" fmla="val 2667"/>
            </a:avLst>
          </a:prstGeom>
          <a:solidFill>
            <a:srgbClr val="F3F8F5"/>
          </a:solidFill>
          <a:ln w="12700">
            <a:solidFill>
              <a:srgbClr val="F3F8F5"/>
            </a:solidFill>
            <a:prstDash val="solid"/>
          </a:ln>
          <a:effectLst>
            <a:outerShdw sx="100000" sy="100000" kx="0" ky="0" algn="bl" rotWithShape="0" blurRad="76200" dist="508" dir="5400000">
              <a:srgbClr val="A9C2B5">
                <a:alpha val="25000"/>
              </a:srgbClr>
            </a:outerShdw>
          </a:effectLst>
        </p:spPr>
      </p:sp>
      <p:sp>
        <p:nvSpPr>
          <p:cNvPr id="12" name="Text 10"/>
          <p:cNvSpPr/>
          <p:nvPr/>
        </p:nvSpPr>
        <p:spPr>
          <a:xfrm>
            <a:off x="4663440" y="2450592"/>
            <a:ext cx="2834640" cy="566928"/>
          </a:xfrm>
          <a:prstGeom prst="rect">
            <a:avLst/>
          </a:prstGeom>
          <a:noFill/>
          <a:ln/>
        </p:spPr>
        <p:txBody>
          <a:bodyPr wrap="square" lIns="0" tIns="0" rIns="0" bIns="0" rtlCol="0" anchor="ctr"/>
          <a:lstStyle/>
          <a:p>
            <a:pPr indent="0" marL="0">
              <a:buNone/>
            </a:pPr>
            <a:r>
              <a:rPr lang="en-US" sz="1550" b="1" dirty="0">
                <a:solidFill>
                  <a:srgbClr val="00382B"/>
                </a:solidFill>
                <a:latin typeface="Cambria" pitchFamily="34" charset="0"/>
                <a:ea typeface="Cambria" pitchFamily="34" charset="-122"/>
                <a:cs typeface="Cambria" pitchFamily="34" charset="-120"/>
              </a:rPr>
              <a:t>Project creation in the portal</a:t>
            </a:r>
            <a:endParaRPr lang="en-US" sz="1550" dirty="0"/>
          </a:p>
        </p:txBody>
      </p:sp>
      <p:sp>
        <p:nvSpPr>
          <p:cNvPr id="13" name="Text 11"/>
          <p:cNvSpPr/>
          <p:nvPr/>
        </p:nvSpPr>
        <p:spPr>
          <a:xfrm>
            <a:off x="4663440" y="3090672"/>
            <a:ext cx="2834640" cy="182880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The project team creates each project, as today.</a:t>
            </a:r>
            <a:endParaRPr lang="en-US" sz="1150" dirty="0"/>
          </a:p>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This one we keep manual on purpose.</a:t>
            </a:r>
            <a:endParaRPr lang="en-US" sz="1150" dirty="0"/>
          </a:p>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It is the governance entry point of the platform.</a:t>
            </a:r>
            <a:endParaRPr lang="en-US" sz="1150" dirty="0"/>
          </a:p>
        </p:txBody>
      </p:sp>
      <p:sp>
        <p:nvSpPr>
          <p:cNvPr id="14" name="Shape 12"/>
          <p:cNvSpPr/>
          <p:nvPr/>
        </p:nvSpPr>
        <p:spPr>
          <a:xfrm>
            <a:off x="8092440" y="1737360"/>
            <a:ext cx="3383280" cy="457200"/>
          </a:xfrm>
          <a:prstGeom prst="roundRect">
            <a:avLst>
              <a:gd name="adj" fmla="val 10000"/>
            </a:avLst>
          </a:prstGeom>
          <a:solidFill>
            <a:srgbClr val="00915A"/>
          </a:solidFill>
          <a:ln w="12700">
            <a:solidFill>
              <a:srgbClr val="00915A"/>
            </a:solidFill>
            <a:prstDash val="solid"/>
          </a:ln>
        </p:spPr>
      </p:sp>
      <p:sp>
        <p:nvSpPr>
          <p:cNvPr id="15" name="Text 13"/>
          <p:cNvSpPr/>
          <p:nvPr/>
        </p:nvSpPr>
        <p:spPr>
          <a:xfrm>
            <a:off x="8321040" y="1737360"/>
            <a:ext cx="2926080" cy="45720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AUTOMATED AFTER</a:t>
            </a:r>
            <a:endParaRPr lang="en-US" sz="1100" dirty="0"/>
          </a:p>
        </p:txBody>
      </p:sp>
      <p:sp>
        <p:nvSpPr>
          <p:cNvPr id="16" name="Shape 14"/>
          <p:cNvSpPr/>
          <p:nvPr/>
        </p:nvSpPr>
        <p:spPr>
          <a:xfrm>
            <a:off x="8092440" y="2286000"/>
            <a:ext cx="3383280" cy="2743200"/>
          </a:xfrm>
          <a:prstGeom prst="roundRect">
            <a:avLst>
              <a:gd name="adj" fmla="val 2667"/>
            </a:avLst>
          </a:prstGeom>
          <a:solidFill>
            <a:srgbClr val="F3F8F5"/>
          </a:solidFill>
          <a:ln w="12700">
            <a:solidFill>
              <a:srgbClr val="F3F8F5"/>
            </a:solidFill>
            <a:prstDash val="solid"/>
          </a:ln>
          <a:effectLst>
            <a:outerShdw sx="100000" sy="100000" kx="0" ky="0" algn="bl" rotWithShape="0" blurRad="76200" dist="508" dir="5400000">
              <a:srgbClr val="A9C2B5">
                <a:alpha val="25000"/>
              </a:srgbClr>
            </a:outerShdw>
          </a:effectLst>
        </p:spPr>
      </p:sp>
      <p:sp>
        <p:nvSpPr>
          <p:cNvPr id="17" name="Text 15"/>
          <p:cNvSpPr/>
          <p:nvPr/>
        </p:nvSpPr>
        <p:spPr>
          <a:xfrm>
            <a:off x="8366760" y="2450592"/>
            <a:ext cx="2834640" cy="566928"/>
          </a:xfrm>
          <a:prstGeom prst="rect">
            <a:avLst/>
          </a:prstGeom>
          <a:noFill/>
          <a:ln/>
        </p:spPr>
        <p:txBody>
          <a:bodyPr wrap="square" lIns="0" tIns="0" rIns="0" bIns="0" rtlCol="0" anchor="ctr"/>
          <a:lstStyle/>
          <a:p>
            <a:pPr indent="0" marL="0">
              <a:buNone/>
            </a:pPr>
            <a:r>
              <a:rPr lang="en-US" sz="1550" b="1" dirty="0">
                <a:solidFill>
                  <a:srgbClr val="00382B"/>
                </a:solidFill>
                <a:latin typeface="Cambria" pitchFamily="34" charset="0"/>
                <a:ea typeface="Cambria" pitchFamily="34" charset="-122"/>
                <a:cs typeface="Cambria" pitchFamily="34" charset="-120"/>
              </a:rPr>
              <a:t>The migration steps, for the waves</a:t>
            </a:r>
            <a:endParaRPr lang="en-US" sz="1550" dirty="0"/>
          </a:p>
        </p:txBody>
      </p:sp>
      <p:sp>
        <p:nvSpPr>
          <p:cNvPr id="18" name="Text 16"/>
          <p:cNvSpPr/>
          <p:nvPr/>
        </p:nvSpPr>
        <p:spPr>
          <a:xfrm>
            <a:off x="8366760" y="3090672"/>
            <a:ext cx="2834640" cy="182880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A tool runs export, import, rename and configuration.</a:t>
            </a:r>
            <a:endParaRPr lang="en-US" sz="1150" dirty="0"/>
          </a:p>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Driven from a project list, no copy-paste.</a:t>
            </a:r>
            <a:endParaRPr lang="en-US" sz="1150" dirty="0"/>
          </a:p>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Reused for the entities that come after you.</a:t>
            </a:r>
            <a:endParaRPr lang="en-US" sz="1150" dirty="0"/>
          </a:p>
        </p:txBody>
      </p:sp>
      <p:sp>
        <p:nvSpPr>
          <p:cNvPr id="19" name="Shape 17"/>
          <p:cNvSpPr/>
          <p:nvPr/>
        </p:nvSpPr>
        <p:spPr>
          <a:xfrm>
            <a:off x="685800" y="5257800"/>
            <a:ext cx="10789920" cy="960120"/>
          </a:xfrm>
          <a:prstGeom prst="roundRect">
            <a:avLst>
              <a:gd name="adj" fmla="val 7619"/>
            </a:avLst>
          </a:prstGeom>
          <a:solidFill>
            <a:srgbClr val="E7F4EC"/>
          </a:solidFill>
          <a:ln w="12700">
            <a:solidFill>
              <a:srgbClr val="E7F4EC"/>
            </a:solidFill>
            <a:prstDash val="solid"/>
          </a:ln>
          <a:effectLst>
            <a:outerShdw sx="100000" sy="100000" kx="0" ky="0" algn="bl" rotWithShape="0" blurRad="76200" dist="508" dir="5400000">
              <a:srgbClr val="A9C2B5">
                <a:alpha val="25000"/>
              </a:srgbClr>
            </a:outerShdw>
          </a:effectLst>
        </p:spPr>
      </p:sp>
      <p:sp>
        <p:nvSpPr>
          <p:cNvPr id="20" name="Text 18"/>
          <p:cNvSpPr/>
          <p:nvPr/>
        </p:nvSpPr>
        <p:spPr>
          <a:xfrm>
            <a:off x="960120" y="5394960"/>
            <a:ext cx="3657600" cy="274320"/>
          </a:xfrm>
          <a:prstGeom prst="rect">
            <a:avLst/>
          </a:prstGeom>
          <a:noFill/>
          <a:ln/>
        </p:spPr>
        <p:txBody>
          <a:bodyPr wrap="square" lIns="0" tIns="0" rIns="0" bIns="0" rtlCol="0" anchor="ctr"/>
          <a:lstStyle/>
          <a:p>
            <a:pPr indent="0" marL="0">
              <a:buNone/>
            </a:pPr>
            <a:r>
              <a:rPr lang="en-US" sz="1300" b="1" dirty="0">
                <a:solidFill>
                  <a:srgbClr val="00915A"/>
                </a:solidFill>
                <a:latin typeface="Calibri" pitchFamily="34" charset="0"/>
                <a:ea typeface="Calibri" pitchFamily="34" charset="-122"/>
                <a:cs typeface="Calibri" pitchFamily="34" charset="-120"/>
              </a:rPr>
              <a:t>What we want out of the POC</a:t>
            </a:r>
            <a:endParaRPr lang="en-US" sz="1300" dirty="0"/>
          </a:p>
        </p:txBody>
      </p:sp>
      <p:sp>
        <p:nvSpPr>
          <p:cNvPr id="21" name="Text 19"/>
          <p:cNvSpPr/>
          <p:nvPr/>
        </p:nvSpPr>
        <p:spPr>
          <a:xfrm>
            <a:off x="960120" y="5687568"/>
            <a:ext cx="10241280" cy="457200"/>
          </a:xfrm>
          <a:prstGeom prst="rect">
            <a:avLst/>
          </a:prstGeom>
          <a:noFill/>
          <a:ln/>
        </p:spPr>
        <p:txBody>
          <a:bodyPr wrap="square" lIns="0" tIns="0" rIns="0" bIns="0" rtlCol="0" anchor="ctr"/>
          <a:lstStyle/>
          <a:p>
            <a:pPr indent="0" marL="0">
              <a:buNone/>
            </a:pPr>
            <a:r>
              <a:rPr lang="en-US" sz="1250" dirty="0">
                <a:solidFill>
                  <a:srgbClr val="16302A"/>
                </a:solidFill>
                <a:latin typeface="Calibri" pitchFamily="34" charset="0"/>
                <a:ea typeface="Calibri" pitchFamily="34" charset="-122"/>
                <a:cs typeface="Calibri" pitchFamily="34" charset="-120"/>
              </a:rPr>
              <a:t>A working procedure, a measured effort per project, and a clear list of what to automate. Once we have that, we plan the waves.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789920" cy="640080"/>
          </a:xfrm>
          <a:prstGeom prst="rect">
            <a:avLst/>
          </a:prstGeom>
          <a:noFill/>
          <a:ln/>
        </p:spPr>
        <p:txBody>
          <a:bodyPr wrap="square" lIns="0" tIns="0" rIns="0" bIns="0" rtlCol="0" anchor="ctr"/>
          <a:lstStyle/>
          <a:p>
            <a:pPr indent="0" marL="0">
              <a:buNone/>
            </a:pPr>
            <a:r>
              <a:rPr lang="en-US" sz="3100" b="1" dirty="0">
                <a:solidFill>
                  <a:srgbClr val="00382B"/>
                </a:solidFill>
                <a:latin typeface="Cambria" pitchFamily="34" charset="0"/>
                <a:ea typeface="Cambria" pitchFamily="34" charset="-122"/>
                <a:cs typeface="Cambria" pitchFamily="34" charset="-120"/>
              </a:rPr>
              <a:t>Where we want to go</a:t>
            </a:r>
            <a:endParaRPr lang="en-US" sz="3100" dirty="0"/>
          </a:p>
        </p:txBody>
      </p:sp>
      <p:sp>
        <p:nvSpPr>
          <p:cNvPr id="3" name="Text 1"/>
          <p:cNvSpPr/>
          <p:nvPr/>
        </p:nvSpPr>
        <p:spPr>
          <a:xfrm>
            <a:off x="685800" y="1060704"/>
            <a:ext cx="10789920" cy="365760"/>
          </a:xfrm>
          <a:prstGeom prst="rect">
            <a:avLst/>
          </a:prstGeom>
          <a:noFill/>
          <a:ln/>
        </p:spPr>
        <p:txBody>
          <a:bodyPr wrap="square" lIns="0" tIns="0" rIns="0" bIns="0" rtlCol="0" anchor="ctr"/>
          <a:lstStyle/>
          <a:p>
            <a:pPr indent="0" marL="0">
              <a:buNone/>
            </a:pPr>
            <a:r>
              <a:rPr lang="en-US" sz="1400" i="1" dirty="0">
                <a:solidFill>
                  <a:srgbClr val="5B7268"/>
                </a:solidFill>
                <a:latin typeface="Calibri" pitchFamily="34" charset="0"/>
                <a:ea typeface="Calibri" pitchFamily="34" charset="-122"/>
                <a:cs typeface="Calibri" pitchFamily="34" charset="-120"/>
              </a:rPr>
              <a:t>After the POC. We would like your teams to be as autonomous as we can safely make them.</a:t>
            </a:r>
            <a:endParaRPr lang="en-US" sz="1400" dirty="0"/>
          </a:p>
        </p:txBody>
      </p:sp>
      <p:sp>
        <p:nvSpPr>
          <p:cNvPr id="4" name="Shape 2"/>
          <p:cNvSpPr/>
          <p:nvPr/>
        </p:nvSpPr>
        <p:spPr>
          <a:xfrm>
            <a:off x="685800" y="1737360"/>
            <a:ext cx="3383280" cy="457200"/>
          </a:xfrm>
          <a:prstGeom prst="roundRect">
            <a:avLst>
              <a:gd name="adj" fmla="val 10000"/>
            </a:avLst>
          </a:prstGeom>
          <a:solidFill>
            <a:srgbClr val="00382B"/>
          </a:solidFill>
          <a:ln w="12700">
            <a:solidFill>
              <a:srgbClr val="00382B"/>
            </a:solidFill>
            <a:prstDash val="solid"/>
          </a:ln>
        </p:spPr>
      </p:sp>
      <p:sp>
        <p:nvSpPr>
          <p:cNvPr id="5" name="Text 3"/>
          <p:cNvSpPr/>
          <p:nvPr/>
        </p:nvSpPr>
        <p:spPr>
          <a:xfrm>
            <a:off x="914400" y="1737360"/>
            <a:ext cx="2926080" cy="457200"/>
          </a:xfrm>
          <a:prstGeom prst="rect">
            <a:avLst/>
          </a:prstGeom>
          <a:noFill/>
          <a:ln/>
        </p:spPr>
        <p:txBody>
          <a:bodyPr wrap="square" lIns="0" tIns="0" rIns="0" bIns="0" rtlCol="0" anchor="ctr"/>
          <a:lstStyle/>
          <a:p>
            <a:pPr indent="0" marL="0">
              <a:buNone/>
            </a:pPr>
            <a:r>
              <a:rPr lang="en-US" sz="1100" b="1" spc="200" kern="0" dirty="0">
                <a:solidFill>
                  <a:srgbClr val="5FD3A0"/>
                </a:solidFill>
                <a:latin typeface="Calibri" pitchFamily="34" charset="0"/>
                <a:ea typeface="Calibri" pitchFamily="34" charset="-122"/>
                <a:cs typeface="Calibri" pitchFamily="34" charset="-120"/>
              </a:rPr>
              <a:t>TODAY</a:t>
            </a:r>
            <a:endParaRPr lang="en-US" sz="1100" dirty="0"/>
          </a:p>
        </p:txBody>
      </p:sp>
      <p:sp>
        <p:nvSpPr>
          <p:cNvPr id="6" name="Shape 4"/>
          <p:cNvSpPr/>
          <p:nvPr/>
        </p:nvSpPr>
        <p:spPr>
          <a:xfrm>
            <a:off x="685800" y="2286000"/>
            <a:ext cx="3383280" cy="2286000"/>
          </a:xfrm>
          <a:prstGeom prst="roundRect">
            <a:avLst>
              <a:gd name="adj" fmla="val 3200"/>
            </a:avLst>
          </a:prstGeom>
          <a:solidFill>
            <a:srgbClr val="F3F8F5"/>
          </a:solidFill>
          <a:ln w="12700">
            <a:solidFill>
              <a:srgbClr val="F3F8F5"/>
            </a:solidFill>
            <a:prstDash val="solid"/>
          </a:ln>
          <a:effectLst>
            <a:outerShdw sx="100000" sy="100000" kx="0" ky="0" algn="bl" rotWithShape="0" blurRad="76200" dist="508" dir="5400000">
              <a:srgbClr val="A9C2B5">
                <a:alpha val="25000"/>
              </a:srgbClr>
            </a:outerShdw>
          </a:effectLst>
        </p:spPr>
      </p:sp>
      <p:sp>
        <p:nvSpPr>
          <p:cNvPr id="7" name="Text 5"/>
          <p:cNvSpPr/>
          <p:nvPr/>
        </p:nvSpPr>
        <p:spPr>
          <a:xfrm>
            <a:off x="960120" y="2450592"/>
            <a:ext cx="2834640" cy="365760"/>
          </a:xfrm>
          <a:prstGeom prst="rect">
            <a:avLst/>
          </a:prstGeom>
          <a:noFill/>
          <a:ln/>
        </p:spPr>
        <p:txBody>
          <a:bodyPr wrap="square" lIns="0" tIns="0" rIns="0" bIns="0" rtlCol="0" anchor="ctr"/>
          <a:lstStyle/>
          <a:p>
            <a:pPr indent="0" marL="0">
              <a:buNone/>
            </a:pPr>
            <a:r>
              <a:rPr lang="en-US" sz="1600" b="1" dirty="0">
                <a:solidFill>
                  <a:srgbClr val="00382B"/>
                </a:solidFill>
                <a:latin typeface="Cambria" pitchFamily="34" charset="0"/>
                <a:ea typeface="Cambria" pitchFamily="34" charset="-122"/>
                <a:cs typeface="Cambria" pitchFamily="34" charset="-120"/>
              </a:rPr>
              <a:t>We do everything</a:t>
            </a:r>
            <a:endParaRPr lang="en-US" sz="1600" dirty="0"/>
          </a:p>
        </p:txBody>
      </p:sp>
      <p:sp>
        <p:nvSpPr>
          <p:cNvPr id="8" name="Text 6"/>
          <p:cNvSpPr/>
          <p:nvPr/>
        </p:nvSpPr>
        <p:spPr>
          <a:xfrm>
            <a:off x="960120" y="2880360"/>
            <a:ext cx="2834640" cy="155448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You send us a list by mail or ticket.</a:t>
            </a:r>
            <a:endParaRPr lang="en-US" sz="1150" dirty="0"/>
          </a:p>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We run every step by hand.</a:t>
            </a:r>
            <a:endParaRPr lang="en-US" sz="1150" dirty="0"/>
          </a:p>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And you wait for us. Not ideal.</a:t>
            </a:r>
            <a:endParaRPr lang="en-US" sz="1150" dirty="0"/>
          </a:p>
        </p:txBody>
      </p:sp>
      <p:sp>
        <p:nvSpPr>
          <p:cNvPr id="9" name="Shape 7"/>
          <p:cNvSpPr/>
          <p:nvPr/>
        </p:nvSpPr>
        <p:spPr>
          <a:xfrm>
            <a:off x="4133088" y="3291840"/>
            <a:ext cx="182880" cy="201168"/>
          </a:xfrm>
          <a:prstGeom prst="rightArrow">
            <a:avLst/>
          </a:prstGeom>
          <a:solidFill>
            <a:srgbClr val="5B7268"/>
          </a:solidFill>
          <a:ln w="12700">
            <a:solidFill>
              <a:srgbClr val="5B7268"/>
            </a:solidFill>
            <a:prstDash val="solid"/>
          </a:ln>
        </p:spPr>
      </p:sp>
      <p:sp>
        <p:nvSpPr>
          <p:cNvPr id="10" name="Shape 8"/>
          <p:cNvSpPr/>
          <p:nvPr/>
        </p:nvSpPr>
        <p:spPr>
          <a:xfrm>
            <a:off x="4389120" y="1737360"/>
            <a:ext cx="3383280" cy="457200"/>
          </a:xfrm>
          <a:prstGeom prst="roundRect">
            <a:avLst>
              <a:gd name="adj" fmla="val 10000"/>
            </a:avLst>
          </a:prstGeom>
          <a:solidFill>
            <a:srgbClr val="00915A"/>
          </a:solidFill>
          <a:ln w="12700">
            <a:solidFill>
              <a:srgbClr val="00915A"/>
            </a:solidFill>
            <a:prstDash val="solid"/>
          </a:ln>
        </p:spPr>
      </p:sp>
      <p:sp>
        <p:nvSpPr>
          <p:cNvPr id="11" name="Text 9"/>
          <p:cNvSpPr/>
          <p:nvPr/>
        </p:nvSpPr>
        <p:spPr>
          <a:xfrm>
            <a:off x="4617720" y="1737360"/>
            <a:ext cx="2926080" cy="45720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TARGET</a:t>
            </a:r>
            <a:endParaRPr lang="en-US" sz="1100" dirty="0"/>
          </a:p>
        </p:txBody>
      </p:sp>
      <p:sp>
        <p:nvSpPr>
          <p:cNvPr id="12" name="Shape 10"/>
          <p:cNvSpPr/>
          <p:nvPr/>
        </p:nvSpPr>
        <p:spPr>
          <a:xfrm>
            <a:off x="4389120" y="2286000"/>
            <a:ext cx="3383280" cy="2286000"/>
          </a:xfrm>
          <a:prstGeom prst="roundRect">
            <a:avLst>
              <a:gd name="adj" fmla="val 3200"/>
            </a:avLst>
          </a:prstGeom>
          <a:solidFill>
            <a:srgbClr val="EAF4EF"/>
          </a:solidFill>
          <a:ln w="12700">
            <a:solidFill>
              <a:srgbClr val="EAF4EF"/>
            </a:solidFill>
            <a:prstDash val="solid"/>
          </a:ln>
          <a:effectLst>
            <a:outerShdw sx="100000" sy="100000" kx="0" ky="0" algn="bl" rotWithShape="0" blurRad="76200" dist="508" dir="5400000">
              <a:srgbClr val="A9C2B5">
                <a:alpha val="25000"/>
              </a:srgbClr>
            </a:outerShdw>
          </a:effectLst>
        </p:spPr>
      </p:sp>
      <p:sp>
        <p:nvSpPr>
          <p:cNvPr id="13" name="Text 11"/>
          <p:cNvSpPr/>
          <p:nvPr/>
        </p:nvSpPr>
        <p:spPr>
          <a:xfrm>
            <a:off x="4663440" y="2450592"/>
            <a:ext cx="2834640" cy="365760"/>
          </a:xfrm>
          <a:prstGeom prst="rect">
            <a:avLst/>
          </a:prstGeom>
          <a:noFill/>
          <a:ln/>
        </p:spPr>
        <p:txBody>
          <a:bodyPr wrap="square" lIns="0" tIns="0" rIns="0" bIns="0" rtlCol="0" anchor="ctr"/>
          <a:lstStyle/>
          <a:p>
            <a:pPr indent="0" marL="0">
              <a:buNone/>
            </a:pPr>
            <a:r>
              <a:rPr lang="en-US" sz="1600" b="1" dirty="0">
                <a:solidFill>
                  <a:srgbClr val="00382B"/>
                </a:solidFill>
                <a:latin typeface="Cambria" pitchFamily="34" charset="0"/>
                <a:ea typeface="Cambria" pitchFamily="34" charset="-122"/>
                <a:cs typeface="Cambria" pitchFamily="34" charset="-120"/>
              </a:rPr>
              <a:t>You declare, the pipeline runs</a:t>
            </a:r>
            <a:endParaRPr lang="en-US" sz="1600" dirty="0"/>
          </a:p>
        </p:txBody>
      </p:sp>
      <p:sp>
        <p:nvSpPr>
          <p:cNvPr id="14" name="Text 12"/>
          <p:cNvSpPr/>
          <p:nvPr/>
        </p:nvSpPr>
        <p:spPr>
          <a:xfrm>
            <a:off x="4663440" y="2880360"/>
            <a:ext cx="2834640" cy="155448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Your team adds its projects to a file in Git.</a:t>
            </a:r>
            <a:endParaRPr lang="en-US" sz="1150" dirty="0"/>
          </a:p>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A merge request is reviewed and approved.</a:t>
            </a:r>
            <a:endParaRPr lang="en-US" sz="1150" dirty="0"/>
          </a:p>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A pipeline does the rest and reports back.</a:t>
            </a:r>
            <a:endParaRPr lang="en-US" sz="1150" dirty="0"/>
          </a:p>
        </p:txBody>
      </p:sp>
      <p:sp>
        <p:nvSpPr>
          <p:cNvPr id="15" name="Shape 13"/>
          <p:cNvSpPr/>
          <p:nvPr/>
        </p:nvSpPr>
        <p:spPr>
          <a:xfrm>
            <a:off x="7836408" y="3291840"/>
            <a:ext cx="182880" cy="201168"/>
          </a:xfrm>
          <a:prstGeom prst="rightArrow">
            <a:avLst/>
          </a:prstGeom>
          <a:solidFill>
            <a:srgbClr val="5B7268"/>
          </a:solidFill>
          <a:ln w="12700">
            <a:solidFill>
              <a:srgbClr val="5B7268"/>
            </a:solidFill>
            <a:prstDash val="solid"/>
          </a:ln>
        </p:spPr>
      </p:sp>
      <p:sp>
        <p:nvSpPr>
          <p:cNvPr id="16" name="Shape 14"/>
          <p:cNvSpPr/>
          <p:nvPr/>
        </p:nvSpPr>
        <p:spPr>
          <a:xfrm>
            <a:off x="8092440" y="1737360"/>
            <a:ext cx="3383280" cy="457200"/>
          </a:xfrm>
          <a:prstGeom prst="roundRect">
            <a:avLst>
              <a:gd name="adj" fmla="val 10000"/>
            </a:avLst>
          </a:prstGeom>
          <a:solidFill>
            <a:srgbClr val="00694F"/>
          </a:solidFill>
          <a:ln w="12700">
            <a:solidFill>
              <a:srgbClr val="00694F"/>
            </a:solidFill>
            <a:prstDash val="solid"/>
          </a:ln>
        </p:spPr>
      </p:sp>
      <p:sp>
        <p:nvSpPr>
          <p:cNvPr id="17" name="Text 15"/>
          <p:cNvSpPr/>
          <p:nvPr/>
        </p:nvSpPr>
        <p:spPr>
          <a:xfrm>
            <a:off x="8321040" y="1737360"/>
            <a:ext cx="2926080" cy="457200"/>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LATER</a:t>
            </a:r>
            <a:endParaRPr lang="en-US" sz="1100" dirty="0"/>
          </a:p>
        </p:txBody>
      </p:sp>
      <p:sp>
        <p:nvSpPr>
          <p:cNvPr id="18" name="Shape 16"/>
          <p:cNvSpPr/>
          <p:nvPr/>
        </p:nvSpPr>
        <p:spPr>
          <a:xfrm>
            <a:off x="8092440" y="2286000"/>
            <a:ext cx="3383280" cy="2286000"/>
          </a:xfrm>
          <a:prstGeom prst="roundRect">
            <a:avLst>
              <a:gd name="adj" fmla="val 3200"/>
            </a:avLst>
          </a:prstGeom>
          <a:solidFill>
            <a:srgbClr val="F3F8F5"/>
          </a:solidFill>
          <a:ln w="12700">
            <a:solidFill>
              <a:srgbClr val="F3F8F5"/>
            </a:solidFill>
            <a:prstDash val="solid"/>
          </a:ln>
          <a:effectLst>
            <a:outerShdw sx="100000" sy="100000" kx="0" ky="0" algn="bl" rotWithShape="0" blurRad="76200" dist="508" dir="5400000">
              <a:srgbClr val="A9C2B5">
                <a:alpha val="25000"/>
              </a:srgbClr>
            </a:outerShdw>
          </a:effectLst>
        </p:spPr>
      </p:sp>
      <p:sp>
        <p:nvSpPr>
          <p:cNvPr id="19" name="Text 17"/>
          <p:cNvSpPr/>
          <p:nvPr/>
        </p:nvSpPr>
        <p:spPr>
          <a:xfrm>
            <a:off x="8366760" y="2450592"/>
            <a:ext cx="2834640" cy="365760"/>
          </a:xfrm>
          <a:prstGeom prst="rect">
            <a:avLst/>
          </a:prstGeom>
          <a:noFill/>
          <a:ln/>
        </p:spPr>
        <p:txBody>
          <a:bodyPr wrap="square" lIns="0" tIns="0" rIns="0" bIns="0" rtlCol="0" anchor="ctr"/>
          <a:lstStyle/>
          <a:p>
            <a:pPr indent="0" marL="0">
              <a:buNone/>
            </a:pPr>
            <a:r>
              <a:rPr lang="en-US" sz="1600" b="1" dirty="0">
                <a:solidFill>
                  <a:srgbClr val="00382B"/>
                </a:solidFill>
                <a:latin typeface="Cambria" pitchFamily="34" charset="0"/>
                <a:ea typeface="Cambria" pitchFamily="34" charset="-122"/>
                <a:cs typeface="Cambria" pitchFamily="34" charset="-120"/>
              </a:rPr>
              <a:t>On demand, with guardrails</a:t>
            </a:r>
            <a:endParaRPr lang="en-US" sz="1600" dirty="0"/>
          </a:p>
        </p:txBody>
      </p:sp>
      <p:sp>
        <p:nvSpPr>
          <p:cNvPr id="20" name="Text 18"/>
          <p:cNvSpPr/>
          <p:nvPr/>
        </p:nvSpPr>
        <p:spPr>
          <a:xfrm>
            <a:off x="8366760" y="2880360"/>
            <a:ext cx="2834640" cy="155448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Requested from the portal, like any other service.</a:t>
            </a:r>
            <a:endParaRPr lang="en-US" sz="1150" dirty="0"/>
          </a:p>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Quotas, time windows, automatic checks.</a:t>
            </a:r>
            <a:endParaRPr lang="en-US" sz="1150" dirty="0"/>
          </a:p>
          <a:p>
            <a:pPr marL="342900" indent="-342900">
              <a:spcAft>
                <a:spcPts val="800"/>
              </a:spcAft>
              <a:buSzPct val="100000"/>
              <a:buChar char="•"/>
            </a:pPr>
            <a:r>
              <a:rPr lang="en-US" sz="1150" dirty="0">
                <a:solidFill>
                  <a:srgbClr val="16302A"/>
                </a:solidFill>
                <a:latin typeface="Calibri" pitchFamily="34" charset="0"/>
                <a:ea typeface="Calibri" pitchFamily="34" charset="-122"/>
                <a:cs typeface="Calibri" pitchFamily="34" charset="-120"/>
              </a:rPr>
              <a:t>We step in only for the exceptions.</a:t>
            </a:r>
            <a:endParaRPr lang="en-US" sz="1150" dirty="0"/>
          </a:p>
        </p:txBody>
      </p:sp>
      <p:sp>
        <p:nvSpPr>
          <p:cNvPr id="21" name="Shape 19"/>
          <p:cNvSpPr/>
          <p:nvPr/>
        </p:nvSpPr>
        <p:spPr>
          <a:xfrm>
            <a:off x="685800" y="4800600"/>
            <a:ext cx="5257800" cy="1325880"/>
          </a:xfrm>
          <a:prstGeom prst="roundRect">
            <a:avLst>
              <a:gd name="adj" fmla="val 5517"/>
            </a:avLst>
          </a:prstGeom>
          <a:solidFill>
            <a:srgbClr val="FBEDEB"/>
          </a:solidFill>
          <a:ln w="12700">
            <a:solidFill>
              <a:srgbClr val="FBEDEB"/>
            </a:solidFill>
            <a:prstDash val="solid"/>
          </a:ln>
          <a:effectLst>
            <a:outerShdw sx="100000" sy="100000" kx="0" ky="0" algn="bl" rotWithShape="0" blurRad="76200" dist="508" dir="5400000">
              <a:srgbClr val="A9C2B5">
                <a:alpha val="25000"/>
              </a:srgbClr>
            </a:outerShdw>
          </a:effectLst>
        </p:spPr>
      </p:sp>
      <p:sp>
        <p:nvSpPr>
          <p:cNvPr id="22" name="Text 20"/>
          <p:cNvSpPr/>
          <p:nvPr/>
        </p:nvSpPr>
        <p:spPr>
          <a:xfrm>
            <a:off x="960120" y="4956048"/>
            <a:ext cx="4754880" cy="27432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One limit we have to respect</a:t>
            </a:r>
            <a:endParaRPr lang="en-US" sz="1300" dirty="0"/>
          </a:p>
        </p:txBody>
      </p:sp>
      <p:sp>
        <p:nvSpPr>
          <p:cNvPr id="23" name="Text 21"/>
          <p:cNvSpPr/>
          <p:nvPr/>
        </p:nvSpPr>
        <p:spPr>
          <a:xfrm>
            <a:off x="960120" y="5266944"/>
            <a:ext cx="4754880" cy="777240"/>
          </a:xfrm>
          <a:prstGeom prst="rect">
            <a:avLst/>
          </a:prstGeom>
          <a:noFill/>
          <a:ln/>
        </p:spPr>
        <p:txBody>
          <a:bodyPr wrap="square" lIns="0" tIns="0" rIns="0" bIns="0" rtlCol="0" anchor="ctr"/>
          <a:lstStyle/>
          <a:p>
            <a:pPr indent="0" marL="0">
              <a:buNone/>
            </a:pPr>
            <a:r>
              <a:rPr lang="en-US" sz="1200" dirty="0">
                <a:solidFill>
                  <a:srgbClr val="16302A"/>
                </a:solidFill>
                <a:latin typeface="Calibri" pitchFamily="34" charset="0"/>
                <a:ea typeface="Calibri" pitchFamily="34" charset="-122"/>
                <a:cs typeface="Calibri" pitchFamily="34" charset="-120"/>
              </a:rPr>
              <a:t>Export and import need admin rights and file access on both servers, so teams cannot run them directly. The model we can offer is: they declare, they follow, we execute.</a:t>
            </a:r>
            <a:endParaRPr lang="en-US" sz="1200" dirty="0"/>
          </a:p>
        </p:txBody>
      </p:sp>
      <p:sp>
        <p:nvSpPr>
          <p:cNvPr id="24" name="Shape 22"/>
          <p:cNvSpPr/>
          <p:nvPr/>
        </p:nvSpPr>
        <p:spPr>
          <a:xfrm>
            <a:off x="6217920" y="4800600"/>
            <a:ext cx="5257800" cy="1325880"/>
          </a:xfrm>
          <a:prstGeom prst="roundRect">
            <a:avLst>
              <a:gd name="adj" fmla="val 5517"/>
            </a:avLst>
          </a:prstGeom>
          <a:solidFill>
            <a:srgbClr val="EAF4EF"/>
          </a:solidFill>
          <a:ln w="12700">
            <a:solidFill>
              <a:srgbClr val="EAF4EF"/>
            </a:solidFill>
            <a:prstDash val="solid"/>
          </a:ln>
          <a:effectLst>
            <a:outerShdw sx="100000" sy="100000" kx="0" ky="0" algn="bl" rotWithShape="0" blurRad="76200" dist="508" dir="5400000">
              <a:srgbClr val="A9C2B5">
                <a:alpha val="25000"/>
              </a:srgbClr>
            </a:outerShdw>
          </a:effectLst>
        </p:spPr>
      </p:sp>
      <p:sp>
        <p:nvSpPr>
          <p:cNvPr id="25" name="Text 23"/>
          <p:cNvSpPr/>
          <p:nvPr/>
        </p:nvSpPr>
        <p:spPr>
          <a:xfrm>
            <a:off x="6492240" y="4956048"/>
            <a:ext cx="4754880" cy="274320"/>
          </a:xfrm>
          <a:prstGeom prst="rect">
            <a:avLst/>
          </a:prstGeom>
          <a:noFill/>
          <a:ln/>
        </p:spPr>
        <p:txBody>
          <a:bodyPr wrap="square" lIns="0" tIns="0" rIns="0" bIns="0" rtlCol="0" anchor="ctr"/>
          <a:lstStyle/>
          <a:p>
            <a:pPr indent="0" marL="0">
              <a:buNone/>
            </a:pPr>
            <a:r>
              <a:rPr lang="en-US" sz="1300" b="1" dirty="0">
                <a:solidFill>
                  <a:srgbClr val="00382B"/>
                </a:solidFill>
                <a:latin typeface="Calibri" pitchFamily="34" charset="0"/>
                <a:ea typeface="Calibri" pitchFamily="34" charset="-122"/>
                <a:cs typeface="Calibri" pitchFamily="34" charset="-120"/>
              </a:rPr>
              <a:t>Help us shape it</a:t>
            </a:r>
            <a:endParaRPr lang="en-US" sz="1300" dirty="0"/>
          </a:p>
        </p:txBody>
      </p:sp>
      <p:sp>
        <p:nvSpPr>
          <p:cNvPr id="26" name="Text 24"/>
          <p:cNvSpPr/>
          <p:nvPr/>
        </p:nvSpPr>
        <p:spPr>
          <a:xfrm>
            <a:off x="6492240" y="5266944"/>
            <a:ext cx="4754880" cy="777240"/>
          </a:xfrm>
          <a:prstGeom prst="rect">
            <a:avLst/>
          </a:prstGeom>
          <a:noFill/>
          <a:ln/>
        </p:spPr>
        <p:txBody>
          <a:bodyPr wrap="square" lIns="0" tIns="0" rIns="0" bIns="0" rtlCol="0" anchor="ctr"/>
          <a:lstStyle/>
          <a:p>
            <a:pPr indent="0" marL="0">
              <a:buNone/>
            </a:pPr>
            <a:r>
              <a:rPr lang="en-US" sz="1200" dirty="0">
                <a:solidFill>
                  <a:srgbClr val="16302A"/>
                </a:solidFill>
                <a:latin typeface="Calibri" pitchFamily="34" charset="0"/>
                <a:ea typeface="Calibri" pitchFamily="34" charset="-122"/>
                <a:cs typeface="Calibri" pitchFamily="34" charset="-120"/>
              </a:rPr>
              <a:t>How much autonomy do your teams actually want? Who decides the order of the waves? And what did the POC show us that we should automate first?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789920" cy="640080"/>
          </a:xfrm>
          <a:prstGeom prst="rect">
            <a:avLst/>
          </a:prstGeom>
          <a:noFill/>
          <a:ln/>
        </p:spPr>
        <p:txBody>
          <a:bodyPr wrap="square" lIns="0" tIns="0" rIns="0" bIns="0" rtlCol="0" anchor="ctr"/>
          <a:lstStyle/>
          <a:p>
            <a:pPr indent="0" marL="0">
              <a:buNone/>
            </a:pPr>
            <a:r>
              <a:rPr lang="en-US" sz="3100" b="1" dirty="0">
                <a:solidFill>
                  <a:srgbClr val="00382B"/>
                </a:solidFill>
                <a:latin typeface="Cambria" pitchFamily="34" charset="0"/>
                <a:ea typeface="Cambria" pitchFamily="34" charset="-122"/>
                <a:cs typeface="Cambria" pitchFamily="34" charset="-120"/>
              </a:rPr>
              <a:t>Quality Gate and profiles</a:t>
            </a:r>
            <a:endParaRPr lang="en-US" sz="3100" dirty="0"/>
          </a:p>
        </p:txBody>
      </p:sp>
      <p:sp>
        <p:nvSpPr>
          <p:cNvPr id="3" name="Text 1"/>
          <p:cNvSpPr/>
          <p:nvPr/>
        </p:nvSpPr>
        <p:spPr>
          <a:xfrm>
            <a:off x="685800" y="1060704"/>
            <a:ext cx="10789920" cy="365760"/>
          </a:xfrm>
          <a:prstGeom prst="rect">
            <a:avLst/>
          </a:prstGeom>
          <a:noFill/>
          <a:ln/>
        </p:spPr>
        <p:txBody>
          <a:bodyPr wrap="square" lIns="0" tIns="0" rIns="0" bIns="0" rtlCol="0" anchor="ctr"/>
          <a:lstStyle/>
          <a:p>
            <a:pPr indent="0" marL="0">
              <a:buNone/>
            </a:pPr>
            <a:r>
              <a:rPr lang="en-US" sz="1400" i="1" dirty="0">
                <a:solidFill>
                  <a:srgbClr val="5B7268"/>
                </a:solidFill>
                <a:latin typeface="Calibri" pitchFamily="34" charset="0"/>
                <a:ea typeface="Calibri" pitchFamily="34" charset="-122"/>
                <a:cs typeface="Calibri" pitchFamily="34" charset="-120"/>
              </a:rPr>
              <a:t>Your gate stays behind — it belongs to the instance, not to the export.</a:t>
            </a:r>
            <a:endParaRPr lang="en-US" sz="1400" dirty="0"/>
          </a:p>
        </p:txBody>
      </p:sp>
      <p:sp>
        <p:nvSpPr>
          <p:cNvPr id="4" name="Shape 2"/>
          <p:cNvSpPr/>
          <p:nvPr/>
        </p:nvSpPr>
        <p:spPr>
          <a:xfrm>
            <a:off x="685800" y="1783080"/>
            <a:ext cx="5257800" cy="548640"/>
          </a:xfrm>
          <a:prstGeom prst="roundRect">
            <a:avLst>
              <a:gd name="adj" fmla="val 10000"/>
            </a:avLst>
          </a:prstGeom>
          <a:solidFill>
            <a:srgbClr val="00915A"/>
          </a:solidFill>
          <a:ln w="12700">
            <a:solidFill>
              <a:srgbClr val="00915A"/>
            </a:solidFill>
            <a:prstDash val="solid"/>
          </a:ln>
        </p:spPr>
      </p:sp>
      <p:sp>
        <p:nvSpPr>
          <p:cNvPr id="5" name="Text 3"/>
          <p:cNvSpPr/>
          <p:nvPr/>
        </p:nvSpPr>
        <p:spPr>
          <a:xfrm>
            <a:off x="960120" y="1783080"/>
            <a:ext cx="475488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Option A  ·  We recreate your gate</a:t>
            </a:r>
            <a:endParaRPr lang="en-US" sz="1450" dirty="0"/>
          </a:p>
        </p:txBody>
      </p:sp>
      <p:sp>
        <p:nvSpPr>
          <p:cNvPr id="6" name="Shape 4"/>
          <p:cNvSpPr/>
          <p:nvPr/>
        </p:nvSpPr>
        <p:spPr>
          <a:xfrm>
            <a:off x="685800" y="2404872"/>
            <a:ext cx="5257800" cy="1691640"/>
          </a:xfrm>
          <a:prstGeom prst="roundRect">
            <a:avLst>
              <a:gd name="adj" fmla="val 4324"/>
            </a:avLst>
          </a:prstGeom>
          <a:solidFill>
            <a:srgbClr val="EAF4EF"/>
          </a:solidFill>
          <a:ln w="12700">
            <a:solidFill>
              <a:srgbClr val="EAF4EF"/>
            </a:solidFill>
            <a:prstDash val="solid"/>
          </a:ln>
          <a:effectLst>
            <a:outerShdw sx="100000" sy="100000" kx="0" ky="0" algn="bl" rotWithShape="0" blurRad="76200" dist="508" dir="5400000">
              <a:srgbClr val="A9C2B5">
                <a:alpha val="25000"/>
              </a:srgbClr>
            </a:outerShdw>
          </a:effectLst>
        </p:spPr>
      </p:sp>
      <p:sp>
        <p:nvSpPr>
          <p:cNvPr id="7" name="Text 5"/>
          <p:cNvSpPr/>
          <p:nvPr/>
        </p:nvSpPr>
        <p:spPr>
          <a:xfrm>
            <a:off x="1005840" y="2560320"/>
            <a:ext cx="4663440" cy="1417320"/>
          </a:xfrm>
          <a:prstGeom prst="rect">
            <a:avLst/>
          </a:prstGeom>
          <a:noFill/>
          <a:ln/>
        </p:spPr>
        <p:txBody>
          <a:bodyPr wrap="square" lIns="0" tIns="0" rIns="0" bIns="0" rtlCol="0" anchor="ctr"/>
          <a:lstStyle/>
          <a:p>
            <a:pPr indent="0" marL="0">
              <a:spcAft>
                <a:spcPts val="600"/>
              </a:spcAft>
              <a:buNone/>
            </a:pPr>
            <a:r>
              <a:rPr lang="en-US" sz="1250" dirty="0">
                <a:solidFill>
                  <a:srgbClr val="00382B"/>
                </a:solidFill>
                <a:latin typeface="Calibri" pitchFamily="34" charset="0"/>
                <a:ea typeface="Calibri" pitchFamily="34" charset="-122"/>
                <a:cs typeface="Calibri" pitchFamily="34" charset="-120"/>
              </a:rPr>
              <a:t>+ Nothing changes for your teams</a:t>
            </a:r>
            <a:endParaRPr lang="en-US" sz="1250" dirty="0"/>
          </a:p>
          <a:p>
            <a:pPr indent="0" marL="0">
              <a:spcAft>
                <a:spcPts val="600"/>
              </a:spcAft>
              <a:buNone/>
            </a:pPr>
            <a:r>
              <a:rPr lang="en-US" sz="1250" dirty="0">
                <a:solidFill>
                  <a:srgbClr val="00382B"/>
                </a:solidFill>
                <a:latin typeface="Calibri" pitchFamily="34" charset="0"/>
                <a:ea typeface="Calibri" pitchFamily="34" charset="-122"/>
                <a:cs typeface="Calibri" pitchFamily="34" charset="-120"/>
              </a:rPr>
              <a:t>+ No surprises on day one</a:t>
            </a:r>
            <a:endParaRPr lang="en-US" sz="1250" dirty="0"/>
          </a:p>
          <a:p>
            <a:pPr indent="0" marL="0">
              <a:spcAft>
                <a:spcPts val="600"/>
              </a:spcAft>
              <a:buNone/>
            </a:pPr>
            <a:r>
              <a:rPr lang="en-US" sz="1250" dirty="0">
                <a:solidFill>
                  <a:srgbClr val="C0392B"/>
                </a:solidFill>
                <a:latin typeface="Calibri" pitchFamily="34" charset="0"/>
                <a:ea typeface="Calibri" pitchFamily="34" charset="-122"/>
                <a:cs typeface="Calibri" pitchFamily="34" charset="-120"/>
              </a:rPr>
              <a:t>− One more gate to maintain</a:t>
            </a:r>
            <a:endParaRPr lang="en-US" sz="1250" dirty="0"/>
          </a:p>
          <a:p>
            <a:pPr indent="0" marL="0">
              <a:spcAft>
                <a:spcPts val="600"/>
              </a:spcAft>
              <a:buNone/>
            </a:pPr>
            <a:r>
              <a:rPr lang="en-US" sz="1250" dirty="0">
                <a:solidFill>
                  <a:srgbClr val="C0392B"/>
                </a:solidFill>
                <a:latin typeface="Calibri" pitchFamily="34" charset="0"/>
                <a:ea typeface="Calibri" pitchFamily="34" charset="-122"/>
                <a:cs typeface="Calibri" pitchFamily="34" charset="-120"/>
              </a:rPr>
              <a:t>− Hard to refuse to the next entity</a:t>
            </a:r>
            <a:endParaRPr lang="en-US" sz="1250" dirty="0"/>
          </a:p>
        </p:txBody>
      </p:sp>
      <p:sp>
        <p:nvSpPr>
          <p:cNvPr id="8" name="Shape 6"/>
          <p:cNvSpPr/>
          <p:nvPr/>
        </p:nvSpPr>
        <p:spPr>
          <a:xfrm>
            <a:off x="6355080" y="1783080"/>
            <a:ext cx="5257800" cy="548640"/>
          </a:xfrm>
          <a:prstGeom prst="roundRect">
            <a:avLst>
              <a:gd name="adj" fmla="val 10000"/>
            </a:avLst>
          </a:prstGeom>
          <a:solidFill>
            <a:srgbClr val="00694F"/>
          </a:solidFill>
          <a:ln w="12700">
            <a:solidFill>
              <a:srgbClr val="00694F"/>
            </a:solidFill>
            <a:prstDash val="solid"/>
          </a:ln>
        </p:spPr>
      </p:sp>
      <p:sp>
        <p:nvSpPr>
          <p:cNvPr id="9" name="Text 7"/>
          <p:cNvSpPr/>
          <p:nvPr/>
        </p:nvSpPr>
        <p:spPr>
          <a:xfrm>
            <a:off x="6629400" y="1783080"/>
            <a:ext cx="4754880" cy="5486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Option B  ·  You use our standard levels</a:t>
            </a:r>
            <a:endParaRPr lang="en-US" sz="1450" dirty="0"/>
          </a:p>
        </p:txBody>
      </p:sp>
      <p:sp>
        <p:nvSpPr>
          <p:cNvPr id="10" name="Shape 8"/>
          <p:cNvSpPr/>
          <p:nvPr/>
        </p:nvSpPr>
        <p:spPr>
          <a:xfrm>
            <a:off x="6355080" y="2404872"/>
            <a:ext cx="5257800" cy="1691640"/>
          </a:xfrm>
          <a:prstGeom prst="roundRect">
            <a:avLst>
              <a:gd name="adj" fmla="val 4324"/>
            </a:avLst>
          </a:prstGeom>
          <a:solidFill>
            <a:srgbClr val="F3F8F5"/>
          </a:solidFill>
          <a:ln w="12700">
            <a:solidFill>
              <a:srgbClr val="F3F8F5"/>
            </a:solidFill>
            <a:prstDash val="solid"/>
          </a:ln>
          <a:effectLst>
            <a:outerShdw sx="100000" sy="100000" kx="0" ky="0" algn="bl" rotWithShape="0" blurRad="76200" dist="508" dir="5400000">
              <a:srgbClr val="A9C2B5">
                <a:alpha val="25000"/>
              </a:srgbClr>
            </a:outerShdw>
          </a:effectLst>
        </p:spPr>
      </p:sp>
      <p:sp>
        <p:nvSpPr>
          <p:cNvPr id="11" name="Text 9"/>
          <p:cNvSpPr/>
          <p:nvPr/>
        </p:nvSpPr>
        <p:spPr>
          <a:xfrm>
            <a:off x="6675120" y="2560320"/>
            <a:ext cx="4663440" cy="1417320"/>
          </a:xfrm>
          <a:prstGeom prst="rect">
            <a:avLst/>
          </a:prstGeom>
          <a:noFill/>
          <a:ln/>
        </p:spPr>
        <p:txBody>
          <a:bodyPr wrap="square" lIns="0" tIns="0" rIns="0" bIns="0" rtlCol="0" anchor="ctr"/>
          <a:lstStyle/>
          <a:p>
            <a:pPr indent="0" marL="0">
              <a:spcAft>
                <a:spcPts val="600"/>
              </a:spcAft>
              <a:buNone/>
            </a:pPr>
            <a:r>
              <a:rPr lang="en-US" sz="1250" dirty="0">
                <a:solidFill>
                  <a:srgbClr val="00382B"/>
                </a:solidFill>
                <a:latin typeface="Calibri" pitchFamily="34" charset="0"/>
                <a:ea typeface="Calibri" pitchFamily="34" charset="-122"/>
                <a:cs typeface="Calibri" pitchFamily="34" charset="-120"/>
              </a:rPr>
              <a:t>+ Same standard as the whole group</a:t>
            </a:r>
            <a:endParaRPr lang="en-US" sz="1250" dirty="0"/>
          </a:p>
          <a:p>
            <a:pPr indent="0" marL="0">
              <a:spcAft>
                <a:spcPts val="600"/>
              </a:spcAft>
              <a:buNone/>
            </a:pPr>
            <a:r>
              <a:rPr lang="en-US" sz="1250" dirty="0">
                <a:solidFill>
                  <a:srgbClr val="00382B"/>
                </a:solidFill>
                <a:latin typeface="Calibri" pitchFamily="34" charset="0"/>
                <a:ea typeface="Calibri" pitchFamily="34" charset="-122"/>
                <a:cs typeface="Calibri" pitchFamily="34" charset="-120"/>
              </a:rPr>
              <a:t>+ We maintain it, not you</a:t>
            </a:r>
            <a:endParaRPr lang="en-US" sz="1250" dirty="0"/>
          </a:p>
          <a:p>
            <a:pPr indent="0" marL="0">
              <a:spcAft>
                <a:spcPts val="600"/>
              </a:spcAft>
              <a:buNone/>
            </a:pPr>
            <a:r>
              <a:rPr lang="en-US" sz="1250" dirty="0">
                <a:solidFill>
                  <a:srgbClr val="C0392B"/>
                </a:solidFill>
                <a:latin typeface="Calibri" pitchFamily="34" charset="0"/>
                <a:ea typeface="Calibri" pitchFamily="34" charset="-122"/>
                <a:cs typeface="Calibri" pitchFamily="34" charset="-120"/>
              </a:rPr>
              <a:t>− The rules change on day one</a:t>
            </a:r>
            <a:endParaRPr lang="en-US" sz="1250" dirty="0"/>
          </a:p>
          <a:p>
            <a:pPr indent="0" marL="0">
              <a:spcAft>
                <a:spcPts val="600"/>
              </a:spcAft>
              <a:buNone/>
            </a:pPr>
            <a:r>
              <a:rPr lang="en-US" sz="1250" dirty="0">
                <a:solidFill>
                  <a:srgbClr val="C0392B"/>
                </a:solidFill>
                <a:latin typeface="Calibri" pitchFamily="34" charset="0"/>
                <a:ea typeface="Calibri" pitchFamily="34" charset="-122"/>
                <a:cs typeface="Calibri" pitchFamily="34" charset="-120"/>
              </a:rPr>
              <a:t>− A few projects may fail at first</a:t>
            </a:r>
            <a:endParaRPr lang="en-US" sz="1250" dirty="0"/>
          </a:p>
        </p:txBody>
      </p:sp>
      <p:sp>
        <p:nvSpPr>
          <p:cNvPr id="12" name="Shape 10"/>
          <p:cNvSpPr/>
          <p:nvPr/>
        </p:nvSpPr>
        <p:spPr>
          <a:xfrm>
            <a:off x="685800" y="4279392"/>
            <a:ext cx="10789920" cy="1463040"/>
          </a:xfrm>
          <a:prstGeom prst="roundRect">
            <a:avLst>
              <a:gd name="adj" fmla="val 5000"/>
            </a:avLst>
          </a:prstGeom>
          <a:solidFill>
            <a:srgbClr val="E7F4EC"/>
          </a:solidFill>
          <a:ln w="12700">
            <a:solidFill>
              <a:srgbClr val="E7F4EC"/>
            </a:solidFill>
            <a:prstDash val="solid"/>
          </a:ln>
          <a:effectLst>
            <a:outerShdw sx="100000" sy="100000" kx="0" ky="0" algn="bl" rotWithShape="0" blurRad="76200" dist="508" dir="5400000">
              <a:srgbClr val="A9C2B5">
                <a:alpha val="25000"/>
              </a:srgbClr>
            </a:outerShdw>
          </a:effectLst>
        </p:spPr>
      </p:sp>
      <p:sp>
        <p:nvSpPr>
          <p:cNvPr id="13" name="Text 11"/>
          <p:cNvSpPr/>
          <p:nvPr/>
        </p:nvSpPr>
        <p:spPr>
          <a:xfrm>
            <a:off x="960120" y="4434840"/>
            <a:ext cx="5486400" cy="292608"/>
          </a:xfrm>
          <a:prstGeom prst="rect">
            <a:avLst/>
          </a:prstGeom>
          <a:noFill/>
          <a:ln/>
        </p:spPr>
        <p:txBody>
          <a:bodyPr wrap="square" lIns="0" tIns="0" rIns="0" bIns="0" rtlCol="0" anchor="ctr"/>
          <a:lstStyle/>
          <a:p>
            <a:pPr indent="0" marL="0">
              <a:buNone/>
            </a:pPr>
            <a:r>
              <a:rPr lang="en-US" sz="1350" b="1" dirty="0">
                <a:solidFill>
                  <a:srgbClr val="00915A"/>
                </a:solidFill>
                <a:latin typeface="Calibri" pitchFamily="34" charset="0"/>
                <a:ea typeface="Calibri" pitchFamily="34" charset="-122"/>
                <a:cs typeface="Calibri" pitchFamily="34" charset="-120"/>
              </a:rPr>
              <a:t>What we would suggest — Option B, with a soft landing</a:t>
            </a:r>
            <a:endParaRPr lang="en-US" sz="1350" dirty="0"/>
          </a:p>
        </p:txBody>
      </p:sp>
      <p:sp>
        <p:nvSpPr>
          <p:cNvPr id="14" name="Text 12"/>
          <p:cNvSpPr/>
          <p:nvPr/>
        </p:nvSpPr>
        <p:spPr>
          <a:xfrm>
            <a:off x="960120" y="4773168"/>
            <a:ext cx="10241280" cy="9144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6302A"/>
                </a:solidFill>
                <a:latin typeface="Calibri" pitchFamily="34" charset="0"/>
                <a:ea typeface="Calibri" pitchFamily="34" charset="-122"/>
                <a:cs typeface="Calibri" pitchFamily="34" charset="-120"/>
              </a:rPr>
              <a:t>Each project starts on the standard level closest to the gate you use today.</a:t>
            </a:r>
            <a:endParaRPr lang="en-US" sz="1200" dirty="0"/>
          </a:p>
          <a:p>
            <a:pPr marL="342900" indent="-342900">
              <a:spcAft>
                <a:spcPts val="400"/>
              </a:spcAft>
              <a:buSzPct val="100000"/>
              <a:buChar char="•"/>
            </a:pPr>
            <a:r>
              <a:rPr lang="en-US" sz="1200" dirty="0">
                <a:solidFill>
                  <a:srgbClr val="16302A"/>
                </a:solidFill>
                <a:latin typeface="Calibri" pitchFamily="34" charset="0"/>
                <a:ea typeface="Calibri" pitchFamily="34" charset="-122"/>
                <a:cs typeface="Calibri" pitchFamily="34" charset="-120"/>
              </a:rPr>
              <a:t>For the first 4 to 6 weeks the gate does not block your builds.</a:t>
            </a:r>
            <a:endParaRPr lang="en-US" sz="1200" dirty="0"/>
          </a:p>
          <a:p>
            <a:pPr marL="342900" indent="-342900">
              <a:spcAft>
                <a:spcPts val="400"/>
              </a:spcAft>
              <a:buSzPct val="100000"/>
              <a:buChar char="•"/>
            </a:pPr>
            <a:r>
              <a:rPr lang="en-US" sz="1200" dirty="0">
                <a:solidFill>
                  <a:srgbClr val="16302A"/>
                </a:solidFill>
                <a:latin typeface="Calibri" pitchFamily="34" charset="0"/>
                <a:ea typeface="Calibri" pitchFamily="34" charset="-122"/>
                <a:cs typeface="Calibri" pitchFamily="34" charset="-120"/>
              </a:rPr>
              <a:t>Then each project moves up to its target level, on a date we agree.</a:t>
            </a:r>
            <a:endParaRPr lang="en-US" sz="1200" dirty="0"/>
          </a:p>
          <a:p>
            <a:pPr marL="342900" indent="-342900">
              <a:spcAft>
                <a:spcPts val="400"/>
              </a:spcAft>
              <a:buSzPct val="100000"/>
              <a:buChar char="•"/>
            </a:pPr>
            <a:r>
              <a:rPr lang="en-US" sz="1200" dirty="0">
                <a:solidFill>
                  <a:srgbClr val="16302A"/>
                </a:solidFill>
                <a:latin typeface="Calibri" pitchFamily="34" charset="0"/>
                <a:ea typeface="Calibri" pitchFamily="34" charset="-122"/>
                <a:cs typeface="Calibri" pitchFamily="34" charset="-120"/>
              </a:rPr>
              <a:t>Option A stays on the table as a temporary gate, if something specific justifies it.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789920" cy="640080"/>
          </a:xfrm>
          <a:prstGeom prst="rect">
            <a:avLst/>
          </a:prstGeom>
          <a:noFill/>
          <a:ln/>
        </p:spPr>
        <p:txBody>
          <a:bodyPr wrap="square" lIns="0" tIns="0" rIns="0" bIns="0" rtlCol="0" anchor="ctr"/>
          <a:lstStyle/>
          <a:p>
            <a:pPr indent="0" marL="0">
              <a:buNone/>
            </a:pPr>
            <a:r>
              <a:rPr lang="en-US" sz="3100" b="1" dirty="0">
                <a:solidFill>
                  <a:srgbClr val="00382B"/>
                </a:solidFill>
                <a:latin typeface="Cambria" pitchFamily="34" charset="0"/>
                <a:ea typeface="Cambria" pitchFamily="34" charset="-122"/>
                <a:cs typeface="Cambria" pitchFamily="34" charset="-120"/>
              </a:rPr>
              <a:t>What we need from you</a:t>
            </a:r>
            <a:endParaRPr lang="en-US" sz="3100" dirty="0"/>
          </a:p>
        </p:txBody>
      </p:sp>
      <p:sp>
        <p:nvSpPr>
          <p:cNvPr id="3" name="Text 1"/>
          <p:cNvSpPr/>
          <p:nvPr/>
        </p:nvSpPr>
        <p:spPr>
          <a:xfrm>
            <a:off x="685800" y="1060704"/>
            <a:ext cx="10789920" cy="365760"/>
          </a:xfrm>
          <a:prstGeom prst="rect">
            <a:avLst/>
          </a:prstGeom>
          <a:noFill/>
          <a:ln/>
        </p:spPr>
        <p:txBody>
          <a:bodyPr wrap="square" lIns="0" tIns="0" rIns="0" bIns="0" rtlCol="0" anchor="ctr"/>
          <a:lstStyle/>
          <a:p>
            <a:pPr indent="0" marL="0">
              <a:buNone/>
            </a:pPr>
            <a:r>
              <a:rPr lang="en-US" sz="1400" i="1" dirty="0">
                <a:solidFill>
                  <a:srgbClr val="5B7268"/>
                </a:solidFill>
                <a:latin typeface="Calibri" pitchFamily="34" charset="0"/>
                <a:ea typeface="Calibri" pitchFamily="34" charset="-122"/>
                <a:cs typeface="Calibri" pitchFamily="34" charset="-120"/>
              </a:rPr>
              <a:t>If you can send this before the next session, we can plan properly.</a:t>
            </a:r>
            <a:endParaRPr lang="en-US" sz="1400" dirty="0"/>
          </a:p>
        </p:txBody>
      </p:sp>
      <p:sp>
        <p:nvSpPr>
          <p:cNvPr id="4" name="Shape 2"/>
          <p:cNvSpPr/>
          <p:nvPr/>
        </p:nvSpPr>
        <p:spPr>
          <a:xfrm>
            <a:off x="685800" y="1783080"/>
            <a:ext cx="5257800" cy="530352"/>
          </a:xfrm>
          <a:prstGeom prst="roundRect">
            <a:avLst>
              <a:gd name="adj" fmla="val 10345"/>
            </a:avLst>
          </a:prstGeom>
          <a:solidFill>
            <a:srgbClr val="00694F"/>
          </a:solidFill>
          <a:ln w="12700">
            <a:solidFill>
              <a:srgbClr val="00694F"/>
            </a:solidFill>
            <a:prstDash val="solid"/>
          </a:ln>
        </p:spPr>
      </p:sp>
      <p:sp>
        <p:nvSpPr>
          <p:cNvPr id="5" name="Text 3"/>
          <p:cNvSpPr/>
          <p:nvPr/>
        </p:nvSpPr>
        <p:spPr>
          <a:xfrm>
            <a:off x="960120" y="1783080"/>
            <a:ext cx="4754880" cy="530352"/>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Technical configuration</a:t>
            </a:r>
            <a:endParaRPr lang="en-US" sz="1450" dirty="0"/>
          </a:p>
        </p:txBody>
      </p:sp>
      <p:sp>
        <p:nvSpPr>
          <p:cNvPr id="6" name="Shape 4"/>
          <p:cNvSpPr/>
          <p:nvPr/>
        </p:nvSpPr>
        <p:spPr>
          <a:xfrm>
            <a:off x="685800" y="2386584"/>
            <a:ext cx="5257800" cy="2240280"/>
          </a:xfrm>
          <a:prstGeom prst="roundRect">
            <a:avLst>
              <a:gd name="adj" fmla="val 3265"/>
            </a:avLst>
          </a:prstGeom>
          <a:solidFill>
            <a:srgbClr val="F3F8F5"/>
          </a:solidFill>
          <a:ln w="12700">
            <a:solidFill>
              <a:srgbClr val="F3F8F5"/>
            </a:solidFill>
            <a:prstDash val="solid"/>
          </a:ln>
          <a:effectLst>
            <a:outerShdw sx="100000" sy="100000" kx="0" ky="0" algn="bl" rotWithShape="0" blurRad="76200" dist="508" dir="5400000">
              <a:srgbClr val="A9C2B5">
                <a:alpha val="25000"/>
              </a:srgbClr>
            </a:outerShdw>
          </a:effectLst>
        </p:spPr>
      </p:sp>
      <p:sp>
        <p:nvSpPr>
          <p:cNvPr id="7" name="Text 5"/>
          <p:cNvSpPr/>
          <p:nvPr/>
        </p:nvSpPr>
        <p:spPr>
          <a:xfrm>
            <a:off x="1005840" y="2560320"/>
            <a:ext cx="4663440" cy="19202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6302A"/>
                </a:solidFill>
                <a:latin typeface="Calibri" pitchFamily="34" charset="0"/>
                <a:ea typeface="Calibri" pitchFamily="34" charset="-122"/>
                <a:cs typeface="Calibri" pitchFamily="34" charset="-120"/>
              </a:rPr>
              <a:t>Exact SonarQube version and edition</a:t>
            </a:r>
            <a:endParaRPr lang="en-US" sz="1250" dirty="0"/>
          </a:p>
          <a:p>
            <a:pPr marL="342900" indent="-342900">
              <a:spcAft>
                <a:spcPts val="1000"/>
              </a:spcAft>
              <a:buSzPct val="100000"/>
              <a:buChar char="•"/>
            </a:pPr>
            <a:r>
              <a:rPr lang="en-US" sz="1250" dirty="0">
                <a:solidFill>
                  <a:srgbClr val="16302A"/>
                </a:solidFill>
                <a:latin typeface="Calibri" pitchFamily="34" charset="0"/>
                <a:ea typeface="Calibri" pitchFamily="34" charset="-122"/>
                <a:cs typeface="Calibri" pitchFamily="34" charset="-120"/>
              </a:rPr>
              <a:t>Full plugin list with versions</a:t>
            </a:r>
            <a:endParaRPr lang="en-US" sz="1250" dirty="0"/>
          </a:p>
          <a:p>
            <a:pPr marL="342900" indent="-342900">
              <a:spcAft>
                <a:spcPts val="1000"/>
              </a:spcAft>
              <a:buSzPct val="100000"/>
              <a:buChar char="•"/>
            </a:pPr>
            <a:r>
              <a:rPr lang="en-US" sz="1250" dirty="0">
                <a:solidFill>
                  <a:srgbClr val="16302A"/>
                </a:solidFill>
                <a:latin typeface="Calibri" pitchFamily="34" charset="0"/>
                <a:ea typeface="Calibri" pitchFamily="34" charset="-122"/>
                <a:cs typeface="Calibri" pitchFamily="34" charset="-120"/>
              </a:rPr>
              <a:t>Custom rules and custom metrics, if any</a:t>
            </a:r>
            <a:endParaRPr lang="en-US" sz="1250" dirty="0"/>
          </a:p>
          <a:p>
            <a:pPr marL="342900" indent="-342900">
              <a:spcAft>
                <a:spcPts val="1000"/>
              </a:spcAft>
              <a:buSzPct val="100000"/>
              <a:buChar char="•"/>
            </a:pPr>
            <a:r>
              <a:rPr lang="en-US" sz="1250" dirty="0">
                <a:solidFill>
                  <a:srgbClr val="16302A"/>
                </a:solidFill>
                <a:latin typeface="Calibri" pitchFamily="34" charset="0"/>
                <a:ea typeface="Calibri" pitchFamily="34" charset="-122"/>
                <a:cs typeface="Calibri" pitchFamily="34" charset="-120"/>
              </a:rPr>
              <a:t>Quality profiles export (XML)</a:t>
            </a:r>
            <a:endParaRPr lang="en-US" sz="1250" dirty="0"/>
          </a:p>
          <a:p>
            <a:pPr marL="342900" indent="-342900">
              <a:spcAft>
                <a:spcPts val="1000"/>
              </a:spcAft>
              <a:buSzPct val="100000"/>
              <a:buChar char="•"/>
            </a:pPr>
            <a:r>
              <a:rPr lang="en-US" sz="1250" dirty="0">
                <a:solidFill>
                  <a:srgbClr val="16302A"/>
                </a:solidFill>
                <a:latin typeface="Calibri" pitchFamily="34" charset="0"/>
                <a:ea typeface="Calibri" pitchFamily="34" charset="-122"/>
                <a:cs typeface="Calibri" pitchFamily="34" charset="-120"/>
              </a:rPr>
              <a:t>Your current Quality Gate definition</a:t>
            </a:r>
            <a:endParaRPr lang="en-US" sz="1250" dirty="0"/>
          </a:p>
        </p:txBody>
      </p:sp>
      <p:sp>
        <p:nvSpPr>
          <p:cNvPr id="8" name="Shape 6"/>
          <p:cNvSpPr/>
          <p:nvPr/>
        </p:nvSpPr>
        <p:spPr>
          <a:xfrm>
            <a:off x="6355080" y="1783080"/>
            <a:ext cx="5257800" cy="530352"/>
          </a:xfrm>
          <a:prstGeom prst="roundRect">
            <a:avLst>
              <a:gd name="adj" fmla="val 10345"/>
            </a:avLst>
          </a:prstGeom>
          <a:solidFill>
            <a:srgbClr val="00915A"/>
          </a:solidFill>
          <a:ln w="12700">
            <a:solidFill>
              <a:srgbClr val="00915A"/>
            </a:solidFill>
            <a:prstDash val="solid"/>
          </a:ln>
        </p:spPr>
      </p:sp>
      <p:sp>
        <p:nvSpPr>
          <p:cNvPr id="9" name="Text 7"/>
          <p:cNvSpPr/>
          <p:nvPr/>
        </p:nvSpPr>
        <p:spPr>
          <a:xfrm>
            <a:off x="6629400" y="1783080"/>
            <a:ext cx="4754880" cy="530352"/>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Sizing and scope</a:t>
            </a:r>
            <a:endParaRPr lang="en-US" sz="1450" dirty="0"/>
          </a:p>
        </p:txBody>
      </p:sp>
      <p:sp>
        <p:nvSpPr>
          <p:cNvPr id="10" name="Shape 8"/>
          <p:cNvSpPr/>
          <p:nvPr/>
        </p:nvSpPr>
        <p:spPr>
          <a:xfrm>
            <a:off x="6355080" y="2386584"/>
            <a:ext cx="5257800" cy="2240280"/>
          </a:xfrm>
          <a:prstGeom prst="roundRect">
            <a:avLst>
              <a:gd name="adj" fmla="val 3265"/>
            </a:avLst>
          </a:prstGeom>
          <a:solidFill>
            <a:srgbClr val="EAF4EF"/>
          </a:solidFill>
          <a:ln w="12700">
            <a:solidFill>
              <a:srgbClr val="EAF4EF"/>
            </a:solidFill>
            <a:prstDash val="solid"/>
          </a:ln>
          <a:effectLst>
            <a:outerShdw sx="100000" sy="100000" kx="0" ky="0" algn="bl" rotWithShape="0" blurRad="76200" dist="508" dir="5400000">
              <a:srgbClr val="A9C2B5">
                <a:alpha val="25000"/>
              </a:srgbClr>
            </a:outerShdw>
          </a:effectLst>
        </p:spPr>
      </p:sp>
      <p:sp>
        <p:nvSpPr>
          <p:cNvPr id="11" name="Text 9"/>
          <p:cNvSpPr/>
          <p:nvPr/>
        </p:nvSpPr>
        <p:spPr>
          <a:xfrm>
            <a:off x="6675120" y="2560320"/>
            <a:ext cx="4663440" cy="19202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6302A"/>
                </a:solidFill>
                <a:latin typeface="Calibri" pitchFamily="34" charset="0"/>
                <a:ea typeface="Calibri" pitchFamily="34" charset="-122"/>
                <a:cs typeface="Calibri" pitchFamily="34" charset="-120"/>
              </a:rPr>
              <a:t>Number of projects and TOTAL LINES OF CODE</a:t>
            </a:r>
            <a:endParaRPr lang="en-US" sz="1250" dirty="0"/>
          </a:p>
          <a:p>
            <a:pPr marL="342900" indent="-342900">
              <a:spcAft>
                <a:spcPts val="1000"/>
              </a:spcAft>
              <a:buSzPct val="100000"/>
              <a:buChar char="•"/>
            </a:pPr>
            <a:r>
              <a:rPr lang="en-US" sz="1250" dirty="0">
                <a:solidFill>
                  <a:srgbClr val="16302A"/>
                </a:solidFill>
                <a:latin typeface="Calibri" pitchFamily="34" charset="0"/>
                <a:ea typeface="Calibri" pitchFamily="34" charset="-122"/>
                <a:cs typeface="Calibri" pitchFamily="34" charset="-120"/>
              </a:rPr>
              <a:t>Which projects really need their history</a:t>
            </a:r>
            <a:endParaRPr lang="en-US" sz="1250" dirty="0"/>
          </a:p>
          <a:p>
            <a:pPr marL="342900" indent="-342900">
              <a:spcAft>
                <a:spcPts val="1000"/>
              </a:spcAft>
              <a:buSzPct val="100000"/>
              <a:buChar char="•"/>
            </a:pPr>
            <a:r>
              <a:rPr lang="en-US" sz="1250" dirty="0">
                <a:solidFill>
                  <a:srgbClr val="16302A"/>
                </a:solidFill>
                <a:latin typeface="Calibri" pitchFamily="34" charset="0"/>
                <a:ea typeface="Calibri" pitchFamily="34" charset="-122"/>
                <a:cs typeface="Calibri" pitchFamily="34" charset="-120"/>
              </a:rPr>
              <a:t>Number of active users and login format</a:t>
            </a:r>
            <a:endParaRPr lang="en-US" sz="1250" dirty="0"/>
          </a:p>
          <a:p>
            <a:pPr marL="342900" indent="-342900">
              <a:spcAft>
                <a:spcPts val="1000"/>
              </a:spcAft>
              <a:buSzPct val="100000"/>
              <a:buChar char="•"/>
            </a:pPr>
            <a:r>
              <a:rPr lang="en-US" sz="1250" dirty="0">
                <a:solidFill>
                  <a:srgbClr val="16302A"/>
                </a:solidFill>
                <a:latin typeface="Calibri" pitchFamily="34" charset="0"/>
                <a:ea typeface="Calibri" pitchFamily="34" charset="-122"/>
                <a:cs typeface="Calibri" pitchFamily="34" charset="-120"/>
              </a:rPr>
              <a:t>CI/CD platforms and scanner versions</a:t>
            </a:r>
            <a:endParaRPr lang="en-US" sz="1250" dirty="0"/>
          </a:p>
          <a:p>
            <a:pPr marL="342900" indent="-342900">
              <a:spcAft>
                <a:spcPts val="1000"/>
              </a:spcAft>
              <a:buSzPct val="100000"/>
              <a:buChar char="•"/>
            </a:pPr>
            <a:r>
              <a:rPr lang="en-US" sz="1250" dirty="0">
                <a:solidFill>
                  <a:srgbClr val="16302A"/>
                </a:solidFill>
                <a:latin typeface="Calibri" pitchFamily="34" charset="0"/>
                <a:ea typeface="Calibri" pitchFamily="34" charset="-122"/>
                <a:cs typeface="Calibri" pitchFamily="34" charset="-120"/>
              </a:rPr>
              <a:t>Analyses per day and peak hours</a:t>
            </a:r>
            <a:endParaRPr lang="en-US" sz="1250" dirty="0"/>
          </a:p>
        </p:txBody>
      </p:sp>
      <p:sp>
        <p:nvSpPr>
          <p:cNvPr id="12" name="Shape 10"/>
          <p:cNvSpPr/>
          <p:nvPr/>
        </p:nvSpPr>
        <p:spPr>
          <a:xfrm>
            <a:off x="685800" y="4800600"/>
            <a:ext cx="10789920" cy="914400"/>
          </a:xfrm>
          <a:prstGeom prst="roundRect">
            <a:avLst>
              <a:gd name="adj" fmla="val 8000"/>
            </a:avLst>
          </a:prstGeom>
          <a:solidFill>
            <a:srgbClr val="FBF3E3"/>
          </a:solidFill>
          <a:ln w="12700">
            <a:solidFill>
              <a:srgbClr val="FBF3E3"/>
            </a:solidFill>
            <a:prstDash val="solid"/>
          </a:ln>
          <a:effectLst>
            <a:outerShdw sx="100000" sy="100000" kx="0" ky="0" algn="bl" rotWithShape="0" blurRad="76200" dist="508" dir="5400000">
              <a:srgbClr val="A9C2B5">
                <a:alpha val="25000"/>
              </a:srgbClr>
            </a:outerShdw>
          </a:effectLst>
        </p:spPr>
      </p:sp>
      <p:sp>
        <p:nvSpPr>
          <p:cNvPr id="13" name="Text 11"/>
          <p:cNvSpPr/>
          <p:nvPr/>
        </p:nvSpPr>
        <p:spPr>
          <a:xfrm>
            <a:off x="960120" y="4983480"/>
            <a:ext cx="10241280" cy="548640"/>
          </a:xfrm>
          <a:prstGeom prst="rect">
            <a:avLst/>
          </a:prstGeom>
          <a:noFill/>
          <a:ln/>
        </p:spPr>
        <p:txBody>
          <a:bodyPr wrap="square" lIns="0" tIns="0" rIns="0" bIns="0" rtlCol="0" anchor="ctr"/>
          <a:lstStyle/>
          <a:p>
            <a:pPr indent="0" marL="0">
              <a:buNone/>
            </a:pPr>
            <a:r>
              <a:rPr lang="en-US" sz="1350" b="1" dirty="0">
                <a:solidFill>
                  <a:srgbClr val="8A5E10"/>
                </a:solidFill>
                <a:latin typeface="Calibri" pitchFamily="34" charset="0"/>
                <a:ea typeface="Calibri" pitchFamily="34" charset="-122"/>
                <a:cs typeface="Calibri" pitchFamily="34" charset="-120"/>
              </a:rPr>
              <a:t>Two numbers matter most: how many projects, and how many lines of code. Our licence is capped by lines of code, so we need them before we commit.</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457200"/>
            <a:ext cx="10789920" cy="640080"/>
          </a:xfrm>
          <a:prstGeom prst="rect">
            <a:avLst/>
          </a:prstGeom>
          <a:noFill/>
          <a:ln/>
        </p:spPr>
        <p:txBody>
          <a:bodyPr wrap="square" lIns="0" tIns="0" rIns="0" bIns="0" rtlCol="0" anchor="ctr"/>
          <a:lstStyle/>
          <a:p>
            <a:pPr indent="0" marL="0">
              <a:buNone/>
            </a:pPr>
            <a:r>
              <a:rPr lang="en-US" sz="3100" b="1" dirty="0">
                <a:solidFill>
                  <a:srgbClr val="00382B"/>
                </a:solidFill>
                <a:latin typeface="Cambria" pitchFamily="34" charset="0"/>
                <a:ea typeface="Cambria" pitchFamily="34" charset="-122"/>
                <a:cs typeface="Cambria" pitchFamily="34" charset="-120"/>
              </a:rPr>
              <a:t>Next actions</a:t>
            </a:r>
            <a:endParaRPr lang="en-US" sz="3100" dirty="0"/>
          </a:p>
        </p:txBody>
      </p:sp>
      <p:sp>
        <p:nvSpPr>
          <p:cNvPr id="3" name="Text 1"/>
          <p:cNvSpPr/>
          <p:nvPr/>
        </p:nvSpPr>
        <p:spPr>
          <a:xfrm>
            <a:off x="685800" y="1060704"/>
            <a:ext cx="10789920" cy="365760"/>
          </a:xfrm>
          <a:prstGeom prst="rect">
            <a:avLst/>
          </a:prstGeom>
          <a:noFill/>
          <a:ln/>
        </p:spPr>
        <p:txBody>
          <a:bodyPr wrap="square" lIns="0" tIns="0" rIns="0" bIns="0" rtlCol="0" anchor="ctr"/>
          <a:lstStyle/>
          <a:p>
            <a:pPr indent="0" marL="0">
              <a:buNone/>
            </a:pPr>
            <a:r>
              <a:rPr lang="en-US" sz="1400" i="1" dirty="0">
                <a:solidFill>
                  <a:srgbClr val="5B7268"/>
                </a:solidFill>
                <a:latin typeface="Calibri" pitchFamily="34" charset="0"/>
                <a:ea typeface="Calibri" pitchFamily="34" charset="-122"/>
                <a:cs typeface="Calibri" pitchFamily="34" charset="-120"/>
              </a:rPr>
              <a:t>Who does what, and by when.</a:t>
            </a:r>
            <a:endParaRPr lang="en-US" sz="1400" dirty="0"/>
          </a:p>
        </p:txBody>
      </p:sp>
      <p:sp>
        <p:nvSpPr>
          <p:cNvPr id="4" name="Shape 2"/>
          <p:cNvSpPr/>
          <p:nvPr/>
        </p:nvSpPr>
        <p:spPr>
          <a:xfrm>
            <a:off x="685800" y="1737360"/>
            <a:ext cx="3383280" cy="457200"/>
          </a:xfrm>
          <a:prstGeom prst="roundRect">
            <a:avLst>
              <a:gd name="adj" fmla="val 10000"/>
            </a:avLst>
          </a:prstGeom>
          <a:solidFill>
            <a:srgbClr val="00382B"/>
          </a:solidFill>
          <a:ln w="12700">
            <a:solidFill>
              <a:srgbClr val="00382B"/>
            </a:solidFill>
            <a:prstDash val="solid"/>
          </a:ln>
        </p:spPr>
      </p:sp>
      <p:sp>
        <p:nvSpPr>
          <p:cNvPr id="5" name="Text 3"/>
          <p:cNvSpPr/>
          <p:nvPr/>
        </p:nvSpPr>
        <p:spPr>
          <a:xfrm>
            <a:off x="914400" y="1737360"/>
            <a:ext cx="2926080" cy="457200"/>
          </a:xfrm>
          <a:prstGeom prst="rect">
            <a:avLst/>
          </a:prstGeom>
          <a:noFill/>
          <a:ln/>
        </p:spPr>
        <p:txBody>
          <a:bodyPr wrap="square" lIns="0" tIns="0" rIns="0" bIns="0" rtlCol="0" anchor="ctr"/>
          <a:lstStyle/>
          <a:p>
            <a:pPr indent="0" marL="0">
              <a:buNone/>
            </a:pPr>
            <a:r>
              <a:rPr lang="en-US" sz="1150" b="1" spc="200" kern="0" dirty="0">
                <a:solidFill>
                  <a:srgbClr val="5FD3A0"/>
                </a:solidFill>
                <a:latin typeface="Calibri" pitchFamily="34" charset="0"/>
                <a:ea typeface="Calibri" pitchFamily="34" charset="-122"/>
                <a:cs typeface="Calibri" pitchFamily="34" charset="-120"/>
              </a:rPr>
              <a:t>THIS WEEK</a:t>
            </a:r>
            <a:endParaRPr lang="en-US" sz="1150" dirty="0"/>
          </a:p>
        </p:txBody>
      </p:sp>
      <p:sp>
        <p:nvSpPr>
          <p:cNvPr id="6" name="Shape 4"/>
          <p:cNvSpPr/>
          <p:nvPr/>
        </p:nvSpPr>
        <p:spPr>
          <a:xfrm>
            <a:off x="685800" y="2286000"/>
            <a:ext cx="3383280" cy="1051560"/>
          </a:xfrm>
          <a:prstGeom prst="roundRect">
            <a:avLst>
              <a:gd name="adj" fmla="val 6957"/>
            </a:avLst>
          </a:prstGeom>
          <a:solidFill>
            <a:srgbClr val="EAF4EF"/>
          </a:solidFill>
          <a:ln w="12700">
            <a:solidFill>
              <a:srgbClr val="EAF4EF"/>
            </a:solidFill>
            <a:prstDash val="solid"/>
          </a:ln>
          <a:effectLst>
            <a:outerShdw sx="100000" sy="100000" kx="0" ky="0" algn="bl" rotWithShape="0" blurRad="76200" dist="508" dir="5400000">
              <a:srgbClr val="A9C2B5">
                <a:alpha val="25000"/>
              </a:srgbClr>
            </a:outerShdw>
          </a:effectLst>
        </p:spPr>
      </p:sp>
      <p:sp>
        <p:nvSpPr>
          <p:cNvPr id="7" name="Shape 5"/>
          <p:cNvSpPr/>
          <p:nvPr/>
        </p:nvSpPr>
        <p:spPr>
          <a:xfrm>
            <a:off x="914400" y="2441448"/>
            <a:ext cx="713232" cy="256032"/>
          </a:xfrm>
          <a:prstGeom prst="roundRect">
            <a:avLst>
              <a:gd name="adj" fmla="val 14286"/>
            </a:avLst>
          </a:prstGeom>
          <a:solidFill>
            <a:srgbClr val="D6EDE1"/>
          </a:solidFill>
          <a:ln w="12700">
            <a:solidFill>
              <a:srgbClr val="D6EDE1"/>
            </a:solidFill>
            <a:prstDash val="solid"/>
          </a:ln>
        </p:spPr>
      </p:sp>
      <p:sp>
        <p:nvSpPr>
          <p:cNvPr id="8" name="Text 6"/>
          <p:cNvSpPr/>
          <p:nvPr/>
        </p:nvSpPr>
        <p:spPr>
          <a:xfrm>
            <a:off x="914400" y="2441448"/>
            <a:ext cx="713232" cy="256032"/>
          </a:xfrm>
          <a:prstGeom prst="rect">
            <a:avLst/>
          </a:prstGeom>
          <a:noFill/>
          <a:ln/>
        </p:spPr>
        <p:txBody>
          <a:bodyPr wrap="square" lIns="0" tIns="0" rIns="0" bIns="0" rtlCol="0" anchor="ctr"/>
          <a:lstStyle/>
          <a:p>
            <a:pPr algn="ctr" indent="0" marL="0">
              <a:buNone/>
            </a:pPr>
            <a:r>
              <a:rPr lang="en-US" sz="900" b="1" dirty="0">
                <a:solidFill>
                  <a:srgbClr val="00915A"/>
                </a:solidFill>
                <a:latin typeface="Calibri" pitchFamily="34" charset="0"/>
                <a:ea typeface="Calibri" pitchFamily="34" charset="-122"/>
                <a:cs typeface="Calibri" pitchFamily="34" charset="-120"/>
              </a:rPr>
              <a:t>US</a:t>
            </a:r>
            <a:endParaRPr lang="en-US" sz="900" dirty="0"/>
          </a:p>
        </p:txBody>
      </p:sp>
      <p:sp>
        <p:nvSpPr>
          <p:cNvPr id="9" name="Text 7"/>
          <p:cNvSpPr/>
          <p:nvPr/>
        </p:nvSpPr>
        <p:spPr>
          <a:xfrm>
            <a:off x="914400" y="2743200"/>
            <a:ext cx="2926080" cy="502920"/>
          </a:xfrm>
          <a:prstGeom prst="rect">
            <a:avLst/>
          </a:prstGeom>
          <a:noFill/>
          <a:ln/>
        </p:spPr>
        <p:txBody>
          <a:bodyPr wrap="square" lIns="0" tIns="0" rIns="0" bIns="0" rtlCol="0" anchor="ctr"/>
          <a:lstStyle/>
          <a:p>
            <a:pPr indent="0" marL="0">
              <a:buNone/>
            </a:pPr>
            <a:r>
              <a:rPr lang="en-US" sz="1200" dirty="0">
                <a:solidFill>
                  <a:srgbClr val="16302A"/>
                </a:solidFill>
                <a:latin typeface="Calibri" pitchFamily="34" charset="0"/>
                <a:ea typeface="Calibri" pitchFamily="34" charset="-122"/>
                <a:cs typeface="Calibri" pitchFamily="34" charset="-120"/>
              </a:rPr>
              <a:t>Send you the plugin delta list, with versions</a:t>
            </a:r>
            <a:endParaRPr lang="en-US" sz="1200" dirty="0"/>
          </a:p>
        </p:txBody>
      </p:sp>
      <p:sp>
        <p:nvSpPr>
          <p:cNvPr id="10" name="Shape 8"/>
          <p:cNvSpPr/>
          <p:nvPr/>
        </p:nvSpPr>
        <p:spPr>
          <a:xfrm>
            <a:off x="685800" y="3456432"/>
            <a:ext cx="3383280" cy="1051560"/>
          </a:xfrm>
          <a:prstGeom prst="roundRect">
            <a:avLst>
              <a:gd name="adj" fmla="val 6957"/>
            </a:avLst>
          </a:prstGeom>
          <a:solidFill>
            <a:srgbClr val="F3F8F5"/>
          </a:solidFill>
          <a:ln w="12700">
            <a:solidFill>
              <a:srgbClr val="F3F8F5"/>
            </a:solidFill>
            <a:prstDash val="solid"/>
          </a:ln>
          <a:effectLst>
            <a:outerShdw sx="100000" sy="100000" kx="0" ky="0" algn="bl" rotWithShape="0" blurRad="76200" dist="508" dir="5400000">
              <a:srgbClr val="A9C2B5">
                <a:alpha val="25000"/>
              </a:srgbClr>
            </a:outerShdw>
          </a:effectLst>
        </p:spPr>
      </p:sp>
      <p:sp>
        <p:nvSpPr>
          <p:cNvPr id="11" name="Shape 9"/>
          <p:cNvSpPr/>
          <p:nvPr/>
        </p:nvSpPr>
        <p:spPr>
          <a:xfrm>
            <a:off x="914400" y="3611880"/>
            <a:ext cx="713232" cy="256032"/>
          </a:xfrm>
          <a:prstGeom prst="roundRect">
            <a:avLst>
              <a:gd name="adj" fmla="val 14286"/>
            </a:avLst>
          </a:prstGeom>
          <a:solidFill>
            <a:srgbClr val="D6EDE1"/>
          </a:solidFill>
          <a:ln w="12700">
            <a:solidFill>
              <a:srgbClr val="D6EDE1"/>
            </a:solidFill>
            <a:prstDash val="solid"/>
          </a:ln>
        </p:spPr>
      </p:sp>
      <p:sp>
        <p:nvSpPr>
          <p:cNvPr id="12" name="Text 10"/>
          <p:cNvSpPr/>
          <p:nvPr/>
        </p:nvSpPr>
        <p:spPr>
          <a:xfrm>
            <a:off x="914400" y="3611880"/>
            <a:ext cx="713232" cy="256032"/>
          </a:xfrm>
          <a:prstGeom prst="rect">
            <a:avLst/>
          </a:prstGeom>
          <a:noFill/>
          <a:ln/>
        </p:spPr>
        <p:txBody>
          <a:bodyPr wrap="square" lIns="0" tIns="0" rIns="0" bIns="0" rtlCol="0" anchor="ctr"/>
          <a:lstStyle/>
          <a:p>
            <a:pPr algn="ctr" indent="0" marL="0">
              <a:buNone/>
            </a:pPr>
            <a:r>
              <a:rPr lang="en-US" sz="900" b="1" dirty="0">
                <a:solidFill>
                  <a:srgbClr val="00915A"/>
                </a:solidFill>
                <a:latin typeface="Calibri" pitchFamily="34" charset="0"/>
                <a:ea typeface="Calibri" pitchFamily="34" charset="-122"/>
                <a:cs typeface="Calibri" pitchFamily="34" charset="-120"/>
              </a:rPr>
              <a:t>US</a:t>
            </a:r>
            <a:endParaRPr lang="en-US" sz="900" dirty="0"/>
          </a:p>
        </p:txBody>
      </p:sp>
      <p:sp>
        <p:nvSpPr>
          <p:cNvPr id="13" name="Text 11"/>
          <p:cNvSpPr/>
          <p:nvPr/>
        </p:nvSpPr>
        <p:spPr>
          <a:xfrm>
            <a:off x="914400" y="3913632"/>
            <a:ext cx="2926080" cy="502920"/>
          </a:xfrm>
          <a:prstGeom prst="rect">
            <a:avLst/>
          </a:prstGeom>
          <a:noFill/>
          <a:ln/>
        </p:spPr>
        <p:txBody>
          <a:bodyPr wrap="square" lIns="0" tIns="0" rIns="0" bIns="0" rtlCol="0" anchor="ctr"/>
          <a:lstStyle/>
          <a:p>
            <a:pPr indent="0" marL="0">
              <a:buNone/>
            </a:pPr>
            <a:r>
              <a:rPr lang="en-US" sz="1200" dirty="0">
                <a:solidFill>
                  <a:srgbClr val="16302A"/>
                </a:solidFill>
                <a:latin typeface="Calibri" pitchFamily="34" charset="0"/>
                <a:ea typeface="Calibri" pitchFamily="34" charset="-122"/>
                <a:cs typeface="Calibri" pitchFamily="34" charset="-120"/>
              </a:rPr>
              <a:t>Check our licence headroom in lines of code</a:t>
            </a:r>
            <a:endParaRPr lang="en-US" sz="1200" dirty="0"/>
          </a:p>
        </p:txBody>
      </p:sp>
      <p:sp>
        <p:nvSpPr>
          <p:cNvPr id="14" name="Shape 12"/>
          <p:cNvSpPr/>
          <p:nvPr/>
        </p:nvSpPr>
        <p:spPr>
          <a:xfrm>
            <a:off x="685800" y="4626864"/>
            <a:ext cx="3383280" cy="1051560"/>
          </a:xfrm>
          <a:prstGeom prst="roundRect">
            <a:avLst>
              <a:gd name="adj" fmla="val 6957"/>
            </a:avLst>
          </a:prstGeom>
          <a:solidFill>
            <a:srgbClr val="EAF4EF"/>
          </a:solidFill>
          <a:ln w="12700">
            <a:solidFill>
              <a:srgbClr val="EAF4EF"/>
            </a:solidFill>
            <a:prstDash val="solid"/>
          </a:ln>
          <a:effectLst>
            <a:outerShdw sx="100000" sy="100000" kx="0" ky="0" algn="bl" rotWithShape="0" blurRad="76200" dist="508" dir="5400000">
              <a:srgbClr val="A9C2B5">
                <a:alpha val="25000"/>
              </a:srgbClr>
            </a:outerShdw>
          </a:effectLst>
        </p:spPr>
      </p:sp>
      <p:sp>
        <p:nvSpPr>
          <p:cNvPr id="15" name="Shape 13"/>
          <p:cNvSpPr/>
          <p:nvPr/>
        </p:nvSpPr>
        <p:spPr>
          <a:xfrm>
            <a:off x="914400" y="4782312"/>
            <a:ext cx="713232" cy="256032"/>
          </a:xfrm>
          <a:prstGeom prst="roundRect">
            <a:avLst>
              <a:gd name="adj" fmla="val 14286"/>
            </a:avLst>
          </a:prstGeom>
          <a:solidFill>
            <a:srgbClr val="FBF3E3"/>
          </a:solidFill>
          <a:ln w="12700">
            <a:solidFill>
              <a:srgbClr val="FBF3E3"/>
            </a:solidFill>
            <a:prstDash val="solid"/>
          </a:ln>
        </p:spPr>
      </p:sp>
      <p:sp>
        <p:nvSpPr>
          <p:cNvPr id="16" name="Text 14"/>
          <p:cNvSpPr/>
          <p:nvPr/>
        </p:nvSpPr>
        <p:spPr>
          <a:xfrm>
            <a:off x="914400" y="4782312"/>
            <a:ext cx="713232" cy="256032"/>
          </a:xfrm>
          <a:prstGeom prst="rect">
            <a:avLst/>
          </a:prstGeom>
          <a:noFill/>
          <a:ln/>
        </p:spPr>
        <p:txBody>
          <a:bodyPr wrap="square" lIns="0" tIns="0" rIns="0" bIns="0" rtlCol="0" anchor="ctr"/>
          <a:lstStyle/>
          <a:p>
            <a:pPr algn="ctr" indent="0" marL="0">
              <a:buNone/>
            </a:pPr>
            <a:r>
              <a:rPr lang="en-US" sz="900" b="1" dirty="0">
                <a:solidFill>
                  <a:srgbClr val="8A5E10"/>
                </a:solidFill>
                <a:latin typeface="Calibri" pitchFamily="34" charset="0"/>
                <a:ea typeface="Calibri" pitchFamily="34" charset="-122"/>
                <a:cs typeface="Calibri" pitchFamily="34" charset="-120"/>
              </a:rPr>
              <a:t>YOU</a:t>
            </a:r>
            <a:endParaRPr lang="en-US" sz="900" dirty="0"/>
          </a:p>
        </p:txBody>
      </p:sp>
      <p:sp>
        <p:nvSpPr>
          <p:cNvPr id="17" name="Text 15"/>
          <p:cNvSpPr/>
          <p:nvPr/>
        </p:nvSpPr>
        <p:spPr>
          <a:xfrm>
            <a:off x="914400" y="5084064"/>
            <a:ext cx="2926080" cy="502920"/>
          </a:xfrm>
          <a:prstGeom prst="rect">
            <a:avLst/>
          </a:prstGeom>
          <a:noFill/>
          <a:ln/>
        </p:spPr>
        <p:txBody>
          <a:bodyPr wrap="square" lIns="0" tIns="0" rIns="0" bIns="0" rtlCol="0" anchor="ctr"/>
          <a:lstStyle/>
          <a:p>
            <a:pPr indent="0" marL="0">
              <a:buNone/>
            </a:pPr>
            <a:r>
              <a:rPr lang="en-US" sz="1200" dirty="0">
                <a:solidFill>
                  <a:srgbClr val="16302A"/>
                </a:solidFill>
                <a:latin typeface="Calibri" pitchFamily="34" charset="0"/>
                <a:ea typeface="Calibri" pitchFamily="34" charset="-122"/>
                <a:cs typeface="Calibri" pitchFamily="34" charset="-120"/>
              </a:rPr>
              <a:t>Tell us where the GitLab move stands</a:t>
            </a:r>
            <a:endParaRPr lang="en-US" sz="1200" dirty="0"/>
          </a:p>
        </p:txBody>
      </p:sp>
      <p:sp>
        <p:nvSpPr>
          <p:cNvPr id="18" name="Shape 16"/>
          <p:cNvSpPr/>
          <p:nvPr/>
        </p:nvSpPr>
        <p:spPr>
          <a:xfrm>
            <a:off x="4389120" y="1737360"/>
            <a:ext cx="3383280" cy="457200"/>
          </a:xfrm>
          <a:prstGeom prst="roundRect">
            <a:avLst>
              <a:gd name="adj" fmla="val 10000"/>
            </a:avLst>
          </a:prstGeom>
          <a:solidFill>
            <a:srgbClr val="00915A"/>
          </a:solidFill>
          <a:ln w="12700">
            <a:solidFill>
              <a:srgbClr val="00915A"/>
            </a:solidFill>
            <a:prstDash val="solid"/>
          </a:ln>
        </p:spPr>
      </p:sp>
      <p:sp>
        <p:nvSpPr>
          <p:cNvPr id="19" name="Text 17"/>
          <p:cNvSpPr/>
          <p:nvPr/>
        </p:nvSpPr>
        <p:spPr>
          <a:xfrm>
            <a:off x="4617720" y="1737360"/>
            <a:ext cx="2926080" cy="457200"/>
          </a:xfrm>
          <a:prstGeom prst="rect">
            <a:avLst/>
          </a:prstGeom>
          <a:noFill/>
          <a:ln/>
        </p:spPr>
        <p:txBody>
          <a:bodyPr wrap="square" lIns="0" tIns="0" rIns="0" bIns="0" rtlCol="0" anchor="ctr"/>
          <a:lstStyle/>
          <a:p>
            <a:pPr indent="0" marL="0">
              <a:buNone/>
            </a:pPr>
            <a:r>
              <a:rPr lang="en-US" sz="1150" b="1" spc="200" kern="0" dirty="0">
                <a:solidFill>
                  <a:srgbClr val="5FD3A0"/>
                </a:solidFill>
                <a:latin typeface="Calibri" pitchFamily="34" charset="0"/>
                <a:ea typeface="Calibri" pitchFamily="34" charset="-122"/>
                <a:cs typeface="Calibri" pitchFamily="34" charset="-120"/>
              </a:rPr>
              <a:t>WITHIN 2 WEEKS</a:t>
            </a:r>
            <a:endParaRPr lang="en-US" sz="1150" dirty="0"/>
          </a:p>
        </p:txBody>
      </p:sp>
      <p:sp>
        <p:nvSpPr>
          <p:cNvPr id="20" name="Shape 18"/>
          <p:cNvSpPr/>
          <p:nvPr/>
        </p:nvSpPr>
        <p:spPr>
          <a:xfrm>
            <a:off x="4389120" y="2286000"/>
            <a:ext cx="3383280" cy="1051560"/>
          </a:xfrm>
          <a:prstGeom prst="roundRect">
            <a:avLst>
              <a:gd name="adj" fmla="val 6957"/>
            </a:avLst>
          </a:prstGeom>
          <a:solidFill>
            <a:srgbClr val="EAF4EF"/>
          </a:solidFill>
          <a:ln w="12700">
            <a:solidFill>
              <a:srgbClr val="EAF4EF"/>
            </a:solidFill>
            <a:prstDash val="solid"/>
          </a:ln>
          <a:effectLst>
            <a:outerShdw sx="100000" sy="100000" kx="0" ky="0" algn="bl" rotWithShape="0" blurRad="76200" dist="508" dir="5400000">
              <a:srgbClr val="A9C2B5">
                <a:alpha val="25000"/>
              </a:srgbClr>
            </a:outerShdw>
          </a:effectLst>
        </p:spPr>
      </p:sp>
      <p:sp>
        <p:nvSpPr>
          <p:cNvPr id="21" name="Shape 19"/>
          <p:cNvSpPr/>
          <p:nvPr/>
        </p:nvSpPr>
        <p:spPr>
          <a:xfrm>
            <a:off x="4617720" y="2441448"/>
            <a:ext cx="713232" cy="256032"/>
          </a:xfrm>
          <a:prstGeom prst="roundRect">
            <a:avLst>
              <a:gd name="adj" fmla="val 14286"/>
            </a:avLst>
          </a:prstGeom>
          <a:solidFill>
            <a:srgbClr val="FBF3E3"/>
          </a:solidFill>
          <a:ln w="12700">
            <a:solidFill>
              <a:srgbClr val="FBF3E3"/>
            </a:solidFill>
            <a:prstDash val="solid"/>
          </a:ln>
        </p:spPr>
      </p:sp>
      <p:sp>
        <p:nvSpPr>
          <p:cNvPr id="22" name="Text 20"/>
          <p:cNvSpPr/>
          <p:nvPr/>
        </p:nvSpPr>
        <p:spPr>
          <a:xfrm>
            <a:off x="4617720" y="2441448"/>
            <a:ext cx="713232" cy="256032"/>
          </a:xfrm>
          <a:prstGeom prst="rect">
            <a:avLst/>
          </a:prstGeom>
          <a:noFill/>
          <a:ln/>
        </p:spPr>
        <p:txBody>
          <a:bodyPr wrap="square" lIns="0" tIns="0" rIns="0" bIns="0" rtlCol="0" anchor="ctr"/>
          <a:lstStyle/>
          <a:p>
            <a:pPr algn="ctr" indent="0" marL="0">
              <a:buNone/>
            </a:pPr>
            <a:r>
              <a:rPr lang="en-US" sz="900" b="1" dirty="0">
                <a:solidFill>
                  <a:srgbClr val="8A5E10"/>
                </a:solidFill>
                <a:latin typeface="Calibri" pitchFamily="34" charset="0"/>
                <a:ea typeface="Calibri" pitchFamily="34" charset="-122"/>
                <a:cs typeface="Calibri" pitchFamily="34" charset="-120"/>
              </a:rPr>
              <a:t>YOU</a:t>
            </a:r>
            <a:endParaRPr lang="en-US" sz="900" dirty="0"/>
          </a:p>
        </p:txBody>
      </p:sp>
      <p:sp>
        <p:nvSpPr>
          <p:cNvPr id="23" name="Text 21"/>
          <p:cNvSpPr/>
          <p:nvPr/>
        </p:nvSpPr>
        <p:spPr>
          <a:xfrm>
            <a:off x="4617720" y="2743200"/>
            <a:ext cx="2926080" cy="502920"/>
          </a:xfrm>
          <a:prstGeom prst="rect">
            <a:avLst/>
          </a:prstGeom>
          <a:noFill/>
          <a:ln/>
        </p:spPr>
        <p:txBody>
          <a:bodyPr wrap="square" lIns="0" tIns="0" rIns="0" bIns="0" rtlCol="0" anchor="ctr"/>
          <a:lstStyle/>
          <a:p>
            <a:pPr indent="0" marL="0">
              <a:buNone/>
            </a:pPr>
            <a:r>
              <a:rPr lang="en-US" sz="1200" dirty="0">
                <a:solidFill>
                  <a:srgbClr val="16302A"/>
                </a:solidFill>
                <a:latin typeface="Calibri" pitchFamily="34" charset="0"/>
                <a:ea typeface="Calibri" pitchFamily="34" charset="-122"/>
                <a:cs typeface="Calibri" pitchFamily="34" charset="-120"/>
              </a:rPr>
              <a:t>Move the pilot repositories to our GitLab</a:t>
            </a:r>
            <a:endParaRPr lang="en-US" sz="1200" dirty="0"/>
          </a:p>
        </p:txBody>
      </p:sp>
      <p:sp>
        <p:nvSpPr>
          <p:cNvPr id="24" name="Shape 22"/>
          <p:cNvSpPr/>
          <p:nvPr/>
        </p:nvSpPr>
        <p:spPr>
          <a:xfrm>
            <a:off x="4389120" y="3456432"/>
            <a:ext cx="3383280" cy="1051560"/>
          </a:xfrm>
          <a:prstGeom prst="roundRect">
            <a:avLst>
              <a:gd name="adj" fmla="val 6957"/>
            </a:avLst>
          </a:prstGeom>
          <a:solidFill>
            <a:srgbClr val="F3F8F5"/>
          </a:solidFill>
          <a:ln w="12700">
            <a:solidFill>
              <a:srgbClr val="F3F8F5"/>
            </a:solidFill>
            <a:prstDash val="solid"/>
          </a:ln>
          <a:effectLst>
            <a:outerShdw sx="100000" sy="100000" kx="0" ky="0" algn="bl" rotWithShape="0" blurRad="76200" dist="508" dir="5400000">
              <a:srgbClr val="A9C2B5">
                <a:alpha val="25000"/>
              </a:srgbClr>
            </a:outerShdw>
          </a:effectLst>
        </p:spPr>
      </p:sp>
      <p:sp>
        <p:nvSpPr>
          <p:cNvPr id="25" name="Shape 23"/>
          <p:cNvSpPr/>
          <p:nvPr/>
        </p:nvSpPr>
        <p:spPr>
          <a:xfrm>
            <a:off x="4617720" y="3611880"/>
            <a:ext cx="713232" cy="256032"/>
          </a:xfrm>
          <a:prstGeom prst="roundRect">
            <a:avLst>
              <a:gd name="adj" fmla="val 14286"/>
            </a:avLst>
          </a:prstGeom>
          <a:solidFill>
            <a:srgbClr val="FBF3E3"/>
          </a:solidFill>
          <a:ln w="12700">
            <a:solidFill>
              <a:srgbClr val="FBF3E3"/>
            </a:solidFill>
            <a:prstDash val="solid"/>
          </a:ln>
        </p:spPr>
      </p:sp>
      <p:sp>
        <p:nvSpPr>
          <p:cNvPr id="26" name="Text 24"/>
          <p:cNvSpPr/>
          <p:nvPr/>
        </p:nvSpPr>
        <p:spPr>
          <a:xfrm>
            <a:off x="4617720" y="3611880"/>
            <a:ext cx="713232" cy="256032"/>
          </a:xfrm>
          <a:prstGeom prst="rect">
            <a:avLst/>
          </a:prstGeom>
          <a:noFill/>
          <a:ln/>
        </p:spPr>
        <p:txBody>
          <a:bodyPr wrap="square" lIns="0" tIns="0" rIns="0" bIns="0" rtlCol="0" anchor="ctr"/>
          <a:lstStyle/>
          <a:p>
            <a:pPr algn="ctr" indent="0" marL="0">
              <a:buNone/>
            </a:pPr>
            <a:r>
              <a:rPr lang="en-US" sz="900" b="1" dirty="0">
                <a:solidFill>
                  <a:srgbClr val="8A5E10"/>
                </a:solidFill>
                <a:latin typeface="Calibri" pitchFamily="34" charset="0"/>
                <a:ea typeface="Calibri" pitchFamily="34" charset="-122"/>
                <a:cs typeface="Calibri" pitchFamily="34" charset="-120"/>
              </a:rPr>
              <a:t>YOU</a:t>
            </a:r>
            <a:endParaRPr lang="en-US" sz="900" dirty="0"/>
          </a:p>
        </p:txBody>
      </p:sp>
      <p:sp>
        <p:nvSpPr>
          <p:cNvPr id="27" name="Text 25"/>
          <p:cNvSpPr/>
          <p:nvPr/>
        </p:nvSpPr>
        <p:spPr>
          <a:xfrm>
            <a:off x="4617720" y="3913632"/>
            <a:ext cx="2926080" cy="502920"/>
          </a:xfrm>
          <a:prstGeom prst="rect">
            <a:avLst/>
          </a:prstGeom>
          <a:noFill/>
          <a:ln/>
        </p:spPr>
        <p:txBody>
          <a:bodyPr wrap="square" lIns="0" tIns="0" rIns="0" bIns="0" rtlCol="0" anchor="ctr"/>
          <a:lstStyle/>
          <a:p>
            <a:pPr indent="0" marL="0">
              <a:buNone/>
            </a:pPr>
            <a:r>
              <a:rPr lang="en-US" sz="1200" dirty="0">
                <a:solidFill>
                  <a:srgbClr val="16302A"/>
                </a:solidFill>
                <a:latin typeface="Calibri" pitchFamily="34" charset="0"/>
                <a:ea typeface="Calibri" pitchFamily="34" charset="-122"/>
                <a:cs typeface="Calibri" pitchFamily="34" charset="-120"/>
              </a:rPr>
              <a:t>Patch your instance to 2026.2.1</a:t>
            </a:r>
            <a:endParaRPr lang="en-US" sz="1200" dirty="0"/>
          </a:p>
        </p:txBody>
      </p:sp>
      <p:sp>
        <p:nvSpPr>
          <p:cNvPr id="28" name="Shape 26"/>
          <p:cNvSpPr/>
          <p:nvPr/>
        </p:nvSpPr>
        <p:spPr>
          <a:xfrm>
            <a:off x="4389120" y="4626864"/>
            <a:ext cx="3383280" cy="1051560"/>
          </a:xfrm>
          <a:prstGeom prst="roundRect">
            <a:avLst>
              <a:gd name="adj" fmla="val 6957"/>
            </a:avLst>
          </a:prstGeom>
          <a:solidFill>
            <a:srgbClr val="EAF4EF"/>
          </a:solidFill>
          <a:ln w="12700">
            <a:solidFill>
              <a:srgbClr val="EAF4EF"/>
            </a:solidFill>
            <a:prstDash val="solid"/>
          </a:ln>
          <a:effectLst>
            <a:outerShdw sx="100000" sy="100000" kx="0" ky="0" algn="bl" rotWithShape="0" blurRad="76200" dist="508" dir="5400000">
              <a:srgbClr val="A9C2B5">
                <a:alpha val="25000"/>
              </a:srgbClr>
            </a:outerShdw>
          </a:effectLst>
        </p:spPr>
      </p:sp>
      <p:sp>
        <p:nvSpPr>
          <p:cNvPr id="29" name="Shape 27"/>
          <p:cNvSpPr/>
          <p:nvPr/>
        </p:nvSpPr>
        <p:spPr>
          <a:xfrm>
            <a:off x="4617720" y="4782312"/>
            <a:ext cx="713232" cy="256032"/>
          </a:xfrm>
          <a:prstGeom prst="roundRect">
            <a:avLst>
              <a:gd name="adj" fmla="val 14286"/>
            </a:avLst>
          </a:prstGeom>
          <a:solidFill>
            <a:srgbClr val="DDEBE5"/>
          </a:solidFill>
          <a:ln w="12700">
            <a:solidFill>
              <a:srgbClr val="DDEBE5"/>
            </a:solidFill>
            <a:prstDash val="solid"/>
          </a:ln>
        </p:spPr>
      </p:sp>
      <p:sp>
        <p:nvSpPr>
          <p:cNvPr id="30" name="Text 28"/>
          <p:cNvSpPr/>
          <p:nvPr/>
        </p:nvSpPr>
        <p:spPr>
          <a:xfrm>
            <a:off x="4617720" y="4782312"/>
            <a:ext cx="713232" cy="256032"/>
          </a:xfrm>
          <a:prstGeom prst="rect">
            <a:avLst/>
          </a:prstGeom>
          <a:noFill/>
          <a:ln/>
        </p:spPr>
        <p:txBody>
          <a:bodyPr wrap="square" lIns="0" tIns="0" rIns="0" bIns="0" rtlCol="0" anchor="ctr"/>
          <a:lstStyle/>
          <a:p>
            <a:pPr algn="ctr" indent="0" marL="0">
              <a:buNone/>
            </a:pPr>
            <a:r>
              <a:rPr lang="en-US" sz="900" b="1" dirty="0">
                <a:solidFill>
                  <a:srgbClr val="00694F"/>
                </a:solidFill>
                <a:latin typeface="Calibri" pitchFamily="34" charset="0"/>
                <a:ea typeface="Calibri" pitchFamily="34" charset="-122"/>
                <a:cs typeface="Calibri" pitchFamily="34" charset="-120"/>
              </a:rPr>
              <a:t>BOTH</a:t>
            </a:r>
            <a:endParaRPr lang="en-US" sz="900" dirty="0"/>
          </a:p>
        </p:txBody>
      </p:sp>
      <p:sp>
        <p:nvSpPr>
          <p:cNvPr id="31" name="Text 29"/>
          <p:cNvSpPr/>
          <p:nvPr/>
        </p:nvSpPr>
        <p:spPr>
          <a:xfrm>
            <a:off x="4617720" y="5084064"/>
            <a:ext cx="2926080" cy="502920"/>
          </a:xfrm>
          <a:prstGeom prst="rect">
            <a:avLst/>
          </a:prstGeom>
          <a:noFill/>
          <a:ln/>
        </p:spPr>
        <p:txBody>
          <a:bodyPr wrap="square" lIns="0" tIns="0" rIns="0" bIns="0" rtlCol="0" anchor="ctr"/>
          <a:lstStyle/>
          <a:p>
            <a:pPr indent="0" marL="0">
              <a:buNone/>
            </a:pPr>
            <a:r>
              <a:rPr lang="en-US" sz="1200" dirty="0">
                <a:solidFill>
                  <a:srgbClr val="16302A"/>
                </a:solidFill>
                <a:latin typeface="Calibri" pitchFamily="34" charset="0"/>
                <a:ea typeface="Calibri" pitchFamily="34" charset="-122"/>
                <a:cs typeface="Calibri" pitchFamily="34" charset="-120"/>
              </a:rPr>
              <a:t>Agree the POC scope and success criteria</a:t>
            </a:r>
            <a:endParaRPr lang="en-US" sz="1200" dirty="0"/>
          </a:p>
        </p:txBody>
      </p:sp>
      <p:sp>
        <p:nvSpPr>
          <p:cNvPr id="32" name="Shape 30"/>
          <p:cNvSpPr/>
          <p:nvPr/>
        </p:nvSpPr>
        <p:spPr>
          <a:xfrm>
            <a:off x="8092440" y="1737360"/>
            <a:ext cx="3383280" cy="457200"/>
          </a:xfrm>
          <a:prstGeom prst="roundRect">
            <a:avLst>
              <a:gd name="adj" fmla="val 10000"/>
            </a:avLst>
          </a:prstGeom>
          <a:solidFill>
            <a:srgbClr val="00694F"/>
          </a:solidFill>
          <a:ln w="12700">
            <a:solidFill>
              <a:srgbClr val="00694F"/>
            </a:solidFill>
            <a:prstDash val="solid"/>
          </a:ln>
        </p:spPr>
      </p:sp>
      <p:sp>
        <p:nvSpPr>
          <p:cNvPr id="33" name="Text 31"/>
          <p:cNvSpPr/>
          <p:nvPr/>
        </p:nvSpPr>
        <p:spPr>
          <a:xfrm>
            <a:off x="8321040" y="1737360"/>
            <a:ext cx="2926080" cy="457200"/>
          </a:xfrm>
          <a:prstGeom prst="rect">
            <a:avLst/>
          </a:prstGeom>
          <a:noFill/>
          <a:ln/>
        </p:spPr>
        <p:txBody>
          <a:bodyPr wrap="square" lIns="0" tIns="0" rIns="0" bIns="0" rtlCol="0" anchor="ctr"/>
          <a:lstStyle/>
          <a:p>
            <a:pPr indent="0" marL="0">
              <a:buNone/>
            </a:pPr>
            <a:r>
              <a:rPr lang="en-US" sz="1150" b="1" spc="200" kern="0" dirty="0">
                <a:solidFill>
                  <a:srgbClr val="5FD3A0"/>
                </a:solidFill>
                <a:latin typeface="Calibri" pitchFamily="34" charset="0"/>
                <a:ea typeface="Calibri" pitchFamily="34" charset="-122"/>
                <a:cs typeface="Calibri" pitchFamily="34" charset="-120"/>
              </a:rPr>
              <a:t>WITHIN 4 WEEKS</a:t>
            </a:r>
            <a:endParaRPr lang="en-US" sz="1150" dirty="0"/>
          </a:p>
        </p:txBody>
      </p:sp>
      <p:sp>
        <p:nvSpPr>
          <p:cNvPr id="34" name="Shape 32"/>
          <p:cNvSpPr/>
          <p:nvPr/>
        </p:nvSpPr>
        <p:spPr>
          <a:xfrm>
            <a:off x="8092440" y="2286000"/>
            <a:ext cx="3383280" cy="1051560"/>
          </a:xfrm>
          <a:prstGeom prst="roundRect">
            <a:avLst>
              <a:gd name="adj" fmla="val 6957"/>
            </a:avLst>
          </a:prstGeom>
          <a:solidFill>
            <a:srgbClr val="EAF4EF"/>
          </a:solidFill>
          <a:ln w="12700">
            <a:solidFill>
              <a:srgbClr val="EAF4EF"/>
            </a:solidFill>
            <a:prstDash val="solid"/>
          </a:ln>
          <a:effectLst>
            <a:outerShdw sx="100000" sy="100000" kx="0" ky="0" algn="bl" rotWithShape="0" blurRad="76200" dist="508" dir="5400000">
              <a:srgbClr val="A9C2B5">
                <a:alpha val="25000"/>
              </a:srgbClr>
            </a:outerShdw>
          </a:effectLst>
        </p:spPr>
      </p:sp>
      <p:sp>
        <p:nvSpPr>
          <p:cNvPr id="35" name="Shape 33"/>
          <p:cNvSpPr/>
          <p:nvPr/>
        </p:nvSpPr>
        <p:spPr>
          <a:xfrm>
            <a:off x="8321040" y="2441448"/>
            <a:ext cx="713232" cy="256032"/>
          </a:xfrm>
          <a:prstGeom prst="roundRect">
            <a:avLst>
              <a:gd name="adj" fmla="val 14286"/>
            </a:avLst>
          </a:prstGeom>
          <a:solidFill>
            <a:srgbClr val="FBF3E3"/>
          </a:solidFill>
          <a:ln w="12700">
            <a:solidFill>
              <a:srgbClr val="FBF3E3"/>
            </a:solidFill>
            <a:prstDash val="solid"/>
          </a:ln>
        </p:spPr>
      </p:sp>
      <p:sp>
        <p:nvSpPr>
          <p:cNvPr id="36" name="Text 34"/>
          <p:cNvSpPr/>
          <p:nvPr/>
        </p:nvSpPr>
        <p:spPr>
          <a:xfrm>
            <a:off x="8321040" y="2441448"/>
            <a:ext cx="713232" cy="256032"/>
          </a:xfrm>
          <a:prstGeom prst="rect">
            <a:avLst/>
          </a:prstGeom>
          <a:noFill/>
          <a:ln/>
        </p:spPr>
        <p:txBody>
          <a:bodyPr wrap="square" lIns="0" tIns="0" rIns="0" bIns="0" rtlCol="0" anchor="ctr"/>
          <a:lstStyle/>
          <a:p>
            <a:pPr algn="ctr" indent="0" marL="0">
              <a:buNone/>
            </a:pPr>
            <a:r>
              <a:rPr lang="en-US" sz="900" b="1" dirty="0">
                <a:solidFill>
                  <a:srgbClr val="8A5E10"/>
                </a:solidFill>
                <a:latin typeface="Calibri" pitchFamily="34" charset="0"/>
                <a:ea typeface="Calibri" pitchFamily="34" charset="-122"/>
                <a:cs typeface="Calibri" pitchFamily="34" charset="-120"/>
              </a:rPr>
              <a:t>YOU</a:t>
            </a:r>
            <a:endParaRPr lang="en-US" sz="900" dirty="0"/>
          </a:p>
        </p:txBody>
      </p:sp>
      <p:sp>
        <p:nvSpPr>
          <p:cNvPr id="37" name="Text 35"/>
          <p:cNvSpPr/>
          <p:nvPr/>
        </p:nvSpPr>
        <p:spPr>
          <a:xfrm>
            <a:off x="8321040" y="2743200"/>
            <a:ext cx="2926080" cy="502920"/>
          </a:xfrm>
          <a:prstGeom prst="rect">
            <a:avLst/>
          </a:prstGeom>
          <a:noFill/>
          <a:ln/>
        </p:spPr>
        <p:txBody>
          <a:bodyPr wrap="square" lIns="0" tIns="0" rIns="0" bIns="0" rtlCol="0" anchor="ctr"/>
          <a:lstStyle/>
          <a:p>
            <a:pPr indent="0" marL="0">
              <a:buNone/>
            </a:pPr>
            <a:r>
              <a:rPr lang="en-US" sz="1200" dirty="0">
                <a:solidFill>
                  <a:srgbClr val="16302A"/>
                </a:solidFill>
                <a:latin typeface="Calibri" pitchFamily="34" charset="0"/>
                <a:ea typeface="Calibri" pitchFamily="34" charset="-122"/>
                <a:cs typeface="Calibri" pitchFamily="34" charset="-120"/>
              </a:rPr>
              <a:t>Create the pilot projects in the portal</a:t>
            </a:r>
            <a:endParaRPr lang="en-US" sz="1200" dirty="0"/>
          </a:p>
        </p:txBody>
      </p:sp>
      <p:sp>
        <p:nvSpPr>
          <p:cNvPr id="38" name="Shape 36"/>
          <p:cNvSpPr/>
          <p:nvPr/>
        </p:nvSpPr>
        <p:spPr>
          <a:xfrm>
            <a:off x="8092440" y="3456432"/>
            <a:ext cx="3383280" cy="1051560"/>
          </a:xfrm>
          <a:prstGeom prst="roundRect">
            <a:avLst>
              <a:gd name="adj" fmla="val 6957"/>
            </a:avLst>
          </a:prstGeom>
          <a:solidFill>
            <a:srgbClr val="F3F8F5"/>
          </a:solidFill>
          <a:ln w="12700">
            <a:solidFill>
              <a:srgbClr val="F3F8F5"/>
            </a:solidFill>
            <a:prstDash val="solid"/>
          </a:ln>
          <a:effectLst>
            <a:outerShdw sx="100000" sy="100000" kx="0" ky="0" algn="bl" rotWithShape="0" blurRad="76200" dist="508" dir="5400000">
              <a:srgbClr val="A9C2B5">
                <a:alpha val="25000"/>
              </a:srgbClr>
            </a:outerShdw>
          </a:effectLst>
        </p:spPr>
      </p:sp>
      <p:sp>
        <p:nvSpPr>
          <p:cNvPr id="39" name="Shape 37"/>
          <p:cNvSpPr/>
          <p:nvPr/>
        </p:nvSpPr>
        <p:spPr>
          <a:xfrm>
            <a:off x="8321040" y="3611880"/>
            <a:ext cx="713232" cy="256032"/>
          </a:xfrm>
          <a:prstGeom prst="roundRect">
            <a:avLst>
              <a:gd name="adj" fmla="val 14286"/>
            </a:avLst>
          </a:prstGeom>
          <a:solidFill>
            <a:srgbClr val="DDEBE5"/>
          </a:solidFill>
          <a:ln w="12700">
            <a:solidFill>
              <a:srgbClr val="DDEBE5"/>
            </a:solidFill>
            <a:prstDash val="solid"/>
          </a:ln>
        </p:spPr>
      </p:sp>
      <p:sp>
        <p:nvSpPr>
          <p:cNvPr id="40" name="Text 38"/>
          <p:cNvSpPr/>
          <p:nvPr/>
        </p:nvSpPr>
        <p:spPr>
          <a:xfrm>
            <a:off x="8321040" y="3611880"/>
            <a:ext cx="713232" cy="256032"/>
          </a:xfrm>
          <a:prstGeom prst="rect">
            <a:avLst/>
          </a:prstGeom>
          <a:noFill/>
          <a:ln/>
        </p:spPr>
        <p:txBody>
          <a:bodyPr wrap="square" lIns="0" tIns="0" rIns="0" bIns="0" rtlCol="0" anchor="ctr"/>
          <a:lstStyle/>
          <a:p>
            <a:pPr algn="ctr" indent="0" marL="0">
              <a:buNone/>
            </a:pPr>
            <a:r>
              <a:rPr lang="en-US" sz="900" b="1" dirty="0">
                <a:solidFill>
                  <a:srgbClr val="00694F"/>
                </a:solidFill>
                <a:latin typeface="Calibri" pitchFamily="34" charset="0"/>
                <a:ea typeface="Calibri" pitchFamily="34" charset="-122"/>
                <a:cs typeface="Calibri" pitchFamily="34" charset="-120"/>
              </a:rPr>
              <a:t>BOTH</a:t>
            </a:r>
            <a:endParaRPr lang="en-US" sz="900" dirty="0"/>
          </a:p>
        </p:txBody>
      </p:sp>
      <p:sp>
        <p:nvSpPr>
          <p:cNvPr id="41" name="Text 39"/>
          <p:cNvSpPr/>
          <p:nvPr/>
        </p:nvSpPr>
        <p:spPr>
          <a:xfrm>
            <a:off x="8321040" y="3913632"/>
            <a:ext cx="2926080" cy="502920"/>
          </a:xfrm>
          <a:prstGeom prst="rect">
            <a:avLst/>
          </a:prstGeom>
          <a:noFill/>
          <a:ln/>
        </p:spPr>
        <p:txBody>
          <a:bodyPr wrap="square" lIns="0" tIns="0" rIns="0" bIns="0" rtlCol="0" anchor="ctr"/>
          <a:lstStyle/>
          <a:p>
            <a:pPr indent="0" marL="0">
              <a:buNone/>
            </a:pPr>
            <a:r>
              <a:rPr lang="en-US" sz="1200" dirty="0">
                <a:solidFill>
                  <a:srgbClr val="16302A"/>
                </a:solidFill>
                <a:latin typeface="Calibri" pitchFamily="34" charset="0"/>
                <a:ea typeface="Calibri" pitchFamily="34" charset="-122"/>
                <a:cs typeface="Calibri" pitchFamily="34" charset="-120"/>
              </a:rPr>
              <a:t>Run the POC on the pilot projects</a:t>
            </a:r>
            <a:endParaRPr lang="en-US" sz="1200" dirty="0"/>
          </a:p>
        </p:txBody>
      </p:sp>
      <p:sp>
        <p:nvSpPr>
          <p:cNvPr id="42" name="Shape 40"/>
          <p:cNvSpPr/>
          <p:nvPr/>
        </p:nvSpPr>
        <p:spPr>
          <a:xfrm>
            <a:off x="8092440" y="4626864"/>
            <a:ext cx="3383280" cy="1051560"/>
          </a:xfrm>
          <a:prstGeom prst="roundRect">
            <a:avLst>
              <a:gd name="adj" fmla="val 6957"/>
            </a:avLst>
          </a:prstGeom>
          <a:solidFill>
            <a:srgbClr val="EAF4EF"/>
          </a:solidFill>
          <a:ln w="12700">
            <a:solidFill>
              <a:srgbClr val="EAF4EF"/>
            </a:solidFill>
            <a:prstDash val="solid"/>
          </a:ln>
          <a:effectLst>
            <a:outerShdw sx="100000" sy="100000" kx="0" ky="0" algn="bl" rotWithShape="0" blurRad="76200" dist="508" dir="5400000">
              <a:srgbClr val="A9C2B5">
                <a:alpha val="25000"/>
              </a:srgbClr>
            </a:outerShdw>
          </a:effectLst>
        </p:spPr>
      </p:sp>
      <p:sp>
        <p:nvSpPr>
          <p:cNvPr id="43" name="Shape 41"/>
          <p:cNvSpPr/>
          <p:nvPr/>
        </p:nvSpPr>
        <p:spPr>
          <a:xfrm>
            <a:off x="8321040" y="4782312"/>
            <a:ext cx="713232" cy="256032"/>
          </a:xfrm>
          <a:prstGeom prst="roundRect">
            <a:avLst>
              <a:gd name="adj" fmla="val 14286"/>
            </a:avLst>
          </a:prstGeom>
          <a:solidFill>
            <a:srgbClr val="DDEBE5"/>
          </a:solidFill>
          <a:ln w="12700">
            <a:solidFill>
              <a:srgbClr val="DDEBE5"/>
            </a:solidFill>
            <a:prstDash val="solid"/>
          </a:ln>
        </p:spPr>
      </p:sp>
      <p:sp>
        <p:nvSpPr>
          <p:cNvPr id="44" name="Text 42"/>
          <p:cNvSpPr/>
          <p:nvPr/>
        </p:nvSpPr>
        <p:spPr>
          <a:xfrm>
            <a:off x="8321040" y="4782312"/>
            <a:ext cx="713232" cy="256032"/>
          </a:xfrm>
          <a:prstGeom prst="rect">
            <a:avLst/>
          </a:prstGeom>
          <a:noFill/>
          <a:ln/>
        </p:spPr>
        <p:txBody>
          <a:bodyPr wrap="square" lIns="0" tIns="0" rIns="0" bIns="0" rtlCol="0" anchor="ctr"/>
          <a:lstStyle/>
          <a:p>
            <a:pPr algn="ctr" indent="0" marL="0">
              <a:buNone/>
            </a:pPr>
            <a:r>
              <a:rPr lang="en-US" sz="900" b="1" dirty="0">
                <a:solidFill>
                  <a:srgbClr val="00694F"/>
                </a:solidFill>
                <a:latin typeface="Calibri" pitchFamily="34" charset="0"/>
                <a:ea typeface="Calibri" pitchFamily="34" charset="-122"/>
                <a:cs typeface="Calibri" pitchFamily="34" charset="-120"/>
              </a:rPr>
              <a:t>BOTH</a:t>
            </a:r>
            <a:endParaRPr lang="en-US" sz="900" dirty="0"/>
          </a:p>
        </p:txBody>
      </p:sp>
      <p:sp>
        <p:nvSpPr>
          <p:cNvPr id="45" name="Text 43"/>
          <p:cNvSpPr/>
          <p:nvPr/>
        </p:nvSpPr>
        <p:spPr>
          <a:xfrm>
            <a:off x="8321040" y="5084064"/>
            <a:ext cx="2926080" cy="502920"/>
          </a:xfrm>
          <a:prstGeom prst="rect">
            <a:avLst/>
          </a:prstGeom>
          <a:noFill/>
          <a:ln/>
        </p:spPr>
        <p:txBody>
          <a:bodyPr wrap="square" lIns="0" tIns="0" rIns="0" bIns="0" rtlCol="0" anchor="ctr"/>
          <a:lstStyle/>
          <a:p>
            <a:pPr indent="0" marL="0">
              <a:buNone/>
            </a:pPr>
            <a:r>
              <a:rPr lang="en-US" sz="1200" dirty="0">
                <a:solidFill>
                  <a:srgbClr val="16302A"/>
                </a:solidFill>
                <a:latin typeface="Calibri" pitchFamily="34" charset="0"/>
                <a:ea typeface="Calibri" pitchFamily="34" charset="-122"/>
                <a:cs typeface="Calibri" pitchFamily="34" charset="-120"/>
              </a:rPr>
              <a:t>Review the POC and plan the waves</a:t>
            </a:r>
            <a:endParaRPr lang="en-US" sz="1200" dirty="0"/>
          </a:p>
        </p:txBody>
      </p:sp>
      <p:sp>
        <p:nvSpPr>
          <p:cNvPr id="46" name="Shape 44"/>
          <p:cNvSpPr/>
          <p:nvPr/>
        </p:nvSpPr>
        <p:spPr>
          <a:xfrm>
            <a:off x="685800" y="5852160"/>
            <a:ext cx="10789920" cy="685800"/>
          </a:xfrm>
          <a:prstGeom prst="roundRect">
            <a:avLst>
              <a:gd name="adj" fmla="val 10667"/>
            </a:avLst>
          </a:prstGeom>
          <a:solidFill>
            <a:srgbClr val="FBEDEB"/>
          </a:solidFill>
          <a:ln w="12700">
            <a:solidFill>
              <a:srgbClr val="FBEDEB"/>
            </a:solidFill>
            <a:prstDash val="solid"/>
          </a:ln>
          <a:effectLst>
            <a:outerShdw sx="100000" sy="100000" kx="0" ky="0" algn="bl" rotWithShape="0" blurRad="76200" dist="508" dir="5400000">
              <a:srgbClr val="A9C2B5">
                <a:alpha val="25000"/>
              </a:srgbClr>
            </a:outerShdw>
          </a:effectLst>
        </p:spPr>
      </p:sp>
      <p:sp>
        <p:nvSpPr>
          <p:cNvPr id="47" name="Text 45"/>
          <p:cNvSpPr/>
          <p:nvPr/>
        </p:nvSpPr>
        <p:spPr>
          <a:xfrm>
            <a:off x="960120" y="5852160"/>
            <a:ext cx="10241280" cy="685800"/>
          </a:xfrm>
          <a:prstGeom prst="rect">
            <a:avLst/>
          </a:prstGeom>
          <a:noFill/>
          <a:ln/>
        </p:spPr>
        <p:txBody>
          <a:bodyPr wrap="square" lIns="0" tIns="0" rIns="0" bIns="0" rtlCol="0" anchor="ctr"/>
          <a:lstStyle/>
          <a:p>
            <a:pPr indent="0" marL="0">
              <a:buNone/>
            </a:pPr>
            <a:r>
              <a:rPr lang="en-US" sz="1250" b="1" dirty="0">
                <a:solidFill>
                  <a:srgbClr val="C0392B"/>
                </a:solidFill>
                <a:latin typeface="Calibri" pitchFamily="34" charset="0"/>
                <a:ea typeface="Calibri" pitchFamily="34" charset="-122"/>
                <a:cs typeface="Calibri" pitchFamily="34" charset="-120"/>
              </a:rPr>
              <a:t>Four things to settle before we close:  upgrade date  ·  Quality Gate option  ·  POC scope and pilot projects  ·  your technical contact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382B"/>
        </a:solidFill>
      </p:bgPr>
    </p:bg>
    <p:spTree>
      <p:nvGrpSpPr>
        <p:cNvPr id="1" name=""/>
        <p:cNvGrpSpPr/>
        <p:nvPr/>
      </p:nvGrpSpPr>
      <p:grpSpPr>
        <a:xfrm>
          <a:off x="0" y="0"/>
          <a:ext cx="0" cy="0"/>
          <a:chOff x="0" y="0"/>
          <a:chExt cx="0" cy="0"/>
        </a:xfrm>
      </p:grpSpPr>
      <p:sp>
        <p:nvSpPr>
          <p:cNvPr id="2" name="Shape 0"/>
          <p:cNvSpPr/>
          <p:nvPr/>
        </p:nvSpPr>
        <p:spPr>
          <a:xfrm>
            <a:off x="10424160" y="5120640"/>
            <a:ext cx="1463040" cy="1463040"/>
          </a:xfrm>
          <a:prstGeom prst="ellipse">
            <a:avLst/>
          </a:prstGeom>
          <a:solidFill>
            <a:srgbClr val="5FD3A0">
              <a:alpha val="0"/>
            </a:srgbClr>
          </a:solidFill>
          <a:ln w="15875">
            <a:solidFill>
              <a:srgbClr val="5FD3A0">
                <a:alpha val="45000"/>
              </a:srgbClr>
            </a:solidFill>
            <a:prstDash val="solid"/>
          </a:ln>
        </p:spPr>
      </p:sp>
      <p:sp>
        <p:nvSpPr>
          <p:cNvPr id="3" name="Shape 1"/>
          <p:cNvSpPr/>
          <p:nvPr/>
        </p:nvSpPr>
        <p:spPr>
          <a:xfrm>
            <a:off x="9784080" y="4480560"/>
            <a:ext cx="2743200" cy="2743200"/>
          </a:xfrm>
          <a:prstGeom prst="ellipse">
            <a:avLst/>
          </a:prstGeom>
          <a:solidFill>
            <a:srgbClr val="5FD3A0">
              <a:alpha val="0"/>
            </a:srgbClr>
          </a:solidFill>
          <a:ln w="15875">
            <a:solidFill>
              <a:srgbClr val="5FD3A0">
                <a:alpha val="30000"/>
              </a:srgbClr>
            </a:solidFill>
            <a:prstDash val="solid"/>
          </a:ln>
        </p:spPr>
      </p:sp>
      <p:sp>
        <p:nvSpPr>
          <p:cNvPr id="4" name="Shape 2"/>
          <p:cNvSpPr/>
          <p:nvPr/>
        </p:nvSpPr>
        <p:spPr>
          <a:xfrm>
            <a:off x="9052560" y="3749040"/>
            <a:ext cx="4206240" cy="4206240"/>
          </a:xfrm>
          <a:prstGeom prst="ellipse">
            <a:avLst/>
          </a:prstGeom>
          <a:solidFill>
            <a:srgbClr val="5FD3A0">
              <a:alpha val="0"/>
            </a:srgbClr>
          </a:solidFill>
          <a:ln w="15875">
            <a:solidFill>
              <a:srgbClr val="5FD3A0">
                <a:alpha val="18000"/>
              </a:srgbClr>
            </a:solidFill>
            <a:prstDash val="solid"/>
          </a:ln>
        </p:spPr>
      </p:sp>
      <p:sp>
        <p:nvSpPr>
          <p:cNvPr id="5" name="Shape 3"/>
          <p:cNvSpPr/>
          <p:nvPr/>
        </p:nvSpPr>
        <p:spPr>
          <a:xfrm>
            <a:off x="8229600" y="2926080"/>
            <a:ext cx="5852160" cy="5852160"/>
          </a:xfrm>
          <a:prstGeom prst="ellipse">
            <a:avLst/>
          </a:prstGeom>
          <a:solidFill>
            <a:srgbClr val="5FD3A0">
              <a:alpha val="0"/>
            </a:srgbClr>
          </a:solidFill>
          <a:ln w="15875">
            <a:solidFill>
              <a:srgbClr val="5FD3A0">
                <a:alpha val="10000"/>
              </a:srgbClr>
            </a:solidFill>
            <a:prstDash val="solid"/>
          </a:ln>
        </p:spPr>
      </p:sp>
      <p:sp>
        <p:nvSpPr>
          <p:cNvPr id="6" name="Shape 4"/>
          <p:cNvSpPr/>
          <p:nvPr/>
        </p:nvSpPr>
        <p:spPr>
          <a:xfrm>
            <a:off x="11018520" y="5715000"/>
            <a:ext cx="274320" cy="274320"/>
          </a:xfrm>
          <a:prstGeom prst="ellipse">
            <a:avLst/>
          </a:prstGeom>
          <a:solidFill>
            <a:srgbClr val="5FD3A0"/>
          </a:solidFill>
          <a:ln/>
        </p:spPr>
      </p:sp>
      <p:sp>
        <p:nvSpPr>
          <p:cNvPr id="7" name="Text 5"/>
          <p:cNvSpPr/>
          <p:nvPr/>
        </p:nvSpPr>
        <p:spPr>
          <a:xfrm>
            <a:off x="777240" y="2057400"/>
            <a:ext cx="8229600" cy="365760"/>
          </a:xfrm>
          <a:prstGeom prst="rect">
            <a:avLst/>
          </a:prstGeom>
          <a:noFill/>
          <a:ln/>
        </p:spPr>
        <p:txBody>
          <a:bodyPr wrap="square" lIns="0" tIns="0" rIns="0" bIns="0" rtlCol="0" anchor="ctr"/>
          <a:lstStyle/>
          <a:p>
            <a:pPr indent="0" marL="0">
              <a:buNone/>
            </a:pPr>
            <a:r>
              <a:rPr lang="en-US" sz="1300" b="1" spc="300" kern="0" dirty="0">
                <a:solidFill>
                  <a:srgbClr val="5FD3A0"/>
                </a:solidFill>
                <a:latin typeface="Calibri" pitchFamily="34" charset="0"/>
                <a:ea typeface="Calibri" pitchFamily="34" charset="-122"/>
                <a:cs typeface="Calibri" pitchFamily="34" charset="-120"/>
              </a:rPr>
              <a:t>THANK YOU</a:t>
            </a:r>
            <a:endParaRPr lang="en-US" sz="1300" dirty="0"/>
          </a:p>
        </p:txBody>
      </p:sp>
      <p:sp>
        <p:nvSpPr>
          <p:cNvPr id="8" name="Text 6"/>
          <p:cNvSpPr/>
          <p:nvPr/>
        </p:nvSpPr>
        <p:spPr>
          <a:xfrm>
            <a:off x="777240" y="2468880"/>
            <a:ext cx="9144000" cy="14630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Next step</a:t>
            </a:r>
            <a:endParaRPr lang="en-US" sz="3800" dirty="0"/>
          </a:p>
        </p:txBody>
      </p:sp>
      <p:sp>
        <p:nvSpPr>
          <p:cNvPr id="9" name="Text 7"/>
          <p:cNvSpPr/>
          <p:nvPr/>
        </p:nvSpPr>
        <p:spPr>
          <a:xfrm>
            <a:off x="777240" y="4023360"/>
            <a:ext cx="8595360" cy="914400"/>
          </a:xfrm>
          <a:prstGeom prst="rect">
            <a:avLst/>
          </a:prstGeom>
          <a:noFill/>
          <a:ln/>
        </p:spPr>
        <p:txBody>
          <a:bodyPr wrap="square" lIns="0" tIns="0" rIns="0" bIns="0" rtlCol="0" anchor="ctr"/>
          <a:lstStyle/>
          <a:p>
            <a:pPr indent="0" marL="0">
              <a:buNone/>
            </a:pPr>
            <a:r>
              <a:rPr lang="en-US" sz="1600" dirty="0">
                <a:solidFill>
                  <a:srgbClr val="B4D2C4"/>
                </a:solidFill>
                <a:latin typeface="Calibri" pitchFamily="34" charset="0"/>
                <a:ea typeface="Calibri" pitchFamily="34" charset="-122"/>
                <a:cs typeface="Calibri" pitchFamily="34" charset="-120"/>
              </a:rPr>
              <a:t>We send the plugin delta. You patch to 2026.2.1. Then we run the POC together.</a:t>
            </a:r>
            <a:endParaRPr lang="en-US" sz="1600" dirty="0"/>
          </a:p>
        </p:txBody>
      </p:sp>
      <p:sp>
        <p:nvSpPr>
          <p:cNvPr id="10" name="Text 8"/>
          <p:cNvSpPr/>
          <p:nvPr/>
        </p:nvSpPr>
        <p:spPr>
          <a:xfrm>
            <a:off x="777240" y="4983480"/>
            <a:ext cx="8686800" cy="365760"/>
          </a:xfrm>
          <a:prstGeom prst="rect">
            <a:avLst/>
          </a:prstGeom>
          <a:noFill/>
          <a:ln/>
        </p:spPr>
        <p:txBody>
          <a:bodyPr wrap="square" lIns="0" tIns="0" rIns="0" bIns="0" rtlCol="0" anchor="ctr"/>
          <a:lstStyle/>
          <a:p>
            <a:pPr indent="0" marL="0">
              <a:buNone/>
            </a:pPr>
            <a:r>
              <a:rPr lang="en-US" sz="1300" dirty="0">
                <a:solidFill>
                  <a:srgbClr val="B4D2C4"/>
                </a:solidFill>
                <a:latin typeface="Calibri" pitchFamily="34" charset="0"/>
                <a:ea typeface="Calibri" pitchFamily="34" charset="-122"/>
                <a:cs typeface="Calibri" pitchFamily="34" charset="-120"/>
              </a:rPr>
              <a:t>Minutes and the inventory template land in your inbox today.</a:t>
            </a:r>
            <a:endParaRPr lang="en-US" sz="1300" dirty="0"/>
          </a:p>
        </p:txBody>
      </p:sp>
      <p:sp>
        <p:nvSpPr>
          <p:cNvPr id="11" name="Text 9"/>
          <p:cNvSpPr/>
          <p:nvPr/>
        </p:nvSpPr>
        <p:spPr>
          <a:xfrm>
            <a:off x="777240" y="5394960"/>
            <a:ext cx="8686800" cy="365760"/>
          </a:xfrm>
          <a:prstGeom prst="rect">
            <a:avLst/>
          </a:prstGeom>
          <a:noFill/>
          <a:ln/>
        </p:spPr>
        <p:txBody>
          <a:bodyPr wrap="square" lIns="0" tIns="0" rIns="0" bIns="0" rtlCol="0" anchor="ctr"/>
          <a:lstStyle/>
          <a:p>
            <a:pPr indent="0" marL="0">
              <a:buNone/>
            </a:pPr>
            <a:r>
              <a:rPr lang="en-US" sz="1300" dirty="0">
                <a:solidFill>
                  <a:srgbClr val="5FD3A0"/>
                </a:solidFill>
                <a:latin typeface="Calibri" pitchFamily="34" charset="0"/>
                <a:ea typeface="Calibri" pitchFamily="34" charset="-122"/>
                <a:cs typeface="Calibri" pitchFamily="34" charset="-120"/>
              </a:rPr>
              <a:t>[Name]  ·  Enterprise SonarQube Platform  ·  [email]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2026-08-26T10:19:12Z</dcterms:created>
  <dcterms:modified xsi:type="dcterms:W3CDTF">2026-08-26T10:19:12Z</dcterms:modified>
</cp:coreProperties>
</file>